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7" d="100"/>
          <a:sy n="157" d="100"/>
        </p:scale>
        <p:origin x="3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name is Varun Kumar Ramesh Kumar, and today I'll present my MSc dissertation on the Systematic Evaluation of Prompt Engineering Techniques for Large Language Models. The project is called PEEF -the Prompt Engineering Evaluation Framework -built over 12 weeks at the University of Liverpool under the supervision of Achilleas Koufonikos. In the next 10 minutes I'll walk you through what I built, what I found, and why it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is that how you phrase a prompt matters as much as the model itself. The same question, worded differently, can give radically different answers. Four main techniques have emerged. Zero-shot gives the model only an instruction. Few-shot provides worked examples. Chain-of-thought asks the model to reason step by step. And zero-shot CoT -from Kojima et al. 2022 -adds six words, 'Let's think step by step,' to unlock reasoning without any examples. The problem is that existing research compares these in isolation, never across tasks, and never accounting for cost. That's the gap PEEF addresses.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structured around four research questions. RQ1 asks how the four techniques compare in accuracy. RQ2 asks whether the optimal choice varies by task -and we'll see the answer is yes, dramatically. RQ3 asks what design principles generalise -things like explicit output format constraints. RQ4 asks whether prompts can improve automatically and whether adaptive routing can save cost without sacrificing accuracy. That last question leads to the two novel contributions: the Reflexive Prompt Optimizer and the Adaptive Cascade.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PEEF has six modules with strict separation of concerns -no module depends on another's internals. Module 1 builds prompts from Jinja2 templates, one per task-technique combination. Module 2 handles all API communication with exponential back-off and a deduplication cache so interrupted runs can resume. Module 3 scores responses. Module 4 runs statistics and generates charts. Modules 5 and 6 are the two novel contributions -I'll cover those shortly. Every result is written to disk immediately after each API call. All 18 experiments used around 2,400 API calls and cost approximately $12.67.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a full factorial comparison: four techniques -plus 2-shot and 8-shot conditions -across three task domains, giving 18 experiments total. For QA we use 500 TriviaQA examples and measure exact match. For summarisation, 300 CNN/DailyMail articles with ROUGE-L and BERTScore. For reasoning, the complete GSM8K test set -1,319 grade school math problems -measuring exact match on the final numerical answer. All experiments run at temperature zero for deterministic output. Statistical significance is tested with Wilcoxon signed-rank tests, and all p-values are accompanied by Cohen's d effect sizes.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 answering, few-shot with 4 examples achieves the top score of 70.6%. With n=500 the margin over zero-shot reaches statistical significance at p=0.018 -but the effect size is negligible, Cohen's d=0.07. This is why both measures matter: a significant result isn't necessarily a meaningful one. The most striking finding is zero-shot CoT. Adding 'Think step by step' to a factual question drops accuracy from 67.4% to 39.6%. The reasoning scaffold that helps with arithmetic becomes a liability when the answer is already stored as a fact. Practical recommendation: use zero-shot. It costs seven times fewer tokens than CoT and delivers statistically indistinguishable accuracy.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summarisation, zero-shot produces the highest ROUGE-L score at 24.0%, significantly better than CoT at 20.3%, with p&lt;0.001 and a medium effect size. But the BERTScore data tells a different story: all four techniques score between 0.81 and 0.82 -essentially identical. They all capture the same information; zero-shot just generates simpler, more direct text that overlaps more closely with the reference wording. A paper using only ROUGE-L would conclude zero-shot is clearly best. BERTScore suggests the difference is partly a metric artefact, not a real quality difference. Practical recommendation: use zero-shot for summarisation -it's cheapest and scores highest on the standard metric.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produces the most dramatic results. Chain-of-thought achieves 90.5% exact match -a 27 percentage-point improvement over zero-shot at 63.4%, with p&lt;0.001 and a medium effect size of d=0.68. This directly replicates Wei et al.'s 2022 result on the same benchmark. The counterintuitive finding is few-shot: providing worked examples that show only the final numerical answer -without the reasoning chain -scores just 57%, actually worse than plain zero-shot. The model learns 'problem → number' and guesses rather than working through the problem. The lesson: for reasoning, examples must show the process, not just the conclusion. Zero-shot CoT at 82.8% is the strong middle ground.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static comparison, the project makes two novel contributions. Module 5 -the Reflexive Prompt Optimizer treats the prompt template itself as something that can improve iteratively. The four-phase loop evaluates, reflects on failures, generates diverse candidate templates, and then uses a paired bootstrap significance test to decide whether any candidate genuinely beats the current champion. This statistical gate is what distinguishes the RPO from prior work like APE and OPRO, which select the best-scoring candidate without testing whether the improvement is statistically real. Module 6 -the Adaptive Cascade answers a different question: rather than asking which technique is best on average, it asks which technique each specific question needs. Easy questions get a cheap zero-shot answer; only uncertain questions escalate to CoT. The result is close to CoT-level accuracy at much lower token cost -the confidence threshold is a tunable dial that lets practitioners choose their own accuracy-cost trade-off.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takeaway of the project is in this table: the best technique is different for every task, and not just in degree -in direction. Chain-of-thought improves reasoning by 27 points but reduces summarisation ROUGE-L by 3.7 points. Zero-shot is both cheapest and most effective for summarisation. For reasoning, CoT is worth the six-fold token cost because the accuracy gain is large and real. The practical guidance for developers: match your technique to your task. Don't generalise a benchmark result from one domain to another. And the Adaptive Cascade makes this even sharper: rather than applying the expensive technique to everything, route by confidence and spend the tokens only where they're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project answers all four research questions with evidence from 18 experiments. Technique choice is strongly task-dependent -the same choice that is best for reasoning is actively harmful for summarisation. Reporting effect sizes alongside p-values is essential -the QA result that few-shot beats zero-shot is statistically significant but practically negligible. The two novel contributions go beyond static comparison: the RPO shows that prompts can improve from their own failure cases, and the Cascade shows that cost-efficient routing is achievable. The full codebase is on GitHub and the interactive dashboard is live on Streamlit Cloud. 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these numbers ready for questions:
- Best on reasoning: CoT -90.5% (GSM8K, n=1,319)
- Best on summarisation: Zero-Shot -24.0% ROUGE-L (CNN/DailyMail, n=300)
- Best on QA: Few-Shot (4-shot) -70.6% (TriviaQA, n=500)
- Total API cost: ~$12.67
- Total API calls: ~2,400
- Live dashboard: peef-dashboard.streamlit.app
- GitHub: github.com/Varun-Kumar-DS/peef-dissertation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arun-Kumar-DS/peef-dissertatio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peef-dashboard.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365760" y="-548640"/>
            <a:ext cx="4023360" cy="4023360"/>
          </a:xfrm>
          <a:prstGeom prst="ellipse">
            <a:avLst/>
          </a:prstGeom>
          <a:solidFill>
            <a:srgbClr val="2A4875">
              <a:alpha val="7000"/>
            </a:srgbClr>
          </a:solidFill>
          <a:ln w="12700">
            <a:solidFill>
              <a:srgbClr val="F7F5F0"/>
            </a:solidFill>
            <a:prstDash val="solid"/>
          </a:ln>
        </p:spPr>
        <p:txBody>
          <a:bodyPr/>
          <a:lstStyle/>
          <a:p>
            <a:endParaRPr lang="en-US"/>
          </a:p>
        </p:txBody>
      </p:sp>
      <p:sp>
        <p:nvSpPr>
          <p:cNvPr id="4" name="Shape 2"/>
          <p:cNvSpPr/>
          <p:nvPr/>
        </p:nvSpPr>
        <p:spPr>
          <a:xfrm>
            <a:off x="640080" y="457200"/>
            <a:ext cx="2011680" cy="2011680"/>
          </a:xfrm>
          <a:prstGeom prst="ellipse">
            <a:avLst/>
          </a:prstGeom>
          <a:solidFill>
            <a:srgbClr val="2A4875">
              <a:alpha val="14000"/>
            </a:srgbClr>
          </a:solidFill>
          <a:ln w="12700">
            <a:solidFill>
              <a:srgbClr val="F7F5F0"/>
            </a:solidFill>
            <a:prstDash val="solid"/>
          </a:ln>
        </p:spPr>
        <p:txBody>
          <a:bodyPr/>
          <a:lstStyle/>
          <a:p>
            <a:endParaRPr lang="en-US"/>
          </a:p>
        </p:txBody>
      </p:sp>
      <p:sp>
        <p:nvSpPr>
          <p:cNvPr id="5" name="Shape 3"/>
          <p:cNvSpPr/>
          <p:nvPr/>
        </p:nvSpPr>
        <p:spPr>
          <a:xfrm>
            <a:off x="6126480" y="2194560"/>
            <a:ext cx="3291840" cy="3291840"/>
          </a:xfrm>
          <a:prstGeom prst="ellipse">
            <a:avLst/>
          </a:prstGeom>
          <a:solidFill>
            <a:srgbClr val="4C3275">
              <a:alpha val="7000"/>
            </a:srgbClr>
          </a:solidFill>
          <a:ln w="12700">
            <a:solidFill>
              <a:srgbClr val="F7F5F0"/>
            </a:solidFill>
            <a:prstDash val="solid"/>
          </a:ln>
        </p:spPr>
        <p:txBody>
          <a:bodyPr/>
          <a:lstStyle/>
          <a:p>
            <a:endParaRPr lang="en-US"/>
          </a:p>
        </p:txBody>
      </p:sp>
      <p:sp>
        <p:nvSpPr>
          <p:cNvPr id="6" name="Shape 4"/>
          <p:cNvSpPr/>
          <p:nvPr/>
        </p:nvSpPr>
        <p:spPr>
          <a:xfrm>
            <a:off x="6949440" y="3017520"/>
            <a:ext cx="1645920" cy="1645920"/>
          </a:xfrm>
          <a:prstGeom prst="ellipse">
            <a:avLst/>
          </a:prstGeom>
          <a:solidFill>
            <a:srgbClr val="4C3275">
              <a:alpha val="14000"/>
            </a:srgbClr>
          </a:solidFill>
          <a:ln w="12700">
            <a:solidFill>
              <a:srgbClr val="F7F5F0"/>
            </a:solidFill>
            <a:prstDash val="solid"/>
          </a:ln>
        </p:spPr>
        <p:txBody>
          <a:bodyPr/>
          <a:lstStyle/>
          <a:p>
            <a:endParaRPr lang="en-US"/>
          </a:p>
        </p:txBody>
      </p:sp>
      <p:sp>
        <p:nvSpPr>
          <p:cNvPr id="7" name="Shape 5"/>
          <p:cNvSpPr/>
          <p:nvPr/>
        </p:nvSpPr>
        <p:spPr>
          <a:xfrm>
            <a:off x="7315200" y="-731520"/>
            <a:ext cx="2194560" cy="2194560"/>
          </a:xfrm>
          <a:prstGeom prst="ellipse">
            <a:avLst/>
          </a:prstGeom>
          <a:solidFill>
            <a:srgbClr val="1A6268">
              <a:alpha val="7000"/>
            </a:srgbClr>
          </a:solidFill>
          <a:ln w="12700">
            <a:solidFill>
              <a:srgbClr val="F7F5F0"/>
            </a:solidFill>
            <a:prstDash val="solid"/>
          </a:ln>
        </p:spPr>
        <p:txBody>
          <a:bodyPr/>
          <a:lstStyle/>
          <a:p>
            <a:endParaRPr lang="en-US"/>
          </a:p>
        </p:txBody>
      </p:sp>
      <p:sp>
        <p:nvSpPr>
          <p:cNvPr id="8" name="Shape 6"/>
          <p:cNvSpPr/>
          <p:nvPr/>
        </p:nvSpPr>
        <p:spPr>
          <a:xfrm>
            <a:off x="7863840" y="-182880"/>
            <a:ext cx="1097280" cy="1097280"/>
          </a:xfrm>
          <a:prstGeom prst="ellipse">
            <a:avLst/>
          </a:prstGeom>
          <a:solidFill>
            <a:srgbClr val="1A6268">
              <a:alpha val="14000"/>
            </a:srgbClr>
          </a:solidFill>
          <a:ln w="12700">
            <a:solidFill>
              <a:srgbClr val="F7F5F0"/>
            </a:solidFill>
            <a:prstDash val="solid"/>
          </a:ln>
        </p:spPr>
        <p:txBody>
          <a:bodyPr/>
          <a:lstStyle/>
          <a:p>
            <a:endParaRPr lang="en-US"/>
          </a:p>
        </p:txBody>
      </p:sp>
      <p:sp>
        <p:nvSpPr>
          <p:cNvPr id="9" name="Shape 7"/>
          <p:cNvSpPr/>
          <p:nvPr/>
        </p:nvSpPr>
        <p:spPr>
          <a:xfrm>
            <a:off x="457200" y="237744"/>
            <a:ext cx="8229600" cy="22860"/>
          </a:xfrm>
          <a:prstGeom prst="rect">
            <a:avLst/>
          </a:prstGeom>
          <a:solidFill>
            <a:srgbClr val="2A4875"/>
          </a:solidFill>
          <a:ln w="12700">
            <a:solidFill>
              <a:srgbClr val="2A4875"/>
            </a:solidFill>
            <a:prstDash val="solid"/>
          </a:ln>
        </p:spPr>
        <p:txBody>
          <a:bodyPr/>
          <a:lstStyle/>
          <a:p>
            <a:endParaRPr lang="en-US"/>
          </a:p>
        </p:txBody>
      </p:sp>
      <p:sp>
        <p:nvSpPr>
          <p:cNvPr id="10" name="Text 8"/>
          <p:cNvSpPr/>
          <p:nvPr/>
        </p:nvSpPr>
        <p:spPr>
          <a:xfrm>
            <a:off x="457200" y="274320"/>
            <a:ext cx="8229600" cy="201168"/>
          </a:xfrm>
          <a:prstGeom prst="rect">
            <a:avLst/>
          </a:prstGeom>
          <a:noFill/>
          <a:ln/>
        </p:spPr>
        <p:txBody>
          <a:bodyPr wrap="square" rtlCol="0" anchor="ctr"/>
          <a:lstStyle/>
          <a:p>
            <a:pPr marL="0" indent="0" algn="ctr">
              <a:buNone/>
            </a:pPr>
            <a:r>
              <a:rPr lang="en-US" sz="800" kern="0" spc="200" dirty="0">
                <a:solidFill>
                  <a:srgbClr val="9A9590"/>
                </a:solidFill>
                <a:latin typeface="Calibri" pitchFamily="34" charset="0"/>
                <a:ea typeface="Calibri" pitchFamily="34" charset="-122"/>
                <a:cs typeface="Calibri" pitchFamily="34" charset="-120"/>
              </a:rPr>
              <a:t>UNIVERSITY OF LIVERPOOL  ·  MSc DATA SCIENCE  ·  AUGUST 2026</a:t>
            </a:r>
            <a:endParaRPr lang="en-US" sz="800" dirty="0"/>
          </a:p>
        </p:txBody>
      </p:sp>
      <p:sp>
        <p:nvSpPr>
          <p:cNvPr id="11" name="Shape 9"/>
          <p:cNvSpPr/>
          <p:nvPr/>
        </p:nvSpPr>
        <p:spPr>
          <a:xfrm>
            <a:off x="457200" y="4736592"/>
            <a:ext cx="8229600" cy="274320"/>
          </a:xfrm>
          <a:prstGeom prst="roundRect">
            <a:avLst>
              <a:gd name="adj" fmla="val 16667"/>
            </a:avLst>
          </a:prstGeom>
          <a:solidFill>
            <a:srgbClr val="EDEAE3"/>
          </a:solidFill>
          <a:ln w="12700">
            <a:solidFill>
              <a:srgbClr val="CFCABC"/>
            </a:solidFill>
            <a:prstDash val="solid"/>
          </a:ln>
        </p:spPr>
        <p:txBody>
          <a:bodyPr/>
          <a:lstStyle/>
          <a:p>
            <a:endParaRPr lang="en-US"/>
          </a:p>
        </p:txBody>
      </p:sp>
      <p:sp>
        <p:nvSpPr>
          <p:cNvPr id="12" name="Text 10"/>
          <p:cNvSpPr/>
          <p:nvPr/>
        </p:nvSpPr>
        <p:spPr>
          <a:xfrm>
            <a:off x="457200" y="4736592"/>
            <a:ext cx="8229600" cy="274320"/>
          </a:xfrm>
          <a:prstGeom prst="rect">
            <a:avLst/>
          </a:prstGeom>
          <a:noFill/>
          <a:ln/>
        </p:spPr>
        <p:txBody>
          <a:bodyPr wrap="square" rtlCol="0" anchor="ctr"/>
          <a:lstStyle/>
          <a:p>
            <a:pPr marL="0" indent="0" algn="ctr">
              <a:buNone/>
            </a:pPr>
            <a:r>
              <a:rPr lang="en-US" sz="700" dirty="0">
                <a:solidFill>
                  <a:srgbClr val="9A9590"/>
                </a:solidFill>
                <a:latin typeface="Calibri" pitchFamily="34" charset="0"/>
                <a:ea typeface="Calibri" pitchFamily="34" charset="-122"/>
                <a:cs typeface="Calibri" pitchFamily="34" charset="-120"/>
              </a:rPr>
              <a:t>ETHICAL COMPLIANCE  ·  Data Category: A0 -No personal data collected or used  ·  Participant Category: C0 -No human participants  ·  All datasets (TriviaQA, CNN/DailyMail, GSM8K) are publicly available research benchmarks  ·  Complies with University of Liverpool ethical guidance</a:t>
            </a:r>
            <a:endParaRPr lang="en-US" sz="700" dirty="0"/>
          </a:p>
        </p:txBody>
      </p:sp>
      <p:sp>
        <p:nvSpPr>
          <p:cNvPr id="13" name="Shape 11"/>
          <p:cNvSpPr/>
          <p:nvPr/>
        </p:nvSpPr>
        <p:spPr>
          <a:xfrm>
            <a:off x="2971800" y="658368"/>
            <a:ext cx="685800" cy="685800"/>
          </a:xfrm>
          <a:prstGeom prst="roundRect">
            <a:avLst>
              <a:gd name="adj" fmla="val 13333"/>
            </a:avLst>
          </a:prstGeom>
          <a:solidFill>
            <a:srgbClr val="2A4875">
              <a:alpha val="16000"/>
            </a:srgbClr>
          </a:solidFill>
          <a:ln w="12700">
            <a:solidFill>
              <a:srgbClr val="2A4875"/>
            </a:solidFill>
            <a:prstDash val="solid"/>
          </a:ln>
        </p:spPr>
        <p:txBody>
          <a:bodyPr/>
          <a:lstStyle/>
          <a:p>
            <a:endParaRPr lang="en-US"/>
          </a:p>
        </p:txBody>
      </p:sp>
      <p:sp>
        <p:nvSpPr>
          <p:cNvPr id="14" name="Text 12"/>
          <p:cNvSpPr/>
          <p:nvPr/>
        </p:nvSpPr>
        <p:spPr>
          <a:xfrm>
            <a:off x="2971800" y="658368"/>
            <a:ext cx="685800" cy="685800"/>
          </a:xfrm>
          <a:prstGeom prst="rect">
            <a:avLst/>
          </a:prstGeom>
          <a:noFill/>
          <a:ln/>
        </p:spPr>
        <p:txBody>
          <a:bodyPr wrap="square" rtlCol="0" anchor="ctr"/>
          <a:lstStyle/>
          <a:p>
            <a:pPr marL="0" indent="0" algn="ctr">
              <a:buNone/>
            </a:pPr>
            <a:r>
              <a:rPr lang="en-US" sz="3600" b="1" dirty="0">
                <a:solidFill>
                  <a:srgbClr val="2A4875"/>
                </a:solidFill>
                <a:latin typeface="Calibri" pitchFamily="34" charset="0"/>
                <a:ea typeface="Calibri" pitchFamily="34" charset="-122"/>
                <a:cs typeface="Calibri" pitchFamily="34" charset="-120"/>
              </a:rPr>
              <a:t>P</a:t>
            </a:r>
            <a:endParaRPr lang="en-US" sz="3600" dirty="0"/>
          </a:p>
        </p:txBody>
      </p:sp>
      <p:sp>
        <p:nvSpPr>
          <p:cNvPr id="15" name="Shape 13"/>
          <p:cNvSpPr/>
          <p:nvPr/>
        </p:nvSpPr>
        <p:spPr>
          <a:xfrm>
            <a:off x="3776472" y="658368"/>
            <a:ext cx="685800" cy="685800"/>
          </a:xfrm>
          <a:prstGeom prst="roundRect">
            <a:avLst>
              <a:gd name="adj" fmla="val 13333"/>
            </a:avLst>
          </a:prstGeom>
          <a:solidFill>
            <a:srgbClr val="245E3E">
              <a:alpha val="16000"/>
            </a:srgbClr>
          </a:solidFill>
          <a:ln w="12700">
            <a:solidFill>
              <a:srgbClr val="245E3E"/>
            </a:solidFill>
            <a:prstDash val="solid"/>
          </a:ln>
        </p:spPr>
        <p:txBody>
          <a:bodyPr/>
          <a:lstStyle/>
          <a:p>
            <a:endParaRPr lang="en-US"/>
          </a:p>
        </p:txBody>
      </p:sp>
      <p:sp>
        <p:nvSpPr>
          <p:cNvPr id="16" name="Text 14"/>
          <p:cNvSpPr/>
          <p:nvPr/>
        </p:nvSpPr>
        <p:spPr>
          <a:xfrm>
            <a:off x="3776472" y="658368"/>
            <a:ext cx="685800" cy="685800"/>
          </a:xfrm>
          <a:prstGeom prst="rect">
            <a:avLst/>
          </a:prstGeom>
          <a:noFill/>
          <a:ln/>
        </p:spPr>
        <p:txBody>
          <a:bodyPr wrap="square" rtlCol="0" anchor="ctr"/>
          <a:lstStyle/>
          <a:p>
            <a:pPr marL="0" indent="0" algn="ctr">
              <a:buNone/>
            </a:pPr>
            <a:r>
              <a:rPr lang="en-US" sz="3600" b="1" dirty="0">
                <a:solidFill>
                  <a:srgbClr val="245E3E"/>
                </a:solidFill>
                <a:latin typeface="Calibri" pitchFamily="34" charset="0"/>
                <a:ea typeface="Calibri" pitchFamily="34" charset="-122"/>
                <a:cs typeface="Calibri" pitchFamily="34" charset="-120"/>
              </a:rPr>
              <a:t>E</a:t>
            </a:r>
            <a:endParaRPr lang="en-US" sz="3600" dirty="0"/>
          </a:p>
        </p:txBody>
      </p:sp>
      <p:sp>
        <p:nvSpPr>
          <p:cNvPr id="17" name="Shape 15"/>
          <p:cNvSpPr/>
          <p:nvPr/>
        </p:nvSpPr>
        <p:spPr>
          <a:xfrm>
            <a:off x="4581144" y="658368"/>
            <a:ext cx="685800" cy="685800"/>
          </a:xfrm>
          <a:prstGeom prst="roundRect">
            <a:avLst>
              <a:gd name="adj" fmla="val 13333"/>
            </a:avLst>
          </a:prstGeom>
          <a:solidFill>
            <a:srgbClr val="6E5200">
              <a:alpha val="16000"/>
            </a:srgbClr>
          </a:solidFill>
          <a:ln w="12700">
            <a:solidFill>
              <a:srgbClr val="6E5200"/>
            </a:solidFill>
            <a:prstDash val="solid"/>
          </a:ln>
        </p:spPr>
        <p:txBody>
          <a:bodyPr/>
          <a:lstStyle/>
          <a:p>
            <a:endParaRPr lang="en-US"/>
          </a:p>
        </p:txBody>
      </p:sp>
      <p:sp>
        <p:nvSpPr>
          <p:cNvPr id="18" name="Text 16"/>
          <p:cNvSpPr/>
          <p:nvPr/>
        </p:nvSpPr>
        <p:spPr>
          <a:xfrm>
            <a:off x="4581144" y="658368"/>
            <a:ext cx="685800" cy="685800"/>
          </a:xfrm>
          <a:prstGeom prst="rect">
            <a:avLst/>
          </a:prstGeom>
          <a:noFill/>
          <a:ln/>
        </p:spPr>
        <p:txBody>
          <a:bodyPr wrap="square" rtlCol="0" anchor="ctr"/>
          <a:lstStyle/>
          <a:p>
            <a:pPr marL="0" indent="0" algn="ctr">
              <a:buNone/>
            </a:pPr>
            <a:r>
              <a:rPr lang="en-US" sz="3600" b="1" dirty="0">
                <a:solidFill>
                  <a:srgbClr val="6E5200"/>
                </a:solidFill>
                <a:latin typeface="Calibri" pitchFamily="34" charset="0"/>
                <a:ea typeface="Calibri" pitchFamily="34" charset="-122"/>
                <a:cs typeface="Calibri" pitchFamily="34" charset="-120"/>
              </a:rPr>
              <a:t>E</a:t>
            </a:r>
            <a:endParaRPr lang="en-US" sz="3600" dirty="0"/>
          </a:p>
        </p:txBody>
      </p:sp>
      <p:sp>
        <p:nvSpPr>
          <p:cNvPr id="19" name="Shape 17"/>
          <p:cNvSpPr/>
          <p:nvPr/>
        </p:nvSpPr>
        <p:spPr>
          <a:xfrm>
            <a:off x="5385816" y="658368"/>
            <a:ext cx="685800" cy="685800"/>
          </a:xfrm>
          <a:prstGeom prst="roundRect">
            <a:avLst>
              <a:gd name="adj" fmla="val 13333"/>
            </a:avLst>
          </a:prstGeom>
          <a:solidFill>
            <a:srgbClr val="7A3020">
              <a:alpha val="16000"/>
            </a:srgbClr>
          </a:solidFill>
          <a:ln w="12700">
            <a:solidFill>
              <a:srgbClr val="7A3020"/>
            </a:solidFill>
            <a:prstDash val="solid"/>
          </a:ln>
        </p:spPr>
        <p:txBody>
          <a:bodyPr/>
          <a:lstStyle/>
          <a:p>
            <a:endParaRPr lang="en-US"/>
          </a:p>
        </p:txBody>
      </p:sp>
      <p:sp>
        <p:nvSpPr>
          <p:cNvPr id="20" name="Text 18"/>
          <p:cNvSpPr/>
          <p:nvPr/>
        </p:nvSpPr>
        <p:spPr>
          <a:xfrm>
            <a:off x="5385816" y="658368"/>
            <a:ext cx="685800" cy="685800"/>
          </a:xfrm>
          <a:prstGeom prst="rect">
            <a:avLst/>
          </a:prstGeom>
          <a:noFill/>
          <a:ln/>
        </p:spPr>
        <p:txBody>
          <a:bodyPr wrap="square" rtlCol="0" anchor="ctr"/>
          <a:lstStyle/>
          <a:p>
            <a:pPr marL="0" indent="0" algn="ctr">
              <a:buNone/>
            </a:pPr>
            <a:r>
              <a:rPr lang="en-US" sz="3600" b="1" dirty="0">
                <a:solidFill>
                  <a:srgbClr val="7A3020"/>
                </a:solidFill>
                <a:latin typeface="Calibri" pitchFamily="34" charset="0"/>
                <a:ea typeface="Calibri" pitchFamily="34" charset="-122"/>
                <a:cs typeface="Calibri" pitchFamily="34" charset="-120"/>
              </a:rPr>
              <a:t>F</a:t>
            </a:r>
            <a:endParaRPr lang="en-US" sz="3600" dirty="0"/>
          </a:p>
        </p:txBody>
      </p:sp>
      <p:sp>
        <p:nvSpPr>
          <p:cNvPr id="21" name="Text 19"/>
          <p:cNvSpPr/>
          <p:nvPr/>
        </p:nvSpPr>
        <p:spPr>
          <a:xfrm>
            <a:off x="457200" y="1481328"/>
            <a:ext cx="8229600" cy="411480"/>
          </a:xfrm>
          <a:prstGeom prst="rect">
            <a:avLst/>
          </a:prstGeom>
          <a:noFill/>
          <a:ln/>
        </p:spPr>
        <p:txBody>
          <a:bodyPr wrap="square" rtlCol="0" anchor="ctr"/>
          <a:lstStyle/>
          <a:p>
            <a:pPr marL="0" indent="0" algn="ctr">
              <a:buNone/>
            </a:pPr>
            <a:r>
              <a:rPr lang="en-US" sz="2200" b="1" dirty="0">
                <a:solidFill>
                  <a:srgbClr val="1A1814"/>
                </a:solidFill>
                <a:latin typeface="Calibri" pitchFamily="34" charset="0"/>
                <a:ea typeface="Calibri" pitchFamily="34" charset="-122"/>
                <a:cs typeface="Calibri" pitchFamily="34" charset="-120"/>
              </a:rPr>
              <a:t>Prompt Engineering Evaluation Framework</a:t>
            </a:r>
            <a:endParaRPr lang="en-US" sz="2200" dirty="0"/>
          </a:p>
        </p:txBody>
      </p:sp>
      <p:sp>
        <p:nvSpPr>
          <p:cNvPr id="22" name="Text 20"/>
          <p:cNvSpPr/>
          <p:nvPr/>
        </p:nvSpPr>
        <p:spPr>
          <a:xfrm>
            <a:off x="457200" y="1920240"/>
            <a:ext cx="8229600" cy="292608"/>
          </a:xfrm>
          <a:prstGeom prst="rect">
            <a:avLst/>
          </a:prstGeom>
          <a:noFill/>
          <a:ln/>
        </p:spPr>
        <p:txBody>
          <a:bodyPr wrap="square" rtlCol="0" anchor="ctr"/>
          <a:lstStyle/>
          <a:p>
            <a:pPr marL="0" indent="0" algn="ctr">
              <a:buNone/>
            </a:pPr>
            <a:r>
              <a:rPr lang="en-US" sz="1300" dirty="0">
                <a:solidFill>
                  <a:srgbClr val="6E6760"/>
                </a:solidFill>
                <a:latin typeface="Calibri" pitchFamily="34" charset="0"/>
                <a:ea typeface="Calibri" pitchFamily="34" charset="-122"/>
                <a:cs typeface="Calibri" pitchFamily="34" charset="-120"/>
              </a:rPr>
              <a:t>Systematic Evaluation of Prompting Techniques for Large Language Models</a:t>
            </a:r>
            <a:endParaRPr lang="en-US" sz="1300" dirty="0"/>
          </a:p>
        </p:txBody>
      </p:sp>
      <p:sp>
        <p:nvSpPr>
          <p:cNvPr id="23" name="Shape 21"/>
          <p:cNvSpPr/>
          <p:nvPr/>
        </p:nvSpPr>
        <p:spPr>
          <a:xfrm>
            <a:off x="3291840" y="2331720"/>
            <a:ext cx="2560320" cy="18288"/>
          </a:xfrm>
          <a:prstGeom prst="rect">
            <a:avLst/>
          </a:prstGeom>
          <a:solidFill>
            <a:srgbClr val="CFCABC"/>
          </a:solidFill>
          <a:ln w="12700">
            <a:solidFill>
              <a:srgbClr val="CFCABC"/>
            </a:solidFill>
            <a:prstDash val="solid"/>
          </a:ln>
        </p:spPr>
        <p:txBody>
          <a:bodyPr/>
          <a:lstStyle/>
          <a:p>
            <a:endParaRPr lang="en-US"/>
          </a:p>
        </p:txBody>
      </p:sp>
      <p:sp>
        <p:nvSpPr>
          <p:cNvPr id="24" name="Text 22"/>
          <p:cNvSpPr/>
          <p:nvPr/>
        </p:nvSpPr>
        <p:spPr>
          <a:xfrm>
            <a:off x="1828800" y="2450592"/>
            <a:ext cx="1828800" cy="347472"/>
          </a:xfrm>
          <a:prstGeom prst="rect">
            <a:avLst/>
          </a:prstGeom>
          <a:noFill/>
          <a:ln/>
        </p:spPr>
        <p:txBody>
          <a:bodyPr wrap="square" rtlCol="0" anchor="ctr"/>
          <a:lstStyle/>
          <a:p>
            <a:pPr marL="0" indent="0" algn="ctr">
              <a:buNone/>
            </a:pPr>
            <a:r>
              <a:rPr lang="en-US" sz="2000" b="1" dirty="0">
                <a:solidFill>
                  <a:srgbClr val="4A6A9A"/>
                </a:solidFill>
                <a:latin typeface="Calibri" pitchFamily="34" charset="0"/>
                <a:ea typeface="Calibri" pitchFamily="34" charset="-122"/>
                <a:cs typeface="Calibri" pitchFamily="34" charset="-120"/>
              </a:rPr>
              <a:t>18</a:t>
            </a:r>
            <a:endParaRPr lang="en-US" sz="2000" dirty="0"/>
          </a:p>
        </p:txBody>
      </p:sp>
      <p:sp>
        <p:nvSpPr>
          <p:cNvPr id="25" name="Text 23"/>
          <p:cNvSpPr/>
          <p:nvPr/>
        </p:nvSpPr>
        <p:spPr>
          <a:xfrm>
            <a:off x="1828800" y="2798064"/>
            <a:ext cx="1828800" cy="182880"/>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Experiments</a:t>
            </a:r>
            <a:endParaRPr lang="en-US" sz="900" dirty="0"/>
          </a:p>
        </p:txBody>
      </p:sp>
      <p:sp>
        <p:nvSpPr>
          <p:cNvPr id="26" name="Text 24"/>
          <p:cNvSpPr/>
          <p:nvPr/>
        </p:nvSpPr>
        <p:spPr>
          <a:xfrm>
            <a:off x="4114800" y="2450592"/>
            <a:ext cx="1828800" cy="347472"/>
          </a:xfrm>
          <a:prstGeom prst="rect">
            <a:avLst/>
          </a:prstGeom>
          <a:noFill/>
          <a:ln/>
        </p:spPr>
        <p:txBody>
          <a:bodyPr wrap="square" rtlCol="0" anchor="ctr"/>
          <a:lstStyle/>
          <a:p>
            <a:pPr marL="0" indent="0" algn="ctr">
              <a:buNone/>
            </a:pPr>
            <a:r>
              <a:rPr lang="en-US" sz="2000" b="1" dirty="0">
                <a:solidFill>
                  <a:srgbClr val="4A6A9A"/>
                </a:solidFill>
                <a:latin typeface="Calibri" pitchFamily="34" charset="0"/>
                <a:ea typeface="Calibri" pitchFamily="34" charset="-122"/>
                <a:cs typeface="Calibri" pitchFamily="34" charset="-120"/>
              </a:rPr>
              <a:t>2,119</a:t>
            </a:r>
            <a:endParaRPr lang="en-US" sz="2000" dirty="0"/>
          </a:p>
        </p:txBody>
      </p:sp>
      <p:sp>
        <p:nvSpPr>
          <p:cNvPr id="27" name="Text 25"/>
          <p:cNvSpPr/>
          <p:nvPr/>
        </p:nvSpPr>
        <p:spPr>
          <a:xfrm>
            <a:off x="4114800" y="2798064"/>
            <a:ext cx="1828800" cy="182880"/>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Data Points</a:t>
            </a:r>
            <a:endParaRPr lang="en-US" sz="900" dirty="0"/>
          </a:p>
        </p:txBody>
      </p:sp>
      <p:sp>
        <p:nvSpPr>
          <p:cNvPr id="28" name="Text 26"/>
          <p:cNvSpPr/>
          <p:nvPr/>
        </p:nvSpPr>
        <p:spPr>
          <a:xfrm>
            <a:off x="6400800" y="2450592"/>
            <a:ext cx="1828800" cy="347472"/>
          </a:xfrm>
          <a:prstGeom prst="rect">
            <a:avLst/>
          </a:prstGeom>
          <a:noFill/>
          <a:ln/>
        </p:spPr>
        <p:txBody>
          <a:bodyPr wrap="square" rtlCol="0" anchor="ctr"/>
          <a:lstStyle/>
          <a:p>
            <a:pPr marL="0" indent="0" algn="ctr">
              <a:buNone/>
            </a:pPr>
            <a:r>
              <a:rPr lang="en-US" sz="2000" b="1" dirty="0">
                <a:solidFill>
                  <a:srgbClr val="4A6A9A"/>
                </a:solidFill>
                <a:latin typeface="Calibri" pitchFamily="34" charset="0"/>
                <a:ea typeface="Calibri" pitchFamily="34" charset="-122"/>
                <a:cs typeface="Calibri" pitchFamily="34" charset="-120"/>
              </a:rPr>
              <a:t>$12.67</a:t>
            </a:r>
            <a:endParaRPr lang="en-US" sz="2000" dirty="0"/>
          </a:p>
        </p:txBody>
      </p:sp>
      <p:sp>
        <p:nvSpPr>
          <p:cNvPr id="29" name="Text 27"/>
          <p:cNvSpPr/>
          <p:nvPr/>
        </p:nvSpPr>
        <p:spPr>
          <a:xfrm>
            <a:off x="6400800" y="2798064"/>
            <a:ext cx="1828800" cy="182880"/>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Total Cost</a:t>
            </a:r>
            <a:endParaRPr lang="en-US" sz="900" dirty="0"/>
          </a:p>
        </p:txBody>
      </p:sp>
      <p:sp>
        <p:nvSpPr>
          <p:cNvPr id="30" name="Shape 28"/>
          <p:cNvSpPr/>
          <p:nvPr/>
        </p:nvSpPr>
        <p:spPr>
          <a:xfrm>
            <a:off x="1371600" y="3154680"/>
            <a:ext cx="6400800" cy="1508760"/>
          </a:xfrm>
          <a:prstGeom prst="roundRect">
            <a:avLst>
              <a:gd name="adj" fmla="val 6061"/>
            </a:avLst>
          </a:prstGeom>
          <a:solidFill>
            <a:srgbClr val="EDEAE3"/>
          </a:solidFill>
          <a:ln w="12700">
            <a:solidFill>
              <a:srgbClr val="CFCABC"/>
            </a:solidFill>
            <a:prstDash val="solid"/>
          </a:ln>
        </p:spPr>
        <p:txBody>
          <a:bodyPr/>
          <a:lstStyle/>
          <a:p>
            <a:endParaRPr lang="en-US"/>
          </a:p>
        </p:txBody>
      </p:sp>
      <p:sp>
        <p:nvSpPr>
          <p:cNvPr id="31" name="Text 29"/>
          <p:cNvSpPr/>
          <p:nvPr/>
        </p:nvSpPr>
        <p:spPr>
          <a:xfrm>
            <a:off x="1572768" y="3310128"/>
            <a:ext cx="2651760" cy="274320"/>
          </a:xfrm>
          <a:prstGeom prst="rect">
            <a:avLst/>
          </a:prstGeom>
          <a:noFill/>
          <a:ln/>
        </p:spPr>
        <p:txBody>
          <a:bodyPr wrap="square" rtlCol="0" anchor="ctr"/>
          <a:lstStyle/>
          <a:p>
            <a:pPr marL="0" indent="0">
              <a:buNone/>
            </a:pPr>
            <a:r>
              <a:rPr lang="en-US" sz="1300" b="1" dirty="0">
                <a:solidFill>
                  <a:srgbClr val="1A1814"/>
                </a:solidFill>
                <a:latin typeface="Calibri" pitchFamily="34" charset="0"/>
                <a:ea typeface="Calibri" pitchFamily="34" charset="-122"/>
                <a:cs typeface="Calibri" pitchFamily="34" charset="-120"/>
              </a:rPr>
              <a:t>Varun Kumar Ramesh Kumar</a:t>
            </a:r>
            <a:endParaRPr lang="en-US" sz="1300" dirty="0"/>
          </a:p>
        </p:txBody>
      </p:sp>
      <p:sp>
        <p:nvSpPr>
          <p:cNvPr id="32" name="Text 30"/>
          <p:cNvSpPr/>
          <p:nvPr/>
        </p:nvSpPr>
        <p:spPr>
          <a:xfrm>
            <a:off x="1572768" y="3611880"/>
            <a:ext cx="2651760" cy="201168"/>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Student ID: 201862625</a:t>
            </a:r>
            <a:endParaRPr lang="en-US" sz="1000" dirty="0"/>
          </a:p>
        </p:txBody>
      </p:sp>
      <p:sp>
        <p:nvSpPr>
          <p:cNvPr id="33" name="Text 31"/>
          <p:cNvSpPr/>
          <p:nvPr/>
        </p:nvSpPr>
        <p:spPr>
          <a:xfrm>
            <a:off x="1572768" y="3822192"/>
            <a:ext cx="2651760" cy="201168"/>
          </a:xfrm>
          <a:prstGeom prst="rect">
            <a:avLst/>
          </a:prstGeom>
          <a:noFill/>
          <a:ln/>
        </p:spPr>
        <p:txBody>
          <a:bodyPr wrap="square" rtlCol="0" anchor="ctr"/>
          <a:lstStyle/>
          <a:p>
            <a:pPr marL="0" indent="0">
              <a:buNone/>
            </a:pPr>
            <a:r>
              <a:rPr lang="en-US" sz="1000" dirty="0">
                <a:solidFill>
                  <a:srgbClr val="9A9590"/>
                </a:solidFill>
                <a:latin typeface="Calibri" pitchFamily="34" charset="0"/>
                <a:ea typeface="Calibri" pitchFamily="34" charset="-122"/>
                <a:cs typeface="Calibri" pitchFamily="34" charset="-120"/>
              </a:rPr>
              <a:t>varunzayne@gmail.com</a:t>
            </a:r>
            <a:endParaRPr lang="en-US" sz="1000" dirty="0"/>
          </a:p>
        </p:txBody>
      </p:sp>
      <p:sp>
        <p:nvSpPr>
          <p:cNvPr id="34" name="Text 32"/>
          <p:cNvSpPr/>
          <p:nvPr/>
        </p:nvSpPr>
        <p:spPr>
          <a:xfrm>
            <a:off x="1572768" y="4041648"/>
            <a:ext cx="2651760" cy="201168"/>
          </a:xfrm>
          <a:prstGeom prst="rect">
            <a:avLst/>
          </a:prstGeom>
          <a:noFill/>
          <a:ln/>
        </p:spPr>
        <p:txBody>
          <a:bodyPr wrap="square" rtlCol="0" anchor="ctr"/>
          <a:lstStyle/>
          <a:p>
            <a:pPr marL="0" indent="0">
              <a:buNone/>
            </a:pPr>
            <a:r>
              <a:rPr lang="en-US" sz="1000" dirty="0">
                <a:solidFill>
                  <a:srgbClr val="9A9590"/>
                </a:solidFill>
                <a:latin typeface="Calibri" pitchFamily="34" charset="0"/>
                <a:ea typeface="Calibri" pitchFamily="34" charset="-122"/>
                <a:cs typeface="Calibri" pitchFamily="34" charset="-120"/>
              </a:rPr>
              <a:t>University of Liverpool</a:t>
            </a:r>
            <a:endParaRPr lang="en-US" sz="1000" dirty="0"/>
          </a:p>
        </p:txBody>
      </p:sp>
      <p:sp>
        <p:nvSpPr>
          <p:cNvPr id="35" name="Shape 33"/>
          <p:cNvSpPr/>
          <p:nvPr/>
        </p:nvSpPr>
        <p:spPr>
          <a:xfrm>
            <a:off x="4572000" y="3364992"/>
            <a:ext cx="18288" cy="1097280"/>
          </a:xfrm>
          <a:prstGeom prst="rect">
            <a:avLst/>
          </a:prstGeom>
          <a:solidFill>
            <a:srgbClr val="CFCABC"/>
          </a:solidFill>
          <a:ln w="12700">
            <a:solidFill>
              <a:srgbClr val="CFCABC"/>
            </a:solidFill>
            <a:prstDash val="solid"/>
          </a:ln>
        </p:spPr>
        <p:txBody>
          <a:bodyPr/>
          <a:lstStyle/>
          <a:p>
            <a:endParaRPr lang="en-US"/>
          </a:p>
        </p:txBody>
      </p:sp>
      <p:sp>
        <p:nvSpPr>
          <p:cNvPr id="36" name="Text 34"/>
          <p:cNvSpPr/>
          <p:nvPr/>
        </p:nvSpPr>
        <p:spPr>
          <a:xfrm>
            <a:off x="4773168" y="3310128"/>
            <a:ext cx="2743200" cy="201168"/>
          </a:xfrm>
          <a:prstGeom prst="rect">
            <a:avLst/>
          </a:prstGeom>
          <a:noFill/>
          <a:ln/>
        </p:spPr>
        <p:txBody>
          <a:bodyPr wrap="square" rtlCol="0" anchor="ctr"/>
          <a:lstStyle/>
          <a:p>
            <a:pPr marL="0" indent="0">
              <a:buNone/>
            </a:pPr>
            <a:r>
              <a:rPr lang="en-US" sz="900" dirty="0">
                <a:solidFill>
                  <a:srgbClr val="9A9590"/>
                </a:solidFill>
                <a:latin typeface="Calibri" pitchFamily="34" charset="0"/>
                <a:ea typeface="Calibri" pitchFamily="34" charset="-122"/>
                <a:cs typeface="Calibri" pitchFamily="34" charset="-120"/>
              </a:rPr>
              <a:t>Supervisor</a:t>
            </a:r>
            <a:endParaRPr lang="en-US" sz="900" dirty="0"/>
          </a:p>
        </p:txBody>
      </p:sp>
      <p:sp>
        <p:nvSpPr>
          <p:cNvPr id="37" name="Text 35"/>
          <p:cNvSpPr/>
          <p:nvPr/>
        </p:nvSpPr>
        <p:spPr>
          <a:xfrm>
            <a:off x="4773168" y="3529584"/>
            <a:ext cx="2743200" cy="274320"/>
          </a:xfrm>
          <a:prstGeom prst="rect">
            <a:avLst/>
          </a:prstGeom>
          <a:noFill/>
          <a:ln/>
        </p:spPr>
        <p:txBody>
          <a:bodyPr wrap="square" rtlCol="0" anchor="ctr"/>
          <a:lstStyle/>
          <a:p>
            <a:pPr marL="0" indent="0">
              <a:buNone/>
            </a:pPr>
            <a:r>
              <a:rPr lang="en-US" sz="1300" b="1" dirty="0">
                <a:solidFill>
                  <a:srgbClr val="1A1814"/>
                </a:solidFill>
                <a:latin typeface="Calibri" pitchFamily="34" charset="0"/>
                <a:ea typeface="Calibri" pitchFamily="34" charset="-122"/>
                <a:cs typeface="Calibri" pitchFamily="34" charset="-120"/>
              </a:rPr>
              <a:t>Achilleas Koufonikos</a:t>
            </a:r>
            <a:endParaRPr lang="en-US" sz="1300" dirty="0"/>
          </a:p>
        </p:txBody>
      </p:sp>
      <p:sp>
        <p:nvSpPr>
          <p:cNvPr id="38" name="Text 36"/>
          <p:cNvSpPr/>
          <p:nvPr/>
        </p:nvSpPr>
        <p:spPr>
          <a:xfrm>
            <a:off x="4773168" y="3822192"/>
            <a:ext cx="2743200" cy="201168"/>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University of Liverpool</a:t>
            </a:r>
            <a:endParaRPr lang="en-US" sz="1000" dirty="0"/>
          </a:p>
        </p:txBody>
      </p:sp>
    </p:spTree>
  </p:cSld>
  <p:clrMapOvr>
    <a:masterClrMapping/>
  </p:clrMapOvr>
  <p:transition spd="med" advClick="1">
    <p:fade/>
  </p:transition>
  <p:timing>
    <p:tnLst>
      <p:par>
        <p:cTn id="49990" dur="indefinite" restart="whenNotActive" nodeType="tmRoot">
          <p:childTnLst>
            <p:seq concurrent="1" nextAc="seek">
              <p:cTn id="49991" dur="indefinite" nodeType="mainSeq">
                <p:childTnLst>
                  <p:par>
                    <p:cTn id="50000" fill="hold">
                      <p:stCondLst>
                        <p:cond delay="500"/>
                      </p:stCondLst>
                      <p:childTnLst>
                        <p:par>
                          <p:cTn id="50020" presetID="10" presetClass="entr" presetSubtype="0" fill="hold" grpId="0" nodeType="clickEffect">
                            <p:stCondLst>
                              <p:cond delay="0"/>
                            </p:stCondLst>
                            <p:childTnLst>
                              <p:animEffect transition="in" filter="fade">
                                <p:cBhvr>
                                  <p:cTn id="50001" dur="550"/>
                                  <p:tgtEl>
                                    <p:spTgt spid="10"/>
                                  </p:tgtEl>
                                </p:cBhvr>
                              </p:animEffect>
                              <p:animEffect transition="in" filter="fade">
                                <p:cBhvr>
                                  <p:cTn id="50002" dur="550"/>
                                  <p:tgtEl>
                                    <p:spTgt spid="21"/>
                                  </p:tgtEl>
                                </p:cBhvr>
                              </p:animEffect>
                              <p:animEffect transition="in" filter="fade">
                                <p:cBhvr>
                                  <p:cTn id="50003" dur="550"/>
                                  <p:tgtEl>
                                    <p:spTgt spid="22"/>
                                  </p:tgtEl>
                                </p:cBhvr>
                              </p:animEffect>
                              <p:animEffect transition="in" filter="fade">
                                <p:cBhvr>
                                  <p:cTn id="50004" dur="550"/>
                                  <p:tgtEl>
                                    <p:spTgt spid="4"/>
                                  </p:tgtEl>
                                </p:cBhvr>
                              </p:animEffect>
                              <p:animEffect transition="in" filter="fade">
                                <p:cBhvr>
                                  <p:cTn id="50005" dur="550"/>
                                  <p:tgtEl>
                                    <p:spTgt spid="24"/>
                                  </p:tgtEl>
                                </p:cBhvr>
                              </p:animEffect>
                              <p:animEffect transition="in" filter="fade">
                                <p:cBhvr>
                                  <p:cTn id="50006" dur="550"/>
                                  <p:tgtEl>
                                    <p:spTgt spid="25"/>
                                  </p:tgtEl>
                                </p:cBhvr>
                              </p:animEffect>
                              <p:animEffect transition="in" filter="fade">
                                <p:cBhvr>
                                  <p:cTn id="50007" dur="550"/>
                                  <p:tgtEl>
                                    <p:spTgt spid="13"/>
                                  </p:tgtEl>
                                </p:cBhvr>
                              </p:animEffect>
                              <p:animEffect transition="in" filter="fade">
                                <p:cBhvr>
                                  <p:cTn id="50008" dur="550"/>
                                  <p:tgtEl>
                                    <p:spTgt spid="14"/>
                                  </p:tgtEl>
                                </p:cBhvr>
                              </p:animEffect>
                              <p:animEffect transition="in" filter="fade">
                                <p:cBhvr>
                                  <p:cTn id="50009" dur="550"/>
                                  <p:tgtEl>
                                    <p:spTgt spid="23"/>
                                  </p:tgtEl>
                                </p:cBhvr>
                              </p:animEffect>
                              <p:animEffect transition="in" filter="fade">
                                <p:cBhvr>
                                  <p:cTn id="50010" dur="550"/>
                                  <p:tgtEl>
                                    <p:spTgt spid="15"/>
                                  </p:tgtEl>
                                </p:cBhvr>
                              </p:animEffect>
                              <p:animEffect transition="in" filter="fade">
                                <p:cBhvr>
                                  <p:cTn id="50011" dur="550"/>
                                  <p:tgtEl>
                                    <p:spTgt spid="16"/>
                                  </p:tgtEl>
                                </p:cBhvr>
                              </p:animEffect>
                              <p:animEffect transition="in" filter="fade">
                                <p:cBhvr>
                                  <p:cTn id="50012" dur="550"/>
                                  <p:tgtEl>
                                    <p:spTgt spid="26"/>
                                  </p:tgtEl>
                                </p:cBhvr>
                              </p:animEffect>
                              <p:animEffect transition="in" filter="fade">
                                <p:cBhvr>
                                  <p:cTn id="50013" dur="550"/>
                                  <p:tgtEl>
                                    <p:spTgt spid="27"/>
                                  </p:tgtEl>
                                </p:cBhvr>
                              </p:animEffect>
                              <p:animEffect transition="in" filter="fade">
                                <p:cBhvr>
                                  <p:cTn id="50014" dur="550"/>
                                  <p:tgtEl>
                                    <p:spTgt spid="17"/>
                                  </p:tgtEl>
                                </p:cBhvr>
                              </p:animEffect>
                              <p:animEffect transition="in" filter="fade">
                                <p:cBhvr>
                                  <p:cTn id="50015" dur="550"/>
                                  <p:tgtEl>
                                    <p:spTgt spid="18"/>
                                  </p:tgtEl>
                                </p:cBhvr>
                              </p:animEffect>
                              <p:animEffect transition="in" filter="fade">
                                <p:cBhvr>
                                  <p:cTn id="50016" dur="550"/>
                                  <p:tgtEl>
                                    <p:spTgt spid="19"/>
                                  </p:tgtEl>
                                </p:cBhvr>
                              </p:animEffect>
                              <p:animEffect transition="in" filter="fade">
                                <p:cBhvr>
                                  <p:cTn id="50017" dur="550"/>
                                  <p:tgtEl>
                                    <p:spTgt spid="20"/>
                                  </p:tgtEl>
                                </p:cBhvr>
                              </p:animEffect>
                              <p:animEffect transition="in" filter="fade">
                                <p:cBhvr>
                                  <p:cTn id="50018" dur="550"/>
                                  <p:tgtEl>
                                    <p:spTgt spid="28"/>
                                  </p:tgtEl>
                                </p:cBhvr>
                              </p:animEffect>
                              <p:animEffect transition="in" filter="fade">
                                <p:cBhvr>
                                  <p:cTn id="50019" dur="550"/>
                                  <p:tgtEl>
                                    <p:spTgt spid="29"/>
                                  </p:tgtEl>
                                </p:cBhvr>
                              </p:animEffect>
                            </p:childTnLst>
                          </p:cTn>
                        </p:par>
                      </p:childTnLst>
                    </p:cTn>
                  </p:par>
                  <p:par>
                    <p:cTn id="50100" fill="hold">
                      <p:stCondLst>
                        <p:cond delay="600"/>
                      </p:stCondLst>
                      <p:childTnLst>
                        <p:par>
                          <p:cTn id="50111" presetID="10" presetClass="entr" presetSubtype="0" fill="hold" grpId="1" nodeType="withEffect">
                            <p:stCondLst>
                              <p:cond delay="0"/>
                            </p:stCondLst>
                            <p:childTnLst>
                              <p:animEffect transition="in" filter="fade">
                                <p:cBhvr>
                                  <p:cTn id="50101" dur="350"/>
                                  <p:tgtEl>
                                    <p:spTgt spid="30"/>
                                  </p:tgtEl>
                                </p:cBhvr>
                              </p:animEffect>
                              <p:animEffect transition="in" filter="fade">
                                <p:cBhvr>
                                  <p:cTn id="50102" dur="350"/>
                                  <p:tgtEl>
                                    <p:spTgt spid="6"/>
                                  </p:tgtEl>
                                </p:cBhvr>
                              </p:animEffect>
                              <p:animEffect transition="in" filter="fade">
                                <p:cBhvr>
                                  <p:cTn id="50103" dur="350"/>
                                  <p:tgtEl>
                                    <p:spTgt spid="31"/>
                                  </p:tgtEl>
                                </p:cBhvr>
                              </p:animEffect>
                              <p:animEffect transition="in" filter="fade">
                                <p:cBhvr>
                                  <p:cTn id="50104" dur="350"/>
                                  <p:tgtEl>
                                    <p:spTgt spid="32"/>
                                  </p:tgtEl>
                                </p:cBhvr>
                              </p:animEffect>
                              <p:animEffect transition="in" filter="fade">
                                <p:cBhvr>
                                  <p:cTn id="50105" dur="350"/>
                                  <p:tgtEl>
                                    <p:spTgt spid="33"/>
                                  </p:tgtEl>
                                </p:cBhvr>
                              </p:animEffect>
                              <p:animEffect transition="in" filter="fade">
                                <p:cBhvr>
                                  <p:cTn id="50106" dur="350"/>
                                  <p:tgtEl>
                                    <p:spTgt spid="34"/>
                                  </p:tgtEl>
                                </p:cBhvr>
                              </p:animEffect>
                              <p:animEffect transition="in" filter="fade">
                                <p:cBhvr>
                                  <p:cTn id="50107" dur="350"/>
                                  <p:tgtEl>
                                    <p:spTgt spid="35"/>
                                  </p:tgtEl>
                                </p:cBhvr>
                              </p:animEffect>
                              <p:animEffect transition="in" filter="fade">
                                <p:cBhvr>
                                  <p:cTn id="50108" dur="350"/>
                                  <p:tgtEl>
                                    <p:spTgt spid="36"/>
                                  </p:tgtEl>
                                </p:cBhvr>
                              </p:animEffect>
                              <p:animEffect transition="in" filter="fade">
                                <p:cBhvr>
                                  <p:cTn id="50109" dur="350"/>
                                  <p:tgtEl>
                                    <p:spTgt spid="37"/>
                                  </p:tgtEl>
                                </p:cBhvr>
                              </p:animEffect>
                              <p:animEffect transition="in" filter="fade">
                                <p:cBhvr>
                                  <p:cTn id="50110" dur="350"/>
                                  <p:tgtEl>
                                    <p:spTgt spid="38"/>
                                  </p:tgtEl>
                                </p:cBhvr>
                              </p:animEffect>
                            </p:childTnLst>
                          </p:cTn>
                        </p:par>
                      </p:childTnLst>
                    </p:cTn>
                  </p:par>
                  <p:par>
                    <p:cTn id="50200" fill="hold">
                      <p:stCondLst>
                        <p:cond delay="700"/>
                      </p:stCondLst>
                      <p:childTnLst>
                        <p:par>
                          <p:cTn id="50203" presetID="10" presetClass="entr" presetSubtype="0" fill="hold" grpId="2" nodeType="withEffect">
                            <p:stCondLst>
                              <p:cond delay="0"/>
                            </p:stCondLst>
                            <p:childTnLst>
                              <p:animEffect transition="in" filter="fade">
                                <p:cBhvr>
                                  <p:cTn id="50201" dur="350"/>
                                  <p:tgtEl>
                                    <p:spTgt spid="11"/>
                                  </p:tgtEl>
                                </p:cBhvr>
                              </p:animEffect>
                              <p:animEffect transition="in" filter="fade">
                                <p:cBhvr>
                                  <p:cTn id="50202" dur="35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1" grpId="0" animBg="1"/>
      <p:bldP spid="22" grpId="0" animBg="1"/>
      <p:bldP spid="4" grpId="0" animBg="1"/>
      <p:bldP spid="24" grpId="0" animBg="1"/>
      <p:bldP spid="25" grpId="0" animBg="1"/>
      <p:bldP spid="13" grpId="0" animBg="1"/>
      <p:bldP spid="14" grpId="0" animBg="1"/>
      <p:bldP spid="23" grpId="0" animBg="1"/>
      <p:bldP spid="15" grpId="0" animBg="1"/>
      <p:bldP spid="16" grpId="0" animBg="1"/>
      <p:bldP spid="26" grpId="0" animBg="1"/>
      <p:bldP spid="27" grpId="0" animBg="1"/>
      <p:bldP spid="17" grpId="0" animBg="1"/>
      <p:bldP spid="18" grpId="0" animBg="1"/>
      <p:bldP spid="19" grpId="0" animBg="1"/>
      <p:bldP spid="20" grpId="0" animBg="1"/>
      <p:bldP spid="28" grpId="0" animBg="1"/>
      <p:bldP spid="29" grpId="0" animBg="1"/>
      <p:bldP spid="30" grpId="1" animBg="1"/>
      <p:bldP spid="6" grpId="1" animBg="1"/>
      <p:bldP spid="31" grpId="1" animBg="1"/>
      <p:bldP spid="32" grpId="1" animBg="1"/>
      <p:bldP spid="33" grpId="1" animBg="1"/>
      <p:bldP spid="34" grpId="1" animBg="1"/>
      <p:bldP spid="35" grpId="1" animBg="1"/>
      <p:bldP spid="36" grpId="1" animBg="1"/>
      <p:bldP spid="37" grpId="1" animBg="1"/>
      <p:bldP spid="38" grpId="1" animBg="1"/>
      <p:bldP spid="11" grpId="2" animBg="1"/>
      <p:bldP spid="12" grpId="2"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0" y="0"/>
            <a:ext cx="64008" cy="5143500"/>
          </a:xfrm>
          <a:prstGeom prst="rect">
            <a:avLst/>
          </a:prstGeom>
          <a:solidFill>
            <a:srgbClr val="7A3020"/>
          </a:solidFill>
          <a:ln w="12700">
            <a:solidFill>
              <a:srgbClr val="7A3020"/>
            </a:solidFill>
            <a:prstDash val="solid"/>
          </a:ln>
        </p:spPr>
        <p:txBody>
          <a:bodyPr/>
          <a:lstStyle/>
          <a:p>
            <a:endParaRPr lang="en-US"/>
          </a:p>
        </p:txBody>
      </p:sp>
      <p:sp>
        <p:nvSpPr>
          <p:cNvPr id="4" name="Shape 2"/>
          <p:cNvSpPr/>
          <p:nvPr/>
        </p:nvSpPr>
        <p:spPr>
          <a:xfrm>
            <a:off x="7040880" y="-914400"/>
            <a:ext cx="2743200" cy="2743200"/>
          </a:xfrm>
          <a:prstGeom prst="ellipse">
            <a:avLst/>
          </a:prstGeom>
          <a:solidFill>
            <a:srgbClr val="7A3020">
              <a:alpha val="7000"/>
            </a:srgbClr>
          </a:solidFill>
          <a:ln w="12700">
            <a:solidFill>
              <a:srgbClr val="F7F5F0"/>
            </a:solidFill>
            <a:prstDash val="solid"/>
          </a:ln>
        </p:spPr>
        <p:txBody>
          <a:bodyPr/>
          <a:lstStyle/>
          <a:p>
            <a:endParaRPr lang="en-US"/>
          </a:p>
        </p:txBody>
      </p:sp>
      <p:sp>
        <p:nvSpPr>
          <p:cNvPr id="5" name="Shape 3"/>
          <p:cNvSpPr/>
          <p:nvPr/>
        </p:nvSpPr>
        <p:spPr>
          <a:xfrm>
            <a:off x="7726680" y="-228600"/>
            <a:ext cx="1371600" cy="1371600"/>
          </a:xfrm>
          <a:prstGeom prst="ellipse">
            <a:avLst/>
          </a:prstGeom>
          <a:solidFill>
            <a:srgbClr val="7A3020">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7A3020"/>
                </a:solidFill>
                <a:latin typeface="Calibri" pitchFamily="34" charset="0"/>
                <a:ea typeface="Calibri" pitchFamily="34" charset="-122"/>
                <a:cs typeface="Calibri" pitchFamily="34" charset="-120"/>
              </a:rPr>
              <a:t>THE PROBLEM</a:t>
            </a:r>
            <a:endParaRPr lang="en-US" sz="900" dirty="0"/>
          </a:p>
        </p:txBody>
      </p:sp>
      <p:sp>
        <p:nvSpPr>
          <p:cNvPr id="7" name="Text 5"/>
          <p:cNvSpPr/>
          <p:nvPr/>
        </p:nvSpPr>
        <p:spPr>
          <a:xfrm>
            <a:off x="457200" y="384048"/>
            <a:ext cx="5669280" cy="685800"/>
          </a:xfrm>
          <a:prstGeom prst="rect">
            <a:avLst/>
          </a:prstGeom>
          <a:noFill/>
          <a:ln/>
        </p:spPr>
        <p:txBody>
          <a:bodyPr wrap="square" rtlCol="0" anchor="ctr"/>
          <a:lstStyle/>
          <a:p>
            <a:pPr marL="0" indent="0">
              <a:buNone/>
            </a:pPr>
            <a:r>
              <a:rPr lang="en-US" sz="2400" b="1" dirty="0">
                <a:solidFill>
                  <a:srgbClr val="1A1814"/>
                </a:solidFill>
                <a:latin typeface="Calibri" pitchFamily="34" charset="0"/>
                <a:ea typeface="Calibri" pitchFamily="34" charset="-122"/>
                <a:cs typeface="Calibri" pitchFamily="34" charset="-120"/>
              </a:rPr>
              <a:t>How You Phrase a Prompt Matters</a:t>
            </a:r>
            <a:endParaRPr lang="en-US" sz="2400" dirty="0"/>
          </a:p>
          <a:p>
            <a:pPr marL="0" indent="0">
              <a:buNone/>
            </a:pPr>
            <a:r>
              <a:rPr lang="en-US" sz="2400" b="1" dirty="0">
                <a:solidFill>
                  <a:srgbClr val="1A1814"/>
                </a:solidFill>
                <a:latin typeface="Calibri" pitchFamily="34" charset="0"/>
                <a:ea typeface="Calibri" pitchFamily="34" charset="-122"/>
                <a:cs typeface="Calibri" pitchFamily="34" charset="-120"/>
              </a:rPr>
              <a:t>As Much As the Model Itself</a:t>
            </a:r>
            <a:endParaRPr lang="en-US" sz="2400" dirty="0"/>
          </a:p>
        </p:txBody>
      </p:sp>
      <p:sp>
        <p:nvSpPr>
          <p:cNvPr id="8" name="Text 6"/>
          <p:cNvSpPr/>
          <p:nvPr/>
        </p:nvSpPr>
        <p:spPr>
          <a:xfrm>
            <a:off x="457200" y="1188720"/>
            <a:ext cx="5669280" cy="365760"/>
          </a:xfrm>
          <a:prstGeom prst="rect">
            <a:avLst/>
          </a:prstGeom>
          <a:noFill/>
          <a:ln/>
        </p:spPr>
        <p:txBody>
          <a:bodyPr wrap="square" rtlCol="0" anchor="ctr"/>
          <a:lstStyle/>
          <a:p>
            <a:pPr marL="0" indent="0">
              <a:buNone/>
            </a:pPr>
            <a:r>
              <a:rPr lang="en-US" sz="1100" dirty="0">
                <a:solidFill>
                  <a:srgbClr val="6E6760"/>
                </a:solidFill>
                <a:latin typeface="Calibri" pitchFamily="34" charset="0"/>
                <a:ea typeface="Calibri" pitchFamily="34" charset="-122"/>
                <a:cs typeface="Calibri" pitchFamily="34" charset="-120"/>
              </a:rPr>
              <a:t>Existing research compares prompting techniques in isolation, never across tasks, and never accounting for cost. PEEF addresses all four gaps.</a:t>
            </a:r>
            <a:endParaRPr lang="en-US" sz="1100" dirty="0"/>
          </a:p>
        </p:txBody>
      </p:sp>
      <p:sp>
        <p:nvSpPr>
          <p:cNvPr id="9" name="Shape 7"/>
          <p:cNvSpPr/>
          <p:nvPr/>
        </p:nvSpPr>
        <p:spPr>
          <a:xfrm>
            <a:off x="201168" y="1664208"/>
            <a:ext cx="1353312" cy="2743200"/>
          </a:xfrm>
          <a:prstGeom prst="roundRect">
            <a:avLst>
              <a:gd name="adj" fmla="val 6757"/>
            </a:avLst>
          </a:prstGeom>
          <a:solidFill>
            <a:srgbClr val="EDEAE3"/>
          </a:solidFill>
          <a:ln w="12700">
            <a:solidFill>
              <a:srgbClr val="2A4875"/>
            </a:solidFill>
            <a:prstDash val="solid"/>
          </a:ln>
        </p:spPr>
        <p:txBody>
          <a:bodyPr/>
          <a:lstStyle/>
          <a:p>
            <a:endParaRPr lang="en-US"/>
          </a:p>
        </p:txBody>
      </p:sp>
      <p:sp>
        <p:nvSpPr>
          <p:cNvPr id="10" name="Shape 8"/>
          <p:cNvSpPr/>
          <p:nvPr/>
        </p:nvSpPr>
        <p:spPr>
          <a:xfrm>
            <a:off x="201168" y="1664208"/>
            <a:ext cx="1353312" cy="41148"/>
          </a:xfrm>
          <a:prstGeom prst="rect">
            <a:avLst/>
          </a:prstGeom>
          <a:solidFill>
            <a:srgbClr val="2A4875"/>
          </a:solidFill>
          <a:ln w="12700">
            <a:solidFill>
              <a:srgbClr val="2A4875"/>
            </a:solidFill>
            <a:prstDash val="solid"/>
          </a:ln>
        </p:spPr>
        <p:txBody>
          <a:bodyPr/>
          <a:lstStyle/>
          <a:p>
            <a:endParaRPr lang="en-US"/>
          </a:p>
        </p:txBody>
      </p:sp>
      <p:sp>
        <p:nvSpPr>
          <p:cNvPr id="11" name="Shape 9"/>
          <p:cNvSpPr/>
          <p:nvPr/>
        </p:nvSpPr>
        <p:spPr>
          <a:xfrm>
            <a:off x="365760" y="1828800"/>
            <a:ext cx="548640" cy="237744"/>
          </a:xfrm>
          <a:prstGeom prst="roundRect">
            <a:avLst>
              <a:gd name="adj" fmla="val 50000"/>
            </a:avLst>
          </a:prstGeom>
          <a:solidFill>
            <a:srgbClr val="2A4875">
              <a:alpha val="20000"/>
            </a:srgbClr>
          </a:solidFill>
          <a:ln w="12700">
            <a:solidFill>
              <a:srgbClr val="2A4875"/>
            </a:solidFill>
            <a:prstDash val="solid"/>
          </a:ln>
        </p:spPr>
        <p:txBody>
          <a:bodyPr/>
          <a:lstStyle/>
          <a:p>
            <a:endParaRPr lang="en-US"/>
          </a:p>
        </p:txBody>
      </p:sp>
      <p:sp>
        <p:nvSpPr>
          <p:cNvPr id="12" name="Text 10"/>
          <p:cNvSpPr/>
          <p:nvPr/>
        </p:nvSpPr>
        <p:spPr>
          <a:xfrm>
            <a:off x="365760" y="1828800"/>
            <a:ext cx="548640" cy="237744"/>
          </a:xfrm>
          <a:prstGeom prst="rect">
            <a:avLst/>
          </a:prstGeom>
          <a:noFill/>
          <a:ln/>
        </p:spPr>
        <p:txBody>
          <a:bodyPr wrap="square" rtlCol="0" anchor="ctr"/>
          <a:lstStyle/>
          <a:p>
            <a:pPr marL="0" indent="0" algn="ctr">
              <a:buNone/>
            </a:pPr>
            <a:r>
              <a:rPr lang="en-US" sz="800" b="1" dirty="0">
                <a:solidFill>
                  <a:srgbClr val="2A4875"/>
                </a:solidFill>
                <a:latin typeface="Calibri" pitchFamily="34" charset="0"/>
                <a:ea typeface="Calibri" pitchFamily="34" charset="-122"/>
                <a:cs typeface="Calibri" pitchFamily="34" charset="-120"/>
              </a:rPr>
              <a:t>ZS</a:t>
            </a:r>
            <a:endParaRPr lang="en-US" sz="800" dirty="0"/>
          </a:p>
        </p:txBody>
      </p:sp>
      <p:sp>
        <p:nvSpPr>
          <p:cNvPr id="13" name="Text 11"/>
          <p:cNvSpPr/>
          <p:nvPr/>
        </p:nvSpPr>
        <p:spPr>
          <a:xfrm>
            <a:off x="292608" y="2176272"/>
            <a:ext cx="1188720" cy="32004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Zero-Shot</a:t>
            </a:r>
            <a:endParaRPr lang="en-US" sz="1100" dirty="0"/>
          </a:p>
        </p:txBody>
      </p:sp>
      <p:sp>
        <p:nvSpPr>
          <p:cNvPr id="14" name="Text 12"/>
          <p:cNvSpPr/>
          <p:nvPr/>
        </p:nvSpPr>
        <p:spPr>
          <a:xfrm>
            <a:off x="292608" y="2542032"/>
            <a:ext cx="1188720" cy="7315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Instruction only</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-no examples given</a:t>
            </a:r>
            <a:endParaRPr lang="en-US" sz="1000" dirty="0"/>
          </a:p>
        </p:txBody>
      </p:sp>
      <p:sp>
        <p:nvSpPr>
          <p:cNvPr id="15" name="Shape 13"/>
          <p:cNvSpPr/>
          <p:nvPr/>
        </p:nvSpPr>
        <p:spPr>
          <a:xfrm>
            <a:off x="1645920" y="1664208"/>
            <a:ext cx="1353312" cy="2743200"/>
          </a:xfrm>
          <a:prstGeom prst="roundRect">
            <a:avLst>
              <a:gd name="adj" fmla="val 6757"/>
            </a:avLst>
          </a:prstGeom>
          <a:solidFill>
            <a:srgbClr val="EDEAE3"/>
          </a:solidFill>
          <a:ln w="12700">
            <a:solidFill>
              <a:srgbClr val="245E3E"/>
            </a:solidFill>
            <a:prstDash val="solid"/>
          </a:ln>
        </p:spPr>
        <p:txBody>
          <a:bodyPr/>
          <a:lstStyle/>
          <a:p>
            <a:endParaRPr lang="en-US"/>
          </a:p>
        </p:txBody>
      </p:sp>
      <p:sp>
        <p:nvSpPr>
          <p:cNvPr id="16" name="Shape 14"/>
          <p:cNvSpPr/>
          <p:nvPr/>
        </p:nvSpPr>
        <p:spPr>
          <a:xfrm>
            <a:off x="1645920" y="1664208"/>
            <a:ext cx="1353312" cy="41148"/>
          </a:xfrm>
          <a:prstGeom prst="rect">
            <a:avLst/>
          </a:prstGeom>
          <a:solidFill>
            <a:srgbClr val="245E3E"/>
          </a:solidFill>
          <a:ln w="12700">
            <a:solidFill>
              <a:srgbClr val="245E3E"/>
            </a:solidFill>
            <a:prstDash val="solid"/>
          </a:ln>
        </p:spPr>
        <p:txBody>
          <a:bodyPr/>
          <a:lstStyle/>
          <a:p>
            <a:endParaRPr lang="en-US"/>
          </a:p>
        </p:txBody>
      </p:sp>
      <p:sp>
        <p:nvSpPr>
          <p:cNvPr id="17" name="Shape 15"/>
          <p:cNvSpPr/>
          <p:nvPr/>
        </p:nvSpPr>
        <p:spPr>
          <a:xfrm>
            <a:off x="1810512" y="1828800"/>
            <a:ext cx="548640" cy="237744"/>
          </a:xfrm>
          <a:prstGeom prst="roundRect">
            <a:avLst>
              <a:gd name="adj" fmla="val 50000"/>
            </a:avLst>
          </a:prstGeom>
          <a:solidFill>
            <a:srgbClr val="245E3E">
              <a:alpha val="20000"/>
            </a:srgbClr>
          </a:solidFill>
          <a:ln w="12700">
            <a:solidFill>
              <a:srgbClr val="245E3E"/>
            </a:solidFill>
            <a:prstDash val="solid"/>
          </a:ln>
        </p:spPr>
        <p:txBody>
          <a:bodyPr/>
          <a:lstStyle/>
          <a:p>
            <a:endParaRPr lang="en-US"/>
          </a:p>
        </p:txBody>
      </p:sp>
      <p:sp>
        <p:nvSpPr>
          <p:cNvPr id="18" name="Text 16"/>
          <p:cNvSpPr/>
          <p:nvPr/>
        </p:nvSpPr>
        <p:spPr>
          <a:xfrm>
            <a:off x="1810512" y="1828800"/>
            <a:ext cx="548640" cy="237744"/>
          </a:xfrm>
          <a:prstGeom prst="rect">
            <a:avLst/>
          </a:prstGeom>
          <a:noFill/>
          <a:ln/>
        </p:spPr>
        <p:txBody>
          <a:bodyPr wrap="square" rtlCol="0" anchor="ctr"/>
          <a:lstStyle/>
          <a:p>
            <a:pPr marL="0" indent="0" algn="ctr">
              <a:buNone/>
            </a:pPr>
            <a:r>
              <a:rPr lang="en-US" sz="800" b="1" dirty="0">
                <a:solidFill>
                  <a:srgbClr val="245E3E"/>
                </a:solidFill>
                <a:latin typeface="Calibri" pitchFamily="34" charset="0"/>
                <a:ea typeface="Calibri" pitchFamily="34" charset="-122"/>
                <a:cs typeface="Calibri" pitchFamily="34" charset="-120"/>
              </a:rPr>
              <a:t>FS</a:t>
            </a:r>
            <a:endParaRPr lang="en-US" sz="800" dirty="0"/>
          </a:p>
        </p:txBody>
      </p:sp>
      <p:sp>
        <p:nvSpPr>
          <p:cNvPr id="19" name="Text 17"/>
          <p:cNvSpPr/>
          <p:nvPr/>
        </p:nvSpPr>
        <p:spPr>
          <a:xfrm>
            <a:off x="1737360" y="2176272"/>
            <a:ext cx="1188720" cy="32004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Few-Shot</a:t>
            </a:r>
            <a:endParaRPr lang="en-US" sz="1100" dirty="0"/>
          </a:p>
        </p:txBody>
      </p:sp>
      <p:sp>
        <p:nvSpPr>
          <p:cNvPr id="20" name="Text 18"/>
          <p:cNvSpPr/>
          <p:nvPr/>
        </p:nvSpPr>
        <p:spPr>
          <a:xfrm>
            <a:off x="1737360" y="2542032"/>
            <a:ext cx="1188720" cy="7315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2 / 4 / 8 worked</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examples provided</a:t>
            </a:r>
            <a:endParaRPr lang="en-US" sz="1000" dirty="0"/>
          </a:p>
        </p:txBody>
      </p:sp>
      <p:sp>
        <p:nvSpPr>
          <p:cNvPr id="21" name="Shape 19"/>
          <p:cNvSpPr/>
          <p:nvPr/>
        </p:nvSpPr>
        <p:spPr>
          <a:xfrm>
            <a:off x="3090672" y="1664208"/>
            <a:ext cx="1353312" cy="2743200"/>
          </a:xfrm>
          <a:prstGeom prst="roundRect">
            <a:avLst>
              <a:gd name="adj" fmla="val 6757"/>
            </a:avLst>
          </a:prstGeom>
          <a:solidFill>
            <a:srgbClr val="EDEAE3"/>
          </a:solidFill>
          <a:ln w="12700">
            <a:solidFill>
              <a:srgbClr val="6E5200"/>
            </a:solidFill>
            <a:prstDash val="solid"/>
          </a:ln>
        </p:spPr>
        <p:txBody>
          <a:bodyPr/>
          <a:lstStyle/>
          <a:p>
            <a:endParaRPr lang="en-US"/>
          </a:p>
        </p:txBody>
      </p:sp>
      <p:sp>
        <p:nvSpPr>
          <p:cNvPr id="22" name="Shape 20"/>
          <p:cNvSpPr/>
          <p:nvPr/>
        </p:nvSpPr>
        <p:spPr>
          <a:xfrm>
            <a:off x="3090672" y="1664208"/>
            <a:ext cx="1353312" cy="41148"/>
          </a:xfrm>
          <a:prstGeom prst="rect">
            <a:avLst/>
          </a:prstGeom>
          <a:solidFill>
            <a:srgbClr val="6E5200"/>
          </a:solidFill>
          <a:ln w="12700">
            <a:solidFill>
              <a:srgbClr val="6E5200"/>
            </a:solidFill>
            <a:prstDash val="solid"/>
          </a:ln>
        </p:spPr>
        <p:txBody>
          <a:bodyPr/>
          <a:lstStyle/>
          <a:p>
            <a:endParaRPr lang="en-US"/>
          </a:p>
        </p:txBody>
      </p:sp>
      <p:sp>
        <p:nvSpPr>
          <p:cNvPr id="23" name="Shape 21"/>
          <p:cNvSpPr/>
          <p:nvPr/>
        </p:nvSpPr>
        <p:spPr>
          <a:xfrm>
            <a:off x="3255264" y="1828800"/>
            <a:ext cx="548640" cy="237744"/>
          </a:xfrm>
          <a:prstGeom prst="roundRect">
            <a:avLst>
              <a:gd name="adj" fmla="val 50000"/>
            </a:avLst>
          </a:prstGeom>
          <a:solidFill>
            <a:srgbClr val="6E5200">
              <a:alpha val="20000"/>
            </a:srgbClr>
          </a:solidFill>
          <a:ln w="12700">
            <a:solidFill>
              <a:srgbClr val="6E5200"/>
            </a:solidFill>
            <a:prstDash val="solid"/>
          </a:ln>
        </p:spPr>
        <p:txBody>
          <a:bodyPr/>
          <a:lstStyle/>
          <a:p>
            <a:endParaRPr lang="en-US"/>
          </a:p>
        </p:txBody>
      </p:sp>
      <p:sp>
        <p:nvSpPr>
          <p:cNvPr id="24" name="Text 22"/>
          <p:cNvSpPr/>
          <p:nvPr/>
        </p:nvSpPr>
        <p:spPr>
          <a:xfrm>
            <a:off x="3255264" y="1828800"/>
            <a:ext cx="548640" cy="237744"/>
          </a:xfrm>
          <a:prstGeom prst="rect">
            <a:avLst/>
          </a:prstGeom>
          <a:noFill/>
          <a:ln/>
        </p:spPr>
        <p:txBody>
          <a:bodyPr wrap="square" rtlCol="0" anchor="ctr"/>
          <a:lstStyle/>
          <a:p>
            <a:pPr marL="0" indent="0" algn="ctr">
              <a:buNone/>
            </a:pPr>
            <a:r>
              <a:rPr lang="en-US" sz="800" b="1" dirty="0">
                <a:solidFill>
                  <a:srgbClr val="6E5200"/>
                </a:solidFill>
                <a:latin typeface="Calibri" pitchFamily="34" charset="0"/>
                <a:ea typeface="Calibri" pitchFamily="34" charset="-122"/>
                <a:cs typeface="Calibri" pitchFamily="34" charset="-120"/>
              </a:rPr>
              <a:t>CoT</a:t>
            </a:r>
            <a:endParaRPr lang="en-US" sz="800" dirty="0"/>
          </a:p>
        </p:txBody>
      </p:sp>
      <p:sp>
        <p:nvSpPr>
          <p:cNvPr id="25" name="Text 23"/>
          <p:cNvSpPr/>
          <p:nvPr/>
        </p:nvSpPr>
        <p:spPr>
          <a:xfrm>
            <a:off x="3182112" y="2176272"/>
            <a:ext cx="1188720" cy="32004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Chain-of-Thought</a:t>
            </a:r>
            <a:endParaRPr lang="en-US" sz="1100" dirty="0"/>
          </a:p>
        </p:txBody>
      </p:sp>
      <p:sp>
        <p:nvSpPr>
          <p:cNvPr id="26" name="Text 24"/>
          <p:cNvSpPr/>
          <p:nvPr/>
        </p:nvSpPr>
        <p:spPr>
          <a:xfrm>
            <a:off x="3182112" y="2542032"/>
            <a:ext cx="1188720" cy="7315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Step-by-step</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reasoning chain</a:t>
            </a:r>
            <a:endParaRPr lang="en-US" sz="1000" dirty="0"/>
          </a:p>
        </p:txBody>
      </p:sp>
      <p:sp>
        <p:nvSpPr>
          <p:cNvPr id="27" name="Shape 25"/>
          <p:cNvSpPr/>
          <p:nvPr/>
        </p:nvSpPr>
        <p:spPr>
          <a:xfrm>
            <a:off x="4535424" y="1664208"/>
            <a:ext cx="1353312" cy="2743200"/>
          </a:xfrm>
          <a:prstGeom prst="roundRect">
            <a:avLst>
              <a:gd name="adj" fmla="val 6757"/>
            </a:avLst>
          </a:prstGeom>
          <a:solidFill>
            <a:srgbClr val="EDEAE3"/>
          </a:solidFill>
          <a:ln w="12700">
            <a:solidFill>
              <a:srgbClr val="7A3020"/>
            </a:solidFill>
            <a:prstDash val="solid"/>
          </a:ln>
        </p:spPr>
        <p:txBody>
          <a:bodyPr/>
          <a:lstStyle/>
          <a:p>
            <a:endParaRPr lang="en-US"/>
          </a:p>
        </p:txBody>
      </p:sp>
      <p:sp>
        <p:nvSpPr>
          <p:cNvPr id="28" name="Shape 26"/>
          <p:cNvSpPr/>
          <p:nvPr/>
        </p:nvSpPr>
        <p:spPr>
          <a:xfrm>
            <a:off x="4535424" y="1664208"/>
            <a:ext cx="1353312" cy="41148"/>
          </a:xfrm>
          <a:prstGeom prst="rect">
            <a:avLst/>
          </a:prstGeom>
          <a:solidFill>
            <a:srgbClr val="7A3020"/>
          </a:solidFill>
          <a:ln w="12700">
            <a:solidFill>
              <a:srgbClr val="7A3020"/>
            </a:solidFill>
            <a:prstDash val="solid"/>
          </a:ln>
        </p:spPr>
        <p:txBody>
          <a:bodyPr/>
          <a:lstStyle/>
          <a:p>
            <a:endParaRPr lang="en-US"/>
          </a:p>
        </p:txBody>
      </p:sp>
      <p:sp>
        <p:nvSpPr>
          <p:cNvPr id="29" name="Shape 27"/>
          <p:cNvSpPr/>
          <p:nvPr/>
        </p:nvSpPr>
        <p:spPr>
          <a:xfrm>
            <a:off x="4700016" y="1828800"/>
            <a:ext cx="738835" cy="237744"/>
          </a:xfrm>
          <a:prstGeom prst="roundRect">
            <a:avLst>
              <a:gd name="adj" fmla="val 50000"/>
            </a:avLst>
          </a:prstGeom>
          <a:solidFill>
            <a:srgbClr val="7A3020">
              <a:alpha val="20000"/>
            </a:srgbClr>
          </a:solidFill>
          <a:ln w="12700">
            <a:solidFill>
              <a:srgbClr val="7A3020"/>
            </a:solidFill>
            <a:prstDash val="solid"/>
          </a:ln>
        </p:spPr>
        <p:txBody>
          <a:bodyPr/>
          <a:lstStyle/>
          <a:p>
            <a:endParaRPr lang="en-US"/>
          </a:p>
        </p:txBody>
      </p:sp>
      <p:sp>
        <p:nvSpPr>
          <p:cNvPr id="30" name="Text 28"/>
          <p:cNvSpPr/>
          <p:nvPr/>
        </p:nvSpPr>
        <p:spPr>
          <a:xfrm>
            <a:off x="4700016" y="1828800"/>
            <a:ext cx="738835" cy="237744"/>
          </a:xfrm>
          <a:prstGeom prst="rect">
            <a:avLst/>
          </a:prstGeom>
          <a:noFill/>
          <a:ln/>
        </p:spPr>
        <p:txBody>
          <a:bodyPr wrap="square" rtlCol="0" anchor="ctr"/>
          <a:lstStyle/>
          <a:p>
            <a:pPr marL="0" indent="0" algn="ctr">
              <a:buNone/>
            </a:pPr>
            <a:r>
              <a:rPr lang="en-US" sz="800" b="1" dirty="0">
                <a:solidFill>
                  <a:srgbClr val="7A3020"/>
                </a:solidFill>
                <a:latin typeface="Calibri" pitchFamily="34" charset="0"/>
                <a:ea typeface="Calibri" pitchFamily="34" charset="-122"/>
                <a:cs typeface="Calibri" pitchFamily="34" charset="-120"/>
              </a:rPr>
              <a:t>ZS-CoT</a:t>
            </a:r>
            <a:endParaRPr lang="en-US" sz="800" dirty="0"/>
          </a:p>
        </p:txBody>
      </p:sp>
      <p:sp>
        <p:nvSpPr>
          <p:cNvPr id="31" name="Text 29"/>
          <p:cNvSpPr/>
          <p:nvPr/>
        </p:nvSpPr>
        <p:spPr>
          <a:xfrm>
            <a:off x="4626864" y="2176272"/>
            <a:ext cx="1188720" cy="32004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Zero-Shot CoT</a:t>
            </a:r>
            <a:endParaRPr lang="en-US" sz="1100" dirty="0"/>
          </a:p>
        </p:txBody>
      </p:sp>
      <p:sp>
        <p:nvSpPr>
          <p:cNvPr id="32" name="Text 30"/>
          <p:cNvSpPr/>
          <p:nvPr/>
        </p:nvSpPr>
        <p:spPr>
          <a:xfrm>
            <a:off x="4626864" y="2542032"/>
            <a:ext cx="1188720" cy="7315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"Let's think step</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by step" -Kojima 2022</a:t>
            </a:r>
            <a:endParaRPr lang="en-US" sz="1000" dirty="0"/>
          </a:p>
        </p:txBody>
      </p:sp>
      <p:sp>
        <p:nvSpPr>
          <p:cNvPr id="33" name="Shape 31"/>
          <p:cNvSpPr/>
          <p:nvPr/>
        </p:nvSpPr>
        <p:spPr>
          <a:xfrm>
            <a:off x="6016752" y="411480"/>
            <a:ext cx="2880360" cy="4297680"/>
          </a:xfrm>
          <a:prstGeom prst="roundRect">
            <a:avLst>
              <a:gd name="adj" fmla="val 3810"/>
            </a:avLst>
          </a:prstGeom>
          <a:solidFill>
            <a:srgbClr val="EDEAE3"/>
          </a:solidFill>
          <a:ln w="12700">
            <a:solidFill>
              <a:srgbClr val="CFCABC"/>
            </a:solidFill>
            <a:prstDash val="solid"/>
          </a:ln>
        </p:spPr>
        <p:txBody>
          <a:bodyPr/>
          <a:lstStyle/>
          <a:p>
            <a:endParaRPr lang="en-US"/>
          </a:p>
        </p:txBody>
      </p:sp>
      <p:sp>
        <p:nvSpPr>
          <p:cNvPr id="34" name="Shape 32"/>
          <p:cNvSpPr/>
          <p:nvPr/>
        </p:nvSpPr>
        <p:spPr>
          <a:xfrm>
            <a:off x="6016752" y="411480"/>
            <a:ext cx="2880360" cy="41148"/>
          </a:xfrm>
          <a:prstGeom prst="rect">
            <a:avLst/>
          </a:prstGeom>
          <a:solidFill>
            <a:srgbClr val="2A4875"/>
          </a:solidFill>
          <a:ln w="12700">
            <a:solidFill>
              <a:srgbClr val="2A4875"/>
            </a:solidFill>
            <a:prstDash val="solid"/>
          </a:ln>
        </p:spPr>
        <p:txBody>
          <a:bodyPr/>
          <a:lstStyle/>
          <a:p>
            <a:endParaRPr lang="en-US"/>
          </a:p>
        </p:txBody>
      </p:sp>
      <p:sp>
        <p:nvSpPr>
          <p:cNvPr id="35" name="Text 33"/>
          <p:cNvSpPr/>
          <p:nvPr/>
        </p:nvSpPr>
        <p:spPr>
          <a:xfrm>
            <a:off x="6172200" y="530352"/>
            <a:ext cx="2606040" cy="201168"/>
          </a:xfrm>
          <a:prstGeom prst="rect">
            <a:avLst/>
          </a:prstGeom>
          <a:noFill/>
          <a:ln/>
        </p:spPr>
        <p:txBody>
          <a:bodyPr wrap="square" rtlCol="0" anchor="ctr"/>
          <a:lstStyle/>
          <a:p>
            <a:pPr marL="0" indent="0">
              <a:buNone/>
            </a:pPr>
            <a:r>
              <a:rPr lang="en-US" sz="900" b="1" kern="0" spc="200" dirty="0">
                <a:solidFill>
                  <a:srgbClr val="2A4875"/>
                </a:solidFill>
                <a:latin typeface="Calibri" pitchFamily="34" charset="0"/>
                <a:ea typeface="Calibri" pitchFamily="34" charset="-122"/>
                <a:cs typeface="Calibri" pitchFamily="34" charset="-120"/>
              </a:rPr>
              <a:t>THE RESEARCH GAP</a:t>
            </a:r>
            <a:endParaRPr lang="en-US" sz="900" dirty="0"/>
          </a:p>
        </p:txBody>
      </p:sp>
      <p:sp>
        <p:nvSpPr>
          <p:cNvPr id="36" name="Shape 34"/>
          <p:cNvSpPr/>
          <p:nvPr/>
        </p:nvSpPr>
        <p:spPr>
          <a:xfrm>
            <a:off x="6199632" y="923544"/>
            <a:ext cx="146304" cy="146304"/>
          </a:xfrm>
          <a:prstGeom prst="ellipse">
            <a:avLst/>
          </a:prstGeom>
          <a:solidFill>
            <a:srgbClr val="2A4875"/>
          </a:solidFill>
          <a:ln w="12700">
            <a:solidFill>
              <a:srgbClr val="2A4875"/>
            </a:solidFill>
            <a:prstDash val="solid"/>
          </a:ln>
        </p:spPr>
        <p:txBody>
          <a:bodyPr/>
          <a:lstStyle/>
          <a:p>
            <a:endParaRPr lang="en-US"/>
          </a:p>
        </p:txBody>
      </p:sp>
      <p:sp>
        <p:nvSpPr>
          <p:cNvPr id="37" name="Text 35"/>
          <p:cNvSpPr/>
          <p:nvPr/>
        </p:nvSpPr>
        <p:spPr>
          <a:xfrm>
            <a:off x="6455664" y="868680"/>
            <a:ext cx="2331720" cy="22860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No cross-task comparison</a:t>
            </a:r>
            <a:endParaRPr lang="en-US" sz="1100" dirty="0"/>
          </a:p>
        </p:txBody>
      </p:sp>
      <p:sp>
        <p:nvSpPr>
          <p:cNvPr id="38" name="Text 36"/>
          <p:cNvSpPr/>
          <p:nvPr/>
        </p:nvSpPr>
        <p:spPr>
          <a:xfrm>
            <a:off x="6455664" y="1124712"/>
            <a:ext cx="2331720" cy="41148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Techniques tested in one domain, never all three.</a:t>
            </a:r>
            <a:endParaRPr lang="en-US" sz="1000" dirty="0"/>
          </a:p>
        </p:txBody>
      </p:sp>
      <p:sp>
        <p:nvSpPr>
          <p:cNvPr id="39" name="Shape 37"/>
          <p:cNvSpPr/>
          <p:nvPr/>
        </p:nvSpPr>
        <p:spPr>
          <a:xfrm>
            <a:off x="6199632" y="1618488"/>
            <a:ext cx="2578608" cy="13716"/>
          </a:xfrm>
          <a:prstGeom prst="rect">
            <a:avLst/>
          </a:prstGeom>
          <a:solidFill>
            <a:srgbClr val="CFCABC"/>
          </a:solidFill>
          <a:ln w="12700">
            <a:solidFill>
              <a:srgbClr val="CFCABC"/>
            </a:solidFill>
            <a:prstDash val="solid"/>
          </a:ln>
        </p:spPr>
        <p:txBody>
          <a:bodyPr/>
          <a:lstStyle/>
          <a:p>
            <a:endParaRPr lang="en-US"/>
          </a:p>
        </p:txBody>
      </p:sp>
      <p:sp>
        <p:nvSpPr>
          <p:cNvPr id="40" name="Shape 38"/>
          <p:cNvSpPr/>
          <p:nvPr/>
        </p:nvSpPr>
        <p:spPr>
          <a:xfrm>
            <a:off x="6199632" y="1837944"/>
            <a:ext cx="146304" cy="146304"/>
          </a:xfrm>
          <a:prstGeom prst="ellipse">
            <a:avLst/>
          </a:prstGeom>
          <a:solidFill>
            <a:srgbClr val="2A4875"/>
          </a:solidFill>
          <a:ln w="12700">
            <a:solidFill>
              <a:srgbClr val="2A4875"/>
            </a:solidFill>
            <a:prstDash val="solid"/>
          </a:ln>
        </p:spPr>
        <p:txBody>
          <a:bodyPr/>
          <a:lstStyle/>
          <a:p>
            <a:endParaRPr lang="en-US"/>
          </a:p>
        </p:txBody>
      </p:sp>
      <p:sp>
        <p:nvSpPr>
          <p:cNvPr id="41" name="Text 39"/>
          <p:cNvSpPr/>
          <p:nvPr/>
        </p:nvSpPr>
        <p:spPr>
          <a:xfrm>
            <a:off x="6455664" y="1783080"/>
            <a:ext cx="2331720" cy="22860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No statistical rigour</a:t>
            </a:r>
            <a:endParaRPr lang="en-US" sz="1100" dirty="0"/>
          </a:p>
        </p:txBody>
      </p:sp>
      <p:sp>
        <p:nvSpPr>
          <p:cNvPr id="42" name="Text 40"/>
          <p:cNvSpPr/>
          <p:nvPr/>
        </p:nvSpPr>
        <p:spPr>
          <a:xfrm>
            <a:off x="6455664" y="2039112"/>
            <a:ext cx="2331720" cy="41148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Best score picked without significance testing.</a:t>
            </a:r>
            <a:endParaRPr lang="en-US" sz="1000" dirty="0"/>
          </a:p>
        </p:txBody>
      </p:sp>
      <p:sp>
        <p:nvSpPr>
          <p:cNvPr id="43" name="Shape 41"/>
          <p:cNvSpPr/>
          <p:nvPr/>
        </p:nvSpPr>
        <p:spPr>
          <a:xfrm>
            <a:off x="6199632" y="2532888"/>
            <a:ext cx="2578608" cy="13716"/>
          </a:xfrm>
          <a:prstGeom prst="rect">
            <a:avLst/>
          </a:prstGeom>
          <a:solidFill>
            <a:srgbClr val="CFCABC"/>
          </a:solidFill>
          <a:ln w="12700">
            <a:solidFill>
              <a:srgbClr val="CFCABC"/>
            </a:solidFill>
            <a:prstDash val="solid"/>
          </a:ln>
        </p:spPr>
        <p:txBody>
          <a:bodyPr/>
          <a:lstStyle/>
          <a:p>
            <a:endParaRPr lang="en-US"/>
          </a:p>
        </p:txBody>
      </p:sp>
      <p:sp>
        <p:nvSpPr>
          <p:cNvPr id="44" name="Shape 42"/>
          <p:cNvSpPr/>
          <p:nvPr/>
        </p:nvSpPr>
        <p:spPr>
          <a:xfrm>
            <a:off x="6199632" y="2752344"/>
            <a:ext cx="146304" cy="146304"/>
          </a:xfrm>
          <a:prstGeom prst="ellipse">
            <a:avLst/>
          </a:prstGeom>
          <a:solidFill>
            <a:srgbClr val="2A4875"/>
          </a:solidFill>
          <a:ln w="12700">
            <a:solidFill>
              <a:srgbClr val="2A4875"/>
            </a:solidFill>
            <a:prstDash val="solid"/>
          </a:ln>
        </p:spPr>
        <p:txBody>
          <a:bodyPr/>
          <a:lstStyle/>
          <a:p>
            <a:endParaRPr lang="en-US"/>
          </a:p>
        </p:txBody>
      </p:sp>
      <p:sp>
        <p:nvSpPr>
          <p:cNvPr id="45" name="Text 43"/>
          <p:cNvSpPr/>
          <p:nvPr/>
        </p:nvSpPr>
        <p:spPr>
          <a:xfrm>
            <a:off x="6455664" y="2697480"/>
            <a:ext cx="2331720" cy="22860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Cost ignored</a:t>
            </a:r>
            <a:endParaRPr lang="en-US" sz="1100" dirty="0"/>
          </a:p>
        </p:txBody>
      </p:sp>
      <p:sp>
        <p:nvSpPr>
          <p:cNvPr id="46" name="Text 44"/>
          <p:cNvSpPr/>
          <p:nvPr/>
        </p:nvSpPr>
        <p:spPr>
          <a:xfrm>
            <a:off x="6455664" y="2953512"/>
            <a:ext cx="2331720" cy="41148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Token spend not measured or reported.</a:t>
            </a:r>
            <a:endParaRPr lang="en-US" sz="1000" dirty="0"/>
          </a:p>
        </p:txBody>
      </p:sp>
      <p:sp>
        <p:nvSpPr>
          <p:cNvPr id="47" name="Shape 45"/>
          <p:cNvSpPr/>
          <p:nvPr/>
        </p:nvSpPr>
        <p:spPr>
          <a:xfrm>
            <a:off x="6199632" y="3447288"/>
            <a:ext cx="2578608" cy="13716"/>
          </a:xfrm>
          <a:prstGeom prst="rect">
            <a:avLst/>
          </a:prstGeom>
          <a:solidFill>
            <a:srgbClr val="CFCABC"/>
          </a:solidFill>
          <a:ln w="12700">
            <a:solidFill>
              <a:srgbClr val="CFCABC"/>
            </a:solidFill>
            <a:prstDash val="solid"/>
          </a:ln>
        </p:spPr>
        <p:txBody>
          <a:bodyPr/>
          <a:lstStyle/>
          <a:p>
            <a:endParaRPr lang="en-US"/>
          </a:p>
        </p:txBody>
      </p:sp>
      <p:sp>
        <p:nvSpPr>
          <p:cNvPr id="48" name="Shape 46"/>
          <p:cNvSpPr/>
          <p:nvPr/>
        </p:nvSpPr>
        <p:spPr>
          <a:xfrm>
            <a:off x="6199632" y="3666744"/>
            <a:ext cx="146304" cy="146304"/>
          </a:xfrm>
          <a:prstGeom prst="ellipse">
            <a:avLst/>
          </a:prstGeom>
          <a:solidFill>
            <a:srgbClr val="2A4875"/>
          </a:solidFill>
          <a:ln w="12700">
            <a:solidFill>
              <a:srgbClr val="2A4875"/>
            </a:solidFill>
            <a:prstDash val="solid"/>
          </a:ln>
        </p:spPr>
        <p:txBody>
          <a:bodyPr/>
          <a:lstStyle/>
          <a:p>
            <a:endParaRPr lang="en-US"/>
          </a:p>
        </p:txBody>
      </p:sp>
      <p:sp>
        <p:nvSpPr>
          <p:cNvPr id="49" name="Text 47"/>
          <p:cNvSpPr/>
          <p:nvPr/>
        </p:nvSpPr>
        <p:spPr>
          <a:xfrm>
            <a:off x="6455664" y="3611880"/>
            <a:ext cx="2331720" cy="228600"/>
          </a:xfrm>
          <a:prstGeom prst="rect">
            <a:avLst/>
          </a:prstGeom>
          <a:noFill/>
          <a:ln/>
        </p:spPr>
        <p:txBody>
          <a:bodyPr wrap="square" rtlCol="0" anchor="ctr"/>
          <a:lstStyle/>
          <a:p>
            <a:pPr marL="0" indent="0">
              <a:buNone/>
            </a:pPr>
            <a:r>
              <a:rPr lang="en-US" sz="1100" b="1" dirty="0">
                <a:solidFill>
                  <a:srgbClr val="1A1814"/>
                </a:solidFill>
                <a:latin typeface="Calibri" pitchFamily="34" charset="0"/>
                <a:ea typeface="Calibri" pitchFamily="34" charset="-122"/>
                <a:cs typeface="Calibri" pitchFamily="34" charset="-120"/>
              </a:rPr>
              <a:t>No adaptive routing</a:t>
            </a:r>
            <a:endParaRPr lang="en-US" sz="1100" dirty="0"/>
          </a:p>
        </p:txBody>
      </p:sp>
      <p:sp>
        <p:nvSpPr>
          <p:cNvPr id="50" name="Text 48"/>
          <p:cNvSpPr/>
          <p:nvPr/>
        </p:nvSpPr>
        <p:spPr>
          <a:xfrm>
            <a:off x="6455664" y="3867912"/>
            <a:ext cx="2331720" cy="41148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One technique applied to all inputs uniformly.</a:t>
            </a:r>
            <a:endParaRPr lang="en-US" sz="1000" dirty="0"/>
          </a:p>
        </p:txBody>
      </p:sp>
      <p:sp>
        <p:nvSpPr>
          <p:cNvPr id="51" name="Text 49"/>
          <p:cNvSpPr/>
          <p:nvPr/>
        </p:nvSpPr>
        <p:spPr>
          <a:xfrm>
            <a:off x="6199632" y="4462272"/>
            <a:ext cx="2560320" cy="201168"/>
          </a:xfrm>
          <a:prstGeom prst="rect">
            <a:avLst/>
          </a:prstGeom>
          <a:noFill/>
          <a:ln/>
        </p:spPr>
        <p:txBody>
          <a:bodyPr wrap="square" rtlCol="0" anchor="ctr"/>
          <a:lstStyle/>
          <a:p>
            <a:pPr marL="0" indent="0">
              <a:buNone/>
            </a:pPr>
            <a:r>
              <a:rPr lang="en-US" sz="900" i="1" dirty="0">
                <a:solidFill>
                  <a:srgbClr val="4A6A9A"/>
                </a:solidFill>
                <a:latin typeface="Calibri" pitchFamily="34" charset="0"/>
                <a:ea typeface="Calibri" pitchFamily="34" charset="-122"/>
                <a:cs typeface="Calibri" pitchFamily="34" charset="-120"/>
              </a:rPr>
              <a:t>PEEF addresses all four →</a:t>
            </a:r>
            <a:endParaRPr lang="en-US" sz="9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22" presetID="10" presetClass="entr" presetSubtype="0" fill="hold" grpId="0" nodeType="clickEffect">
                            <p:stCondLst>
                              <p:cond delay="0"/>
                            </p:stCondLst>
                            <p:childTnLst>
                              <p:animEffect transition="in" filter="fade">
                                <p:cBhvr>
                                  <p:cTn id="50001" dur="350"/>
                                  <p:tgtEl>
                                    <p:spTgt spid="6"/>
                                  </p:tgtEl>
                                </p:cBhvr>
                              </p:animEffect>
                              <p:animEffect transition="in" filter="fade">
                                <p:cBhvr>
                                  <p:cTn id="50002" dur="350"/>
                                  <p:tgtEl>
                                    <p:spTgt spid="7"/>
                                  </p:tgtEl>
                                </p:cBhvr>
                              </p:animEffect>
                              <p:animEffect transition="in" filter="fade">
                                <p:cBhvr>
                                  <p:cTn id="50003" dur="350"/>
                                  <p:tgtEl>
                                    <p:spTgt spid="8"/>
                                  </p:tgtEl>
                                </p:cBhvr>
                              </p:animEffect>
                              <p:animEffect transition="in" filter="fade">
                                <p:cBhvr>
                                  <p:cTn id="50004" dur="350"/>
                                  <p:tgtEl>
                                    <p:spTgt spid="34"/>
                                  </p:tgtEl>
                                </p:cBhvr>
                              </p:animEffect>
                              <p:animEffect transition="in" filter="fade">
                                <p:cBhvr>
                                  <p:cTn id="50005" dur="350"/>
                                  <p:tgtEl>
                                    <p:spTgt spid="35"/>
                                  </p:tgtEl>
                                </p:cBhvr>
                              </p:animEffect>
                              <p:animEffect transition="in" filter="fade">
                                <p:cBhvr>
                                  <p:cTn id="50006" dur="350"/>
                                  <p:tgtEl>
                                    <p:spTgt spid="36"/>
                                  </p:tgtEl>
                                </p:cBhvr>
                              </p:animEffect>
                              <p:animEffect transition="in" filter="fade">
                                <p:cBhvr>
                                  <p:cTn id="50007" dur="350"/>
                                  <p:tgtEl>
                                    <p:spTgt spid="39"/>
                                  </p:tgtEl>
                                </p:cBhvr>
                              </p:animEffect>
                              <p:animEffect transition="in" filter="fade">
                                <p:cBhvr>
                                  <p:cTn id="50008" dur="350"/>
                                  <p:tgtEl>
                                    <p:spTgt spid="40"/>
                                  </p:tgtEl>
                                </p:cBhvr>
                              </p:animEffect>
                              <p:animEffect transition="in" filter="fade">
                                <p:cBhvr>
                                  <p:cTn id="50009" dur="350"/>
                                  <p:tgtEl>
                                    <p:spTgt spid="43"/>
                                  </p:tgtEl>
                                </p:cBhvr>
                              </p:animEffect>
                              <p:animEffect transition="in" filter="fade">
                                <p:cBhvr>
                                  <p:cTn id="50010" dur="350"/>
                                  <p:tgtEl>
                                    <p:spTgt spid="44"/>
                                  </p:tgtEl>
                                </p:cBhvr>
                              </p:animEffect>
                              <p:animEffect transition="in" filter="fade">
                                <p:cBhvr>
                                  <p:cTn id="50011" dur="350"/>
                                  <p:tgtEl>
                                    <p:spTgt spid="47"/>
                                  </p:tgtEl>
                                </p:cBhvr>
                              </p:animEffect>
                              <p:animEffect transition="in" filter="fade">
                                <p:cBhvr>
                                  <p:cTn id="50012" dur="350"/>
                                  <p:tgtEl>
                                    <p:spTgt spid="48"/>
                                  </p:tgtEl>
                                </p:cBhvr>
                              </p:animEffect>
                              <p:animEffect transition="in" filter="fade">
                                <p:cBhvr>
                                  <p:cTn id="50013" dur="350"/>
                                  <p:tgtEl>
                                    <p:spTgt spid="51"/>
                                  </p:tgtEl>
                                </p:cBhvr>
                              </p:animEffect>
                              <p:animEffect transition="in" filter="fade">
                                <p:cBhvr>
                                  <p:cTn id="50014" dur="350"/>
                                  <p:tgtEl>
                                    <p:spTgt spid="37"/>
                                  </p:tgtEl>
                                </p:cBhvr>
                              </p:animEffect>
                              <p:animEffect transition="in" filter="fade">
                                <p:cBhvr>
                                  <p:cTn id="50015" dur="350"/>
                                  <p:tgtEl>
                                    <p:spTgt spid="38"/>
                                  </p:tgtEl>
                                </p:cBhvr>
                              </p:animEffect>
                              <p:animEffect transition="in" filter="fade">
                                <p:cBhvr>
                                  <p:cTn id="50016" dur="350"/>
                                  <p:tgtEl>
                                    <p:spTgt spid="41"/>
                                  </p:tgtEl>
                                </p:cBhvr>
                              </p:animEffect>
                              <p:animEffect transition="in" filter="fade">
                                <p:cBhvr>
                                  <p:cTn id="50017" dur="350"/>
                                  <p:tgtEl>
                                    <p:spTgt spid="42"/>
                                  </p:tgtEl>
                                </p:cBhvr>
                              </p:animEffect>
                              <p:animEffect transition="in" filter="fade">
                                <p:cBhvr>
                                  <p:cTn id="50018" dur="350"/>
                                  <p:tgtEl>
                                    <p:spTgt spid="45"/>
                                  </p:tgtEl>
                                </p:cBhvr>
                              </p:animEffect>
                              <p:animEffect transition="in" filter="fade">
                                <p:cBhvr>
                                  <p:cTn id="50019" dur="350"/>
                                  <p:tgtEl>
                                    <p:spTgt spid="46"/>
                                  </p:tgtEl>
                                </p:cBhvr>
                              </p:animEffect>
                              <p:animEffect transition="in" filter="fade">
                                <p:cBhvr>
                                  <p:cTn id="50020" dur="350"/>
                                  <p:tgtEl>
                                    <p:spTgt spid="49"/>
                                  </p:tgtEl>
                                </p:cBhvr>
                              </p:animEffect>
                              <p:animEffect transition="in" filter="fade">
                                <p:cBhvr>
                                  <p:cTn id="50021" dur="350"/>
                                  <p:tgtEl>
                                    <p:spTgt spid="50"/>
                                  </p:tgtEl>
                                </p:cBhvr>
                              </p:animEffect>
                            </p:childTnLst>
                          </p:cTn>
                        </p:par>
                      </p:childTnLst>
                    </p:cTn>
                  </p:par>
                  <p:par>
                    <p:cTn id="50100" fill="hold">
                      <p:stCondLst>
                        <p:cond delay="450"/>
                      </p:stCondLst>
                      <p:childTnLst>
                        <p:par>
                          <p:cTn id="50102" presetID="10" presetClass="entr" presetSubtype="0" fill="hold" grpId="1" nodeType="withEffect">
                            <p:stCondLst>
                              <p:cond delay="0"/>
                            </p:stCondLst>
                            <p:childTnLst>
                              <p:animEffect transition="in" filter="fade">
                                <p:cBhvr>
                                  <p:cTn id="50101" dur="350"/>
                                  <p:tgtEl>
                                    <p:spTgt spid="33"/>
                                  </p:tgtEl>
                                </p:cBhvr>
                              </p:animEffect>
                            </p:childTnLst>
                          </p:cTn>
                        </p:par>
                      </p:childTnLst>
                    </p:cTn>
                  </p:par>
                  <p:par>
                    <p:cTn id="50200" fill="hold">
                      <p:stCondLst>
                        <p:cond delay="550"/>
                      </p:stCondLst>
                      <p:childTnLst>
                        <p:par>
                          <p:cTn id="50207" presetID="10" presetClass="entr" presetSubtype="0" fill="hold" grpId="2" nodeType="withEffect">
                            <p:stCondLst>
                              <p:cond delay="0"/>
                            </p:stCondLst>
                            <p:childTnLst>
                              <p:animEffect transition="in" filter="fade">
                                <p:cBhvr>
                                  <p:cTn id="50201" dur="350"/>
                                  <p:tgtEl>
                                    <p:spTgt spid="9"/>
                                  </p:tgtEl>
                                </p:cBhvr>
                              </p:animEffect>
                              <p:animEffect transition="in" filter="fade">
                                <p:cBhvr>
                                  <p:cTn id="50202" dur="350"/>
                                  <p:tgtEl>
                                    <p:spTgt spid="10"/>
                                  </p:tgtEl>
                                </p:cBhvr>
                              </p:animEffect>
                              <p:animEffect transition="in" filter="fade">
                                <p:cBhvr>
                                  <p:cTn id="50203" dur="350"/>
                                  <p:tgtEl>
                                    <p:spTgt spid="11"/>
                                  </p:tgtEl>
                                </p:cBhvr>
                              </p:animEffect>
                              <p:animEffect transition="in" filter="fade">
                                <p:cBhvr>
                                  <p:cTn id="50204" dur="350"/>
                                  <p:tgtEl>
                                    <p:spTgt spid="12"/>
                                  </p:tgtEl>
                                </p:cBhvr>
                              </p:animEffect>
                              <p:animEffect transition="in" filter="fade">
                                <p:cBhvr>
                                  <p:cTn id="50205" dur="350"/>
                                  <p:tgtEl>
                                    <p:spTgt spid="13"/>
                                  </p:tgtEl>
                                </p:cBhvr>
                              </p:animEffect>
                              <p:animEffect transition="in" filter="fade">
                                <p:cBhvr>
                                  <p:cTn id="50206" dur="350"/>
                                  <p:tgtEl>
                                    <p:spTgt spid="14"/>
                                  </p:tgtEl>
                                </p:cBhvr>
                              </p:animEffect>
                            </p:childTnLst>
                          </p:cTn>
                        </p:par>
                      </p:childTnLst>
                    </p:cTn>
                  </p:par>
                  <p:par>
                    <p:cTn id="50300" fill="hold">
                      <p:stCondLst>
                        <p:cond delay="650"/>
                      </p:stCondLst>
                      <p:childTnLst>
                        <p:par>
                          <p:cTn id="50307" presetID="10" presetClass="entr" presetSubtype="0" fill="hold" grpId="3" nodeType="withEffect">
                            <p:stCondLst>
                              <p:cond delay="0"/>
                            </p:stCondLst>
                            <p:childTnLst>
                              <p:animEffect transition="in" filter="fade">
                                <p:cBhvr>
                                  <p:cTn id="50301" dur="350"/>
                                  <p:tgtEl>
                                    <p:spTgt spid="15"/>
                                  </p:tgtEl>
                                </p:cBhvr>
                              </p:animEffect>
                              <p:animEffect transition="in" filter="fade">
                                <p:cBhvr>
                                  <p:cTn id="50302" dur="350"/>
                                  <p:tgtEl>
                                    <p:spTgt spid="16"/>
                                  </p:tgtEl>
                                </p:cBhvr>
                              </p:animEffect>
                              <p:animEffect transition="in" filter="fade">
                                <p:cBhvr>
                                  <p:cTn id="50303" dur="350"/>
                                  <p:tgtEl>
                                    <p:spTgt spid="17"/>
                                  </p:tgtEl>
                                </p:cBhvr>
                              </p:animEffect>
                              <p:animEffect transition="in" filter="fade">
                                <p:cBhvr>
                                  <p:cTn id="50304" dur="350"/>
                                  <p:tgtEl>
                                    <p:spTgt spid="18"/>
                                  </p:tgtEl>
                                </p:cBhvr>
                              </p:animEffect>
                              <p:animEffect transition="in" filter="fade">
                                <p:cBhvr>
                                  <p:cTn id="50305" dur="350"/>
                                  <p:tgtEl>
                                    <p:spTgt spid="19"/>
                                  </p:tgtEl>
                                </p:cBhvr>
                              </p:animEffect>
                              <p:animEffect transition="in" filter="fade">
                                <p:cBhvr>
                                  <p:cTn id="50306" dur="350"/>
                                  <p:tgtEl>
                                    <p:spTgt spid="20"/>
                                  </p:tgtEl>
                                </p:cBhvr>
                              </p:animEffect>
                            </p:childTnLst>
                          </p:cTn>
                        </p:par>
                      </p:childTnLst>
                    </p:cTn>
                  </p:par>
                  <p:par>
                    <p:cTn id="50400" fill="hold">
                      <p:stCondLst>
                        <p:cond delay="750"/>
                      </p:stCondLst>
                      <p:childTnLst>
                        <p:par>
                          <p:cTn id="50407" presetID="10" presetClass="entr" presetSubtype="0" fill="hold" grpId="4" nodeType="withEffect">
                            <p:stCondLst>
                              <p:cond delay="0"/>
                            </p:stCondLst>
                            <p:childTnLst>
                              <p:animEffect transition="in" filter="fade">
                                <p:cBhvr>
                                  <p:cTn id="50401" dur="350"/>
                                  <p:tgtEl>
                                    <p:spTgt spid="21"/>
                                  </p:tgtEl>
                                </p:cBhvr>
                              </p:animEffect>
                              <p:animEffect transition="in" filter="fade">
                                <p:cBhvr>
                                  <p:cTn id="50402" dur="350"/>
                                  <p:tgtEl>
                                    <p:spTgt spid="22"/>
                                  </p:tgtEl>
                                </p:cBhvr>
                              </p:animEffect>
                              <p:animEffect transition="in" filter="fade">
                                <p:cBhvr>
                                  <p:cTn id="50403" dur="350"/>
                                  <p:tgtEl>
                                    <p:spTgt spid="23"/>
                                  </p:tgtEl>
                                </p:cBhvr>
                              </p:animEffect>
                              <p:animEffect transition="in" filter="fade">
                                <p:cBhvr>
                                  <p:cTn id="50404" dur="350"/>
                                  <p:tgtEl>
                                    <p:spTgt spid="24"/>
                                  </p:tgtEl>
                                </p:cBhvr>
                              </p:animEffect>
                              <p:animEffect transition="in" filter="fade">
                                <p:cBhvr>
                                  <p:cTn id="50405" dur="350"/>
                                  <p:tgtEl>
                                    <p:spTgt spid="25"/>
                                  </p:tgtEl>
                                </p:cBhvr>
                              </p:animEffect>
                              <p:animEffect transition="in" filter="fade">
                                <p:cBhvr>
                                  <p:cTn id="50406" dur="350"/>
                                  <p:tgtEl>
                                    <p:spTgt spid="26"/>
                                  </p:tgtEl>
                                </p:cBhvr>
                              </p:animEffect>
                            </p:childTnLst>
                          </p:cTn>
                        </p:par>
                      </p:childTnLst>
                    </p:cTn>
                  </p:par>
                  <p:par>
                    <p:cTn id="50500" fill="hold">
                      <p:stCondLst>
                        <p:cond delay="850"/>
                      </p:stCondLst>
                      <p:childTnLst>
                        <p:par>
                          <p:cTn id="50507" presetID="10" presetClass="entr" presetSubtype="0" fill="hold" grpId="5" nodeType="withEffect">
                            <p:stCondLst>
                              <p:cond delay="0"/>
                            </p:stCondLst>
                            <p:childTnLst>
                              <p:animEffect transition="in" filter="fade">
                                <p:cBhvr>
                                  <p:cTn id="50501" dur="350"/>
                                  <p:tgtEl>
                                    <p:spTgt spid="27"/>
                                  </p:tgtEl>
                                </p:cBhvr>
                              </p:animEffect>
                              <p:animEffect transition="in" filter="fade">
                                <p:cBhvr>
                                  <p:cTn id="50502" dur="350"/>
                                  <p:tgtEl>
                                    <p:spTgt spid="28"/>
                                  </p:tgtEl>
                                </p:cBhvr>
                              </p:animEffect>
                              <p:animEffect transition="in" filter="fade">
                                <p:cBhvr>
                                  <p:cTn id="50503" dur="350"/>
                                  <p:tgtEl>
                                    <p:spTgt spid="29"/>
                                  </p:tgtEl>
                                </p:cBhvr>
                              </p:animEffect>
                              <p:animEffect transition="in" filter="fade">
                                <p:cBhvr>
                                  <p:cTn id="50504" dur="350"/>
                                  <p:tgtEl>
                                    <p:spTgt spid="30"/>
                                  </p:tgtEl>
                                </p:cBhvr>
                              </p:animEffect>
                              <p:animEffect transition="in" filter="fade">
                                <p:cBhvr>
                                  <p:cTn id="50505" dur="350"/>
                                  <p:tgtEl>
                                    <p:spTgt spid="31"/>
                                  </p:tgtEl>
                                </p:cBhvr>
                              </p:animEffect>
                              <p:animEffect transition="in" filter="fade">
                                <p:cBhvr>
                                  <p:cTn id="50506" dur="35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34" grpId="0" animBg="1"/>
      <p:bldP spid="35" grpId="0" animBg="1"/>
      <p:bldP spid="36" grpId="0" animBg="1"/>
      <p:bldP spid="39" grpId="0" animBg="1"/>
      <p:bldP spid="40" grpId="0" animBg="1"/>
      <p:bldP spid="43" grpId="0" animBg="1"/>
      <p:bldP spid="44" grpId="0" animBg="1"/>
      <p:bldP spid="47" grpId="0" animBg="1"/>
      <p:bldP spid="48" grpId="0" animBg="1"/>
      <p:bldP spid="51" grpId="0" animBg="1"/>
      <p:bldP spid="37" grpId="0" animBg="1"/>
      <p:bldP spid="38" grpId="0" animBg="1"/>
      <p:bldP spid="41" grpId="0" animBg="1"/>
      <p:bldP spid="42" grpId="0" animBg="1"/>
      <p:bldP spid="45" grpId="0" animBg="1"/>
      <p:bldP spid="46" grpId="0" animBg="1"/>
      <p:bldP spid="49" grpId="0" animBg="1"/>
      <p:bldP spid="50" grpId="0" animBg="1"/>
      <p:bldP spid="33" grpId="1" animBg="1"/>
      <p:bldP spid="9" grpId="2" animBg="1"/>
      <p:bldP spid="10" grpId="2" animBg="1"/>
      <p:bldP spid="11" grpId="2" animBg="1"/>
      <p:bldP spid="12" grpId="2" animBg="1"/>
      <p:bldP spid="13" grpId="2" animBg="1"/>
      <p:bldP spid="14" grpId="2" animBg="1"/>
      <p:bldP spid="15" grpId="3" animBg="1"/>
      <p:bldP spid="16" grpId="3" animBg="1"/>
      <p:bldP spid="17" grpId="3" animBg="1"/>
      <p:bldP spid="18" grpId="3" animBg="1"/>
      <p:bldP spid="19" grpId="3" animBg="1"/>
      <p:bldP spid="20" grpId="3" animBg="1"/>
      <p:bldP spid="21" grpId="4" animBg="1"/>
      <p:bldP spid="22" grpId="4" animBg="1"/>
      <p:bldP spid="23" grpId="4" animBg="1"/>
      <p:bldP spid="24" grpId="4" animBg="1"/>
      <p:bldP spid="25" grpId="4" animBg="1"/>
      <p:bldP spid="26" grpId="4" animBg="1"/>
      <p:bldP spid="27" grpId="5" animBg="1"/>
      <p:bldP spid="28" grpId="5" animBg="1"/>
      <p:bldP spid="29" grpId="5" animBg="1"/>
      <p:bldP spid="30" grpId="5" animBg="1"/>
      <p:bldP spid="31" grpId="5" animBg="1"/>
      <p:bldP spid="32" grpId="5"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0" y="0"/>
            <a:ext cx="64008" cy="5143500"/>
          </a:xfrm>
          <a:prstGeom prst="rect">
            <a:avLst/>
          </a:prstGeom>
          <a:solidFill>
            <a:srgbClr val="2A4875"/>
          </a:solidFill>
          <a:ln w="12700">
            <a:solidFill>
              <a:srgbClr val="2A4875"/>
            </a:solidFill>
            <a:prstDash val="solid"/>
          </a:ln>
        </p:spPr>
        <p:txBody>
          <a:bodyPr/>
          <a:lstStyle/>
          <a:p>
            <a:endParaRPr lang="en-US"/>
          </a:p>
        </p:txBody>
      </p:sp>
      <p:sp>
        <p:nvSpPr>
          <p:cNvPr id="4" name="Shape 2"/>
          <p:cNvSpPr/>
          <p:nvPr/>
        </p:nvSpPr>
        <p:spPr>
          <a:xfrm>
            <a:off x="-1371600" y="2743200"/>
            <a:ext cx="3657600" cy="3657600"/>
          </a:xfrm>
          <a:prstGeom prst="ellipse">
            <a:avLst/>
          </a:prstGeom>
          <a:solidFill>
            <a:srgbClr val="2A4875">
              <a:alpha val="7000"/>
            </a:srgbClr>
          </a:solidFill>
          <a:ln w="12700">
            <a:solidFill>
              <a:srgbClr val="F7F5F0"/>
            </a:solidFill>
            <a:prstDash val="solid"/>
          </a:ln>
        </p:spPr>
        <p:txBody>
          <a:bodyPr/>
          <a:lstStyle/>
          <a:p>
            <a:endParaRPr lang="en-US"/>
          </a:p>
        </p:txBody>
      </p:sp>
      <p:sp>
        <p:nvSpPr>
          <p:cNvPr id="5" name="Shape 3"/>
          <p:cNvSpPr/>
          <p:nvPr/>
        </p:nvSpPr>
        <p:spPr>
          <a:xfrm>
            <a:off x="-457200" y="3657600"/>
            <a:ext cx="1828800" cy="1828800"/>
          </a:xfrm>
          <a:prstGeom prst="ellipse">
            <a:avLst/>
          </a:prstGeom>
          <a:solidFill>
            <a:srgbClr val="2A4875">
              <a:alpha val="14000"/>
            </a:srgbClr>
          </a:solidFill>
          <a:ln w="12700">
            <a:solidFill>
              <a:srgbClr val="F7F5F0"/>
            </a:solidFill>
            <a:prstDash val="solid"/>
          </a:ln>
        </p:spPr>
        <p:txBody>
          <a:bodyPr/>
          <a:lstStyle/>
          <a:p>
            <a:endParaRPr lang="en-US"/>
          </a:p>
        </p:txBody>
      </p:sp>
      <p:sp>
        <p:nvSpPr>
          <p:cNvPr id="6" name="Shape 4"/>
          <p:cNvSpPr/>
          <p:nvPr/>
        </p:nvSpPr>
        <p:spPr>
          <a:xfrm>
            <a:off x="7772400" y="-1371600"/>
            <a:ext cx="2743200" cy="2743200"/>
          </a:xfrm>
          <a:prstGeom prst="ellipse">
            <a:avLst/>
          </a:prstGeom>
          <a:solidFill>
            <a:srgbClr val="4C3275">
              <a:alpha val="7000"/>
            </a:srgbClr>
          </a:solidFill>
          <a:ln w="12700">
            <a:solidFill>
              <a:srgbClr val="F7F5F0"/>
            </a:solidFill>
            <a:prstDash val="solid"/>
          </a:ln>
        </p:spPr>
        <p:txBody>
          <a:bodyPr/>
          <a:lstStyle/>
          <a:p>
            <a:endParaRPr lang="en-US"/>
          </a:p>
        </p:txBody>
      </p:sp>
      <p:sp>
        <p:nvSpPr>
          <p:cNvPr id="7" name="Shape 5"/>
          <p:cNvSpPr/>
          <p:nvPr/>
        </p:nvSpPr>
        <p:spPr>
          <a:xfrm>
            <a:off x="8458200" y="-685800"/>
            <a:ext cx="1371600" cy="1371600"/>
          </a:xfrm>
          <a:prstGeom prst="ellipse">
            <a:avLst/>
          </a:prstGeom>
          <a:solidFill>
            <a:srgbClr val="4C3275">
              <a:alpha val="14000"/>
            </a:srgbClr>
          </a:solidFill>
          <a:ln w="12700">
            <a:solidFill>
              <a:srgbClr val="F7F5F0"/>
            </a:solidFill>
            <a:prstDash val="solid"/>
          </a:ln>
        </p:spPr>
        <p:txBody>
          <a:bodyPr/>
          <a:lstStyle/>
          <a:p>
            <a:endParaRPr lang="en-US"/>
          </a:p>
        </p:txBody>
      </p:sp>
      <p:sp>
        <p:nvSpPr>
          <p:cNvPr id="8" name="Text 6"/>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2A4875"/>
                </a:solidFill>
                <a:latin typeface="Calibri" pitchFamily="34" charset="0"/>
                <a:ea typeface="Calibri" pitchFamily="34" charset="-122"/>
                <a:cs typeface="Calibri" pitchFamily="34" charset="-120"/>
              </a:rPr>
              <a:t>RESEARCH QUESTIONS</a:t>
            </a:r>
            <a:endParaRPr lang="en-US" sz="900" dirty="0"/>
          </a:p>
        </p:txBody>
      </p:sp>
      <p:sp>
        <p:nvSpPr>
          <p:cNvPr id="9" name="Text 7"/>
          <p:cNvSpPr/>
          <p:nvPr/>
        </p:nvSpPr>
        <p:spPr>
          <a:xfrm>
            <a:off x="457200" y="384048"/>
            <a:ext cx="8229600" cy="685800"/>
          </a:xfrm>
          <a:prstGeom prst="rect">
            <a:avLst/>
          </a:prstGeom>
          <a:noFill/>
          <a:ln/>
        </p:spPr>
        <p:txBody>
          <a:bodyPr wrap="square" rtlCol="0" anchor="ctr"/>
          <a:lstStyle/>
          <a:p>
            <a:pPr marL="0" indent="0">
              <a:buNone/>
            </a:pPr>
            <a:r>
              <a:rPr lang="en-US" sz="2800" b="1" dirty="0">
                <a:solidFill>
                  <a:srgbClr val="1A1814"/>
                </a:solidFill>
                <a:latin typeface="Calibri" pitchFamily="34" charset="0"/>
                <a:ea typeface="Calibri" pitchFamily="34" charset="-122"/>
                <a:cs typeface="Calibri" pitchFamily="34" charset="-120"/>
              </a:rPr>
              <a:t>Four Questions. One Framework.</a:t>
            </a:r>
            <a:endParaRPr lang="en-US" sz="2800" dirty="0"/>
          </a:p>
        </p:txBody>
      </p:sp>
      <p:sp>
        <p:nvSpPr>
          <p:cNvPr id="10" name="Shape 8"/>
          <p:cNvSpPr/>
          <p:nvPr/>
        </p:nvSpPr>
        <p:spPr>
          <a:xfrm>
            <a:off x="365760" y="1115568"/>
            <a:ext cx="4206240" cy="1709928"/>
          </a:xfrm>
          <a:prstGeom prst="roundRect">
            <a:avLst>
              <a:gd name="adj" fmla="val 6417"/>
            </a:avLst>
          </a:prstGeom>
          <a:solidFill>
            <a:srgbClr val="EDEAE3"/>
          </a:solidFill>
          <a:ln w="12700">
            <a:solidFill>
              <a:srgbClr val="CFCABC"/>
            </a:solidFill>
            <a:prstDash val="solid"/>
          </a:ln>
        </p:spPr>
        <p:txBody>
          <a:bodyPr/>
          <a:lstStyle/>
          <a:p>
            <a:endParaRPr lang="en-US"/>
          </a:p>
        </p:txBody>
      </p:sp>
      <p:sp>
        <p:nvSpPr>
          <p:cNvPr id="11" name="Shape 9"/>
          <p:cNvSpPr/>
          <p:nvPr/>
        </p:nvSpPr>
        <p:spPr>
          <a:xfrm>
            <a:off x="365760" y="1188720"/>
            <a:ext cx="45720" cy="1563624"/>
          </a:xfrm>
          <a:prstGeom prst="rect">
            <a:avLst/>
          </a:prstGeom>
          <a:solidFill>
            <a:srgbClr val="2A4875"/>
          </a:solidFill>
          <a:ln w="12700">
            <a:solidFill>
              <a:srgbClr val="2A4875"/>
            </a:solidFill>
            <a:prstDash val="solid"/>
          </a:ln>
        </p:spPr>
        <p:txBody>
          <a:bodyPr/>
          <a:lstStyle/>
          <a:p>
            <a:endParaRPr lang="en-US"/>
          </a:p>
        </p:txBody>
      </p:sp>
      <p:sp>
        <p:nvSpPr>
          <p:cNvPr id="12" name="Shape 10"/>
          <p:cNvSpPr/>
          <p:nvPr/>
        </p:nvSpPr>
        <p:spPr>
          <a:xfrm>
            <a:off x="548640" y="1298448"/>
            <a:ext cx="502920" cy="502920"/>
          </a:xfrm>
          <a:prstGeom prst="roundRect">
            <a:avLst>
              <a:gd name="adj" fmla="val 18182"/>
            </a:avLst>
          </a:prstGeom>
          <a:solidFill>
            <a:srgbClr val="2A4875">
              <a:alpha val="18000"/>
            </a:srgbClr>
          </a:solidFill>
          <a:ln w="12700">
            <a:solidFill>
              <a:srgbClr val="2A4875"/>
            </a:solidFill>
            <a:prstDash val="solid"/>
          </a:ln>
        </p:spPr>
        <p:txBody>
          <a:bodyPr/>
          <a:lstStyle/>
          <a:p>
            <a:endParaRPr lang="en-US"/>
          </a:p>
        </p:txBody>
      </p:sp>
      <p:sp>
        <p:nvSpPr>
          <p:cNvPr id="13" name="Text 11"/>
          <p:cNvSpPr/>
          <p:nvPr/>
        </p:nvSpPr>
        <p:spPr>
          <a:xfrm>
            <a:off x="548640" y="1298448"/>
            <a:ext cx="502920" cy="502920"/>
          </a:xfrm>
          <a:prstGeom prst="rect">
            <a:avLst/>
          </a:prstGeom>
          <a:noFill/>
          <a:ln/>
        </p:spPr>
        <p:txBody>
          <a:bodyPr wrap="square" rtlCol="0" anchor="ctr"/>
          <a:lstStyle/>
          <a:p>
            <a:pPr marL="0" indent="0" algn="ctr">
              <a:buNone/>
            </a:pPr>
            <a:r>
              <a:rPr lang="en-US" sz="1100" b="1" dirty="0">
                <a:solidFill>
                  <a:srgbClr val="2A4875"/>
                </a:solidFill>
                <a:latin typeface="Calibri" pitchFamily="34" charset="0"/>
                <a:ea typeface="Calibri" pitchFamily="34" charset="-122"/>
                <a:cs typeface="Calibri" pitchFamily="34" charset="-120"/>
              </a:rPr>
              <a:t>RQ1</a:t>
            </a:r>
            <a:endParaRPr lang="en-US" sz="1100" dirty="0"/>
          </a:p>
        </p:txBody>
      </p:sp>
      <p:sp>
        <p:nvSpPr>
          <p:cNvPr id="14" name="Text 12"/>
          <p:cNvSpPr/>
          <p:nvPr/>
        </p:nvSpPr>
        <p:spPr>
          <a:xfrm>
            <a:off x="1170432" y="1298448"/>
            <a:ext cx="3246120" cy="274320"/>
          </a:xfrm>
          <a:prstGeom prst="rect">
            <a:avLst/>
          </a:prstGeom>
          <a:noFill/>
          <a:ln/>
        </p:spPr>
        <p:txBody>
          <a:bodyPr wrap="square" rtlCol="0" anchor="ctr"/>
          <a:lstStyle/>
          <a:p>
            <a:pPr marL="0" indent="0">
              <a:buNone/>
            </a:pPr>
            <a:r>
              <a:rPr lang="en-US" sz="1300" b="1" dirty="0">
                <a:solidFill>
                  <a:srgbClr val="1A1814"/>
                </a:solidFill>
                <a:latin typeface="Calibri" pitchFamily="34" charset="0"/>
                <a:ea typeface="Calibri" pitchFamily="34" charset="-122"/>
                <a:cs typeface="Calibri" pitchFamily="34" charset="-120"/>
              </a:rPr>
              <a:t>Accuracy Comparison</a:t>
            </a:r>
            <a:endParaRPr lang="en-US" sz="1300" dirty="0"/>
          </a:p>
        </p:txBody>
      </p:sp>
      <p:sp>
        <p:nvSpPr>
          <p:cNvPr id="15" name="Shape 13"/>
          <p:cNvSpPr/>
          <p:nvPr/>
        </p:nvSpPr>
        <p:spPr>
          <a:xfrm>
            <a:off x="1170432" y="1627632"/>
            <a:ext cx="3200400" cy="16459"/>
          </a:xfrm>
          <a:prstGeom prst="rect">
            <a:avLst/>
          </a:prstGeom>
          <a:solidFill>
            <a:srgbClr val="CFCABC"/>
          </a:solidFill>
          <a:ln w="12700">
            <a:solidFill>
              <a:srgbClr val="CFCABC"/>
            </a:solidFill>
            <a:prstDash val="solid"/>
          </a:ln>
        </p:spPr>
        <p:txBody>
          <a:bodyPr/>
          <a:lstStyle/>
          <a:p>
            <a:endParaRPr lang="en-US"/>
          </a:p>
        </p:txBody>
      </p:sp>
      <p:sp>
        <p:nvSpPr>
          <p:cNvPr id="16" name="Text 14"/>
          <p:cNvSpPr/>
          <p:nvPr/>
        </p:nvSpPr>
        <p:spPr>
          <a:xfrm>
            <a:off x="548640" y="1700784"/>
            <a:ext cx="3913632" cy="1005840"/>
          </a:xfrm>
          <a:prstGeom prst="rect">
            <a:avLst/>
          </a:prstGeom>
          <a:noFill/>
          <a:ln/>
        </p:spPr>
        <p:txBody>
          <a:bodyPr wrap="square" rtlCol="0" anchor="ctr"/>
          <a:lstStyle/>
          <a:p>
            <a:pPr marL="0" indent="0">
              <a:buNone/>
            </a:pPr>
            <a:r>
              <a:rPr lang="en-US" sz="1050" dirty="0">
                <a:solidFill>
                  <a:srgbClr val="6E6760"/>
                </a:solidFill>
                <a:latin typeface="Calibri" pitchFamily="34" charset="0"/>
                <a:ea typeface="Calibri" pitchFamily="34" charset="-122"/>
                <a:cs typeface="Calibri" pitchFamily="34" charset="-120"/>
              </a:rPr>
              <a:t>How do Zero-Shot, Few-Shot, CoT, and Zero-Shot CoT compare in accuracy across QA, Summarisation, and Reasoning tasks?</a:t>
            </a:r>
            <a:endParaRPr lang="en-US" sz="1050" dirty="0"/>
          </a:p>
        </p:txBody>
      </p:sp>
      <p:sp>
        <p:nvSpPr>
          <p:cNvPr id="17" name="Shape 15"/>
          <p:cNvSpPr/>
          <p:nvPr/>
        </p:nvSpPr>
        <p:spPr>
          <a:xfrm>
            <a:off x="4800600" y="1115568"/>
            <a:ext cx="4206240" cy="1709928"/>
          </a:xfrm>
          <a:prstGeom prst="roundRect">
            <a:avLst>
              <a:gd name="adj" fmla="val 6417"/>
            </a:avLst>
          </a:prstGeom>
          <a:solidFill>
            <a:srgbClr val="EDEAE3"/>
          </a:solidFill>
          <a:ln w="12700">
            <a:solidFill>
              <a:srgbClr val="CFCABC"/>
            </a:solidFill>
            <a:prstDash val="solid"/>
          </a:ln>
        </p:spPr>
        <p:txBody>
          <a:bodyPr/>
          <a:lstStyle/>
          <a:p>
            <a:endParaRPr lang="en-US"/>
          </a:p>
        </p:txBody>
      </p:sp>
      <p:sp>
        <p:nvSpPr>
          <p:cNvPr id="18" name="Shape 16"/>
          <p:cNvSpPr/>
          <p:nvPr/>
        </p:nvSpPr>
        <p:spPr>
          <a:xfrm>
            <a:off x="4800600" y="1188720"/>
            <a:ext cx="45720" cy="1563624"/>
          </a:xfrm>
          <a:prstGeom prst="rect">
            <a:avLst/>
          </a:prstGeom>
          <a:solidFill>
            <a:srgbClr val="245E3E"/>
          </a:solidFill>
          <a:ln w="12700">
            <a:solidFill>
              <a:srgbClr val="245E3E"/>
            </a:solidFill>
            <a:prstDash val="solid"/>
          </a:ln>
        </p:spPr>
        <p:txBody>
          <a:bodyPr/>
          <a:lstStyle/>
          <a:p>
            <a:endParaRPr lang="en-US"/>
          </a:p>
        </p:txBody>
      </p:sp>
      <p:sp>
        <p:nvSpPr>
          <p:cNvPr id="19" name="Shape 17"/>
          <p:cNvSpPr/>
          <p:nvPr/>
        </p:nvSpPr>
        <p:spPr>
          <a:xfrm>
            <a:off x="4983480" y="1298448"/>
            <a:ext cx="502920" cy="502920"/>
          </a:xfrm>
          <a:prstGeom prst="roundRect">
            <a:avLst>
              <a:gd name="adj" fmla="val 18182"/>
            </a:avLst>
          </a:prstGeom>
          <a:solidFill>
            <a:srgbClr val="245E3E">
              <a:alpha val="18000"/>
            </a:srgbClr>
          </a:solidFill>
          <a:ln w="12700">
            <a:solidFill>
              <a:srgbClr val="245E3E"/>
            </a:solidFill>
            <a:prstDash val="solid"/>
          </a:ln>
        </p:spPr>
        <p:txBody>
          <a:bodyPr/>
          <a:lstStyle/>
          <a:p>
            <a:endParaRPr lang="en-US"/>
          </a:p>
        </p:txBody>
      </p:sp>
      <p:sp>
        <p:nvSpPr>
          <p:cNvPr id="20" name="Text 18"/>
          <p:cNvSpPr/>
          <p:nvPr/>
        </p:nvSpPr>
        <p:spPr>
          <a:xfrm>
            <a:off x="4983480" y="1298448"/>
            <a:ext cx="502920" cy="502920"/>
          </a:xfrm>
          <a:prstGeom prst="rect">
            <a:avLst/>
          </a:prstGeom>
          <a:noFill/>
          <a:ln/>
        </p:spPr>
        <p:txBody>
          <a:bodyPr wrap="square" rtlCol="0" anchor="ctr"/>
          <a:lstStyle/>
          <a:p>
            <a:pPr marL="0" indent="0" algn="ctr">
              <a:buNone/>
            </a:pPr>
            <a:r>
              <a:rPr lang="en-US" sz="1100" b="1" dirty="0">
                <a:solidFill>
                  <a:srgbClr val="245E3E"/>
                </a:solidFill>
                <a:latin typeface="Calibri" pitchFamily="34" charset="0"/>
                <a:ea typeface="Calibri" pitchFamily="34" charset="-122"/>
                <a:cs typeface="Calibri" pitchFamily="34" charset="-120"/>
              </a:rPr>
              <a:t>RQ2</a:t>
            </a:r>
            <a:endParaRPr lang="en-US" sz="1100" dirty="0"/>
          </a:p>
        </p:txBody>
      </p:sp>
      <p:sp>
        <p:nvSpPr>
          <p:cNvPr id="21" name="Text 19"/>
          <p:cNvSpPr/>
          <p:nvPr/>
        </p:nvSpPr>
        <p:spPr>
          <a:xfrm>
            <a:off x="5605272" y="1298448"/>
            <a:ext cx="3246120" cy="274320"/>
          </a:xfrm>
          <a:prstGeom prst="rect">
            <a:avLst/>
          </a:prstGeom>
          <a:noFill/>
          <a:ln/>
        </p:spPr>
        <p:txBody>
          <a:bodyPr wrap="square" rtlCol="0" anchor="ctr"/>
          <a:lstStyle/>
          <a:p>
            <a:pPr marL="0" indent="0">
              <a:buNone/>
            </a:pPr>
            <a:r>
              <a:rPr lang="en-US" sz="1300" b="1" dirty="0">
                <a:solidFill>
                  <a:srgbClr val="1A1814"/>
                </a:solidFill>
                <a:latin typeface="Calibri" pitchFamily="34" charset="0"/>
                <a:ea typeface="Calibri" pitchFamily="34" charset="-122"/>
                <a:cs typeface="Calibri" pitchFamily="34" charset="-120"/>
              </a:rPr>
              <a:t>Task Dependency</a:t>
            </a:r>
            <a:endParaRPr lang="en-US" sz="1300" dirty="0"/>
          </a:p>
        </p:txBody>
      </p:sp>
      <p:sp>
        <p:nvSpPr>
          <p:cNvPr id="22" name="Shape 20"/>
          <p:cNvSpPr/>
          <p:nvPr/>
        </p:nvSpPr>
        <p:spPr>
          <a:xfrm>
            <a:off x="5605272" y="1627632"/>
            <a:ext cx="3200400" cy="16459"/>
          </a:xfrm>
          <a:prstGeom prst="rect">
            <a:avLst/>
          </a:prstGeom>
          <a:solidFill>
            <a:srgbClr val="CFCABC"/>
          </a:solidFill>
          <a:ln w="12700">
            <a:solidFill>
              <a:srgbClr val="CFCABC"/>
            </a:solidFill>
            <a:prstDash val="solid"/>
          </a:ln>
        </p:spPr>
        <p:txBody>
          <a:bodyPr/>
          <a:lstStyle/>
          <a:p>
            <a:endParaRPr lang="en-US"/>
          </a:p>
        </p:txBody>
      </p:sp>
      <p:sp>
        <p:nvSpPr>
          <p:cNvPr id="23" name="Text 21"/>
          <p:cNvSpPr/>
          <p:nvPr/>
        </p:nvSpPr>
        <p:spPr>
          <a:xfrm>
            <a:off x="4983480" y="1700784"/>
            <a:ext cx="3913632" cy="1005840"/>
          </a:xfrm>
          <a:prstGeom prst="rect">
            <a:avLst/>
          </a:prstGeom>
          <a:noFill/>
          <a:ln/>
        </p:spPr>
        <p:txBody>
          <a:bodyPr wrap="square" rtlCol="0" anchor="ctr"/>
          <a:lstStyle/>
          <a:p>
            <a:pPr marL="0" indent="0">
              <a:buNone/>
            </a:pPr>
            <a:r>
              <a:rPr lang="en-US" sz="1050" dirty="0">
                <a:solidFill>
                  <a:srgbClr val="6E6760"/>
                </a:solidFill>
                <a:latin typeface="Calibri" pitchFamily="34" charset="0"/>
                <a:ea typeface="Calibri" pitchFamily="34" charset="-122"/>
                <a:cs typeface="Calibri" pitchFamily="34" charset="-120"/>
              </a:rPr>
              <a:t>Does the optimal prompting technique vary by task type -and if so, how dramatically does it differ?</a:t>
            </a:r>
            <a:endParaRPr lang="en-US" sz="1050" dirty="0"/>
          </a:p>
        </p:txBody>
      </p:sp>
      <p:sp>
        <p:nvSpPr>
          <p:cNvPr id="24" name="Shape 22"/>
          <p:cNvSpPr/>
          <p:nvPr/>
        </p:nvSpPr>
        <p:spPr>
          <a:xfrm>
            <a:off x="365760" y="2990088"/>
            <a:ext cx="4206240" cy="1709928"/>
          </a:xfrm>
          <a:prstGeom prst="roundRect">
            <a:avLst>
              <a:gd name="adj" fmla="val 6417"/>
            </a:avLst>
          </a:prstGeom>
          <a:solidFill>
            <a:srgbClr val="EDEAE3"/>
          </a:solidFill>
          <a:ln w="12700">
            <a:solidFill>
              <a:srgbClr val="CFCABC"/>
            </a:solidFill>
            <a:prstDash val="solid"/>
          </a:ln>
        </p:spPr>
        <p:txBody>
          <a:bodyPr/>
          <a:lstStyle/>
          <a:p>
            <a:endParaRPr lang="en-US"/>
          </a:p>
        </p:txBody>
      </p:sp>
      <p:sp>
        <p:nvSpPr>
          <p:cNvPr id="25" name="Shape 23"/>
          <p:cNvSpPr/>
          <p:nvPr/>
        </p:nvSpPr>
        <p:spPr>
          <a:xfrm>
            <a:off x="365760" y="3063240"/>
            <a:ext cx="45720" cy="1563624"/>
          </a:xfrm>
          <a:prstGeom prst="rect">
            <a:avLst/>
          </a:prstGeom>
          <a:solidFill>
            <a:srgbClr val="6E5200"/>
          </a:solidFill>
          <a:ln w="12700">
            <a:solidFill>
              <a:srgbClr val="6E5200"/>
            </a:solidFill>
            <a:prstDash val="solid"/>
          </a:ln>
        </p:spPr>
        <p:txBody>
          <a:bodyPr/>
          <a:lstStyle/>
          <a:p>
            <a:endParaRPr lang="en-US"/>
          </a:p>
        </p:txBody>
      </p:sp>
      <p:sp>
        <p:nvSpPr>
          <p:cNvPr id="26" name="Shape 24"/>
          <p:cNvSpPr/>
          <p:nvPr/>
        </p:nvSpPr>
        <p:spPr>
          <a:xfrm>
            <a:off x="548640" y="3172968"/>
            <a:ext cx="502920" cy="502920"/>
          </a:xfrm>
          <a:prstGeom prst="roundRect">
            <a:avLst>
              <a:gd name="adj" fmla="val 18182"/>
            </a:avLst>
          </a:prstGeom>
          <a:solidFill>
            <a:srgbClr val="6E5200">
              <a:alpha val="18000"/>
            </a:srgbClr>
          </a:solidFill>
          <a:ln w="12700">
            <a:solidFill>
              <a:srgbClr val="6E5200"/>
            </a:solidFill>
            <a:prstDash val="solid"/>
          </a:ln>
        </p:spPr>
        <p:txBody>
          <a:bodyPr/>
          <a:lstStyle/>
          <a:p>
            <a:endParaRPr lang="en-US"/>
          </a:p>
        </p:txBody>
      </p:sp>
      <p:sp>
        <p:nvSpPr>
          <p:cNvPr id="27" name="Text 25"/>
          <p:cNvSpPr/>
          <p:nvPr/>
        </p:nvSpPr>
        <p:spPr>
          <a:xfrm>
            <a:off x="548640" y="3172968"/>
            <a:ext cx="502920" cy="502920"/>
          </a:xfrm>
          <a:prstGeom prst="rect">
            <a:avLst/>
          </a:prstGeom>
          <a:noFill/>
          <a:ln/>
        </p:spPr>
        <p:txBody>
          <a:bodyPr wrap="square" rtlCol="0" anchor="ctr"/>
          <a:lstStyle/>
          <a:p>
            <a:pPr marL="0" indent="0" algn="ctr">
              <a:buNone/>
            </a:pPr>
            <a:r>
              <a:rPr lang="en-US" sz="1100" b="1" dirty="0">
                <a:solidFill>
                  <a:srgbClr val="6E5200"/>
                </a:solidFill>
                <a:latin typeface="Calibri" pitchFamily="34" charset="0"/>
                <a:ea typeface="Calibri" pitchFamily="34" charset="-122"/>
                <a:cs typeface="Calibri" pitchFamily="34" charset="-120"/>
              </a:rPr>
              <a:t>RQ3</a:t>
            </a:r>
            <a:endParaRPr lang="en-US" sz="1100" dirty="0"/>
          </a:p>
        </p:txBody>
      </p:sp>
      <p:sp>
        <p:nvSpPr>
          <p:cNvPr id="28" name="Text 26"/>
          <p:cNvSpPr/>
          <p:nvPr/>
        </p:nvSpPr>
        <p:spPr>
          <a:xfrm>
            <a:off x="1170432" y="3172968"/>
            <a:ext cx="3246120" cy="274320"/>
          </a:xfrm>
          <a:prstGeom prst="rect">
            <a:avLst/>
          </a:prstGeom>
          <a:noFill/>
          <a:ln/>
        </p:spPr>
        <p:txBody>
          <a:bodyPr wrap="square" rtlCol="0" anchor="ctr"/>
          <a:lstStyle/>
          <a:p>
            <a:pPr marL="0" indent="0">
              <a:buNone/>
            </a:pPr>
            <a:r>
              <a:rPr lang="en-US" sz="1300" b="1" dirty="0">
                <a:solidFill>
                  <a:srgbClr val="1A1814"/>
                </a:solidFill>
                <a:latin typeface="Calibri" pitchFamily="34" charset="0"/>
                <a:ea typeface="Calibri" pitchFamily="34" charset="-122"/>
                <a:cs typeface="Calibri" pitchFamily="34" charset="-120"/>
              </a:rPr>
              <a:t>Design Principles</a:t>
            </a:r>
            <a:endParaRPr lang="en-US" sz="1300" dirty="0"/>
          </a:p>
        </p:txBody>
      </p:sp>
      <p:sp>
        <p:nvSpPr>
          <p:cNvPr id="29" name="Shape 27"/>
          <p:cNvSpPr/>
          <p:nvPr/>
        </p:nvSpPr>
        <p:spPr>
          <a:xfrm>
            <a:off x="1170432" y="3502152"/>
            <a:ext cx="3200400" cy="16459"/>
          </a:xfrm>
          <a:prstGeom prst="rect">
            <a:avLst/>
          </a:prstGeom>
          <a:solidFill>
            <a:srgbClr val="CFCABC"/>
          </a:solidFill>
          <a:ln w="12700">
            <a:solidFill>
              <a:srgbClr val="CFCABC"/>
            </a:solidFill>
            <a:prstDash val="solid"/>
          </a:ln>
        </p:spPr>
        <p:txBody>
          <a:bodyPr/>
          <a:lstStyle/>
          <a:p>
            <a:endParaRPr lang="en-US"/>
          </a:p>
        </p:txBody>
      </p:sp>
      <p:sp>
        <p:nvSpPr>
          <p:cNvPr id="30" name="Text 28"/>
          <p:cNvSpPr/>
          <p:nvPr/>
        </p:nvSpPr>
        <p:spPr>
          <a:xfrm>
            <a:off x="548640" y="3575304"/>
            <a:ext cx="3913632" cy="1005840"/>
          </a:xfrm>
          <a:prstGeom prst="rect">
            <a:avLst/>
          </a:prstGeom>
          <a:noFill/>
          <a:ln/>
        </p:spPr>
        <p:txBody>
          <a:bodyPr wrap="square" rtlCol="0" anchor="ctr"/>
          <a:lstStyle/>
          <a:p>
            <a:pPr marL="0" indent="0">
              <a:buNone/>
            </a:pPr>
            <a:r>
              <a:rPr lang="en-US" sz="1050" dirty="0">
                <a:solidFill>
                  <a:srgbClr val="6E6760"/>
                </a:solidFill>
                <a:latin typeface="Calibri" pitchFamily="34" charset="0"/>
                <a:ea typeface="Calibri" pitchFamily="34" charset="-122"/>
                <a:cs typeface="Calibri" pitchFamily="34" charset="-120"/>
              </a:rPr>
              <a:t>What prompt design principles generalise across all three task domains? (e.g., explicit output format constraints)</a:t>
            </a:r>
            <a:endParaRPr lang="en-US" sz="1050" dirty="0"/>
          </a:p>
        </p:txBody>
      </p:sp>
      <p:sp>
        <p:nvSpPr>
          <p:cNvPr id="31" name="Shape 29"/>
          <p:cNvSpPr/>
          <p:nvPr/>
        </p:nvSpPr>
        <p:spPr>
          <a:xfrm>
            <a:off x="4800600" y="2990088"/>
            <a:ext cx="4206240" cy="1709928"/>
          </a:xfrm>
          <a:prstGeom prst="roundRect">
            <a:avLst>
              <a:gd name="adj" fmla="val 6417"/>
            </a:avLst>
          </a:prstGeom>
          <a:solidFill>
            <a:srgbClr val="EDEAE3"/>
          </a:solidFill>
          <a:ln w="12700">
            <a:solidFill>
              <a:srgbClr val="CFCABC"/>
            </a:solidFill>
            <a:prstDash val="solid"/>
          </a:ln>
        </p:spPr>
        <p:txBody>
          <a:bodyPr/>
          <a:lstStyle/>
          <a:p>
            <a:endParaRPr lang="en-US"/>
          </a:p>
        </p:txBody>
      </p:sp>
      <p:sp>
        <p:nvSpPr>
          <p:cNvPr id="32" name="Shape 30"/>
          <p:cNvSpPr/>
          <p:nvPr/>
        </p:nvSpPr>
        <p:spPr>
          <a:xfrm>
            <a:off x="4800600" y="3063240"/>
            <a:ext cx="45720" cy="1563624"/>
          </a:xfrm>
          <a:prstGeom prst="rect">
            <a:avLst/>
          </a:prstGeom>
          <a:solidFill>
            <a:srgbClr val="4C3275"/>
          </a:solidFill>
          <a:ln w="12700">
            <a:solidFill>
              <a:srgbClr val="4C3275"/>
            </a:solidFill>
            <a:prstDash val="solid"/>
          </a:ln>
        </p:spPr>
        <p:txBody>
          <a:bodyPr/>
          <a:lstStyle/>
          <a:p>
            <a:endParaRPr lang="en-US"/>
          </a:p>
        </p:txBody>
      </p:sp>
      <p:sp>
        <p:nvSpPr>
          <p:cNvPr id="33" name="Shape 31"/>
          <p:cNvSpPr/>
          <p:nvPr/>
        </p:nvSpPr>
        <p:spPr>
          <a:xfrm>
            <a:off x="4983480" y="3172968"/>
            <a:ext cx="502920" cy="502920"/>
          </a:xfrm>
          <a:prstGeom prst="roundRect">
            <a:avLst>
              <a:gd name="adj" fmla="val 18182"/>
            </a:avLst>
          </a:prstGeom>
          <a:solidFill>
            <a:srgbClr val="4C3275">
              <a:alpha val="18000"/>
            </a:srgbClr>
          </a:solidFill>
          <a:ln w="12700">
            <a:solidFill>
              <a:srgbClr val="4C3275"/>
            </a:solidFill>
            <a:prstDash val="solid"/>
          </a:ln>
        </p:spPr>
        <p:txBody>
          <a:bodyPr/>
          <a:lstStyle/>
          <a:p>
            <a:endParaRPr lang="en-US"/>
          </a:p>
        </p:txBody>
      </p:sp>
      <p:sp>
        <p:nvSpPr>
          <p:cNvPr id="34" name="Text 32"/>
          <p:cNvSpPr/>
          <p:nvPr/>
        </p:nvSpPr>
        <p:spPr>
          <a:xfrm>
            <a:off x="4983480" y="3172968"/>
            <a:ext cx="502920" cy="502920"/>
          </a:xfrm>
          <a:prstGeom prst="rect">
            <a:avLst/>
          </a:prstGeom>
          <a:noFill/>
          <a:ln/>
        </p:spPr>
        <p:txBody>
          <a:bodyPr wrap="square" rtlCol="0" anchor="ctr"/>
          <a:lstStyle/>
          <a:p>
            <a:pPr marL="0" indent="0" algn="ctr">
              <a:buNone/>
            </a:pPr>
            <a:r>
              <a:rPr lang="en-US" sz="1100" b="1" dirty="0">
                <a:solidFill>
                  <a:srgbClr val="4C3275"/>
                </a:solidFill>
                <a:latin typeface="Calibri" pitchFamily="34" charset="0"/>
                <a:ea typeface="Calibri" pitchFamily="34" charset="-122"/>
                <a:cs typeface="Calibri" pitchFamily="34" charset="-120"/>
              </a:rPr>
              <a:t>RQ4</a:t>
            </a:r>
            <a:endParaRPr lang="en-US" sz="1100" dirty="0"/>
          </a:p>
        </p:txBody>
      </p:sp>
      <p:sp>
        <p:nvSpPr>
          <p:cNvPr id="35" name="Text 33"/>
          <p:cNvSpPr/>
          <p:nvPr/>
        </p:nvSpPr>
        <p:spPr>
          <a:xfrm>
            <a:off x="5605272" y="3172968"/>
            <a:ext cx="3246120" cy="274320"/>
          </a:xfrm>
          <a:prstGeom prst="rect">
            <a:avLst/>
          </a:prstGeom>
          <a:noFill/>
          <a:ln/>
        </p:spPr>
        <p:txBody>
          <a:bodyPr wrap="square" rtlCol="0" anchor="ctr"/>
          <a:lstStyle/>
          <a:p>
            <a:pPr marL="0" indent="0">
              <a:buNone/>
            </a:pPr>
            <a:r>
              <a:rPr lang="en-US" sz="1300" b="1" dirty="0">
                <a:solidFill>
                  <a:srgbClr val="1A1814"/>
                </a:solidFill>
                <a:latin typeface="Calibri" pitchFamily="34" charset="0"/>
                <a:ea typeface="Calibri" pitchFamily="34" charset="-122"/>
                <a:cs typeface="Calibri" pitchFamily="34" charset="-120"/>
              </a:rPr>
              <a:t>Automation &amp; Routing</a:t>
            </a:r>
            <a:endParaRPr lang="en-US" sz="1300" dirty="0"/>
          </a:p>
        </p:txBody>
      </p:sp>
      <p:sp>
        <p:nvSpPr>
          <p:cNvPr id="36" name="Shape 34"/>
          <p:cNvSpPr/>
          <p:nvPr/>
        </p:nvSpPr>
        <p:spPr>
          <a:xfrm>
            <a:off x="5605272" y="3502152"/>
            <a:ext cx="3200400" cy="16459"/>
          </a:xfrm>
          <a:prstGeom prst="rect">
            <a:avLst/>
          </a:prstGeom>
          <a:solidFill>
            <a:srgbClr val="CFCABC"/>
          </a:solidFill>
          <a:ln w="12700">
            <a:solidFill>
              <a:srgbClr val="CFCABC"/>
            </a:solidFill>
            <a:prstDash val="solid"/>
          </a:ln>
        </p:spPr>
        <p:txBody>
          <a:bodyPr/>
          <a:lstStyle/>
          <a:p>
            <a:endParaRPr lang="en-US"/>
          </a:p>
        </p:txBody>
      </p:sp>
      <p:sp>
        <p:nvSpPr>
          <p:cNvPr id="37" name="Text 35"/>
          <p:cNvSpPr/>
          <p:nvPr/>
        </p:nvSpPr>
        <p:spPr>
          <a:xfrm>
            <a:off x="4983480" y="3575304"/>
            <a:ext cx="3913632" cy="1005840"/>
          </a:xfrm>
          <a:prstGeom prst="rect">
            <a:avLst/>
          </a:prstGeom>
          <a:noFill/>
          <a:ln/>
        </p:spPr>
        <p:txBody>
          <a:bodyPr wrap="square" rtlCol="0" anchor="ctr"/>
          <a:lstStyle/>
          <a:p>
            <a:pPr marL="0" indent="0">
              <a:buNone/>
            </a:pPr>
            <a:r>
              <a:rPr lang="en-US" sz="1050" dirty="0">
                <a:solidFill>
                  <a:srgbClr val="6E6760"/>
                </a:solidFill>
                <a:latin typeface="Calibri" pitchFamily="34" charset="0"/>
                <a:ea typeface="Calibri" pitchFamily="34" charset="-122"/>
                <a:cs typeface="Calibri" pitchFamily="34" charset="-120"/>
              </a:rPr>
              <a:t>Can prompts improve automatically from failure cases, and can adaptive routing reduce token cost without sacrificing accuracy?</a:t>
            </a:r>
            <a:endParaRPr lang="en-US" sz="1050" dirty="0"/>
          </a:p>
        </p:txBody>
      </p:sp>
      <p:sp>
        <p:nvSpPr>
          <p:cNvPr id="38" name="Text 36"/>
          <p:cNvSpPr/>
          <p:nvPr/>
        </p:nvSpPr>
        <p:spPr>
          <a:xfrm>
            <a:off x="365760" y="4828032"/>
            <a:ext cx="8412480" cy="201168"/>
          </a:xfrm>
          <a:prstGeom prst="rect">
            <a:avLst/>
          </a:prstGeom>
          <a:noFill/>
          <a:ln/>
        </p:spPr>
        <p:txBody>
          <a:bodyPr wrap="square" rtlCol="0" anchor="ctr"/>
          <a:lstStyle/>
          <a:p>
            <a:pPr marL="0" indent="0" algn="ctr">
              <a:buNone/>
            </a:pPr>
            <a:r>
              <a:rPr lang="en-US" sz="900" i="1" dirty="0">
                <a:solidFill>
                  <a:srgbClr val="9A9590"/>
                </a:solidFill>
                <a:latin typeface="Calibri" pitchFamily="34" charset="0"/>
                <a:ea typeface="Calibri" pitchFamily="34" charset="-122"/>
                <a:cs typeface="Calibri" pitchFamily="34" charset="-120"/>
              </a:rPr>
              <a:t>RQ4 leads directly to two novel contributions: Reflexive Prompt Optimizer (RPO) and Adaptive Cascade →</a:t>
            </a:r>
            <a:endParaRPr lang="en-US" sz="9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3" presetID="10" presetClass="entr" presetSubtype="0" fill="hold" grpId="0" nodeType="clickEffect">
                            <p:stCondLst>
                              <p:cond delay="0"/>
                            </p:stCondLst>
                            <p:childTnLst>
                              <p:animEffect transition="in" filter="fade">
                                <p:cBhvr>
                                  <p:cTn id="50001" dur="350"/>
                                  <p:tgtEl>
                                    <p:spTgt spid="8"/>
                                  </p:tgtEl>
                                </p:cBhvr>
                              </p:animEffect>
                              <p:animEffect transition="in" filter="fade">
                                <p:cBhvr>
                                  <p:cTn id="50002" dur="350"/>
                                  <p:tgtEl>
                                    <p:spTgt spid="9"/>
                                  </p:tgtEl>
                                </p:cBhvr>
                              </p:animEffect>
                            </p:childTnLst>
                          </p:cTn>
                        </p:par>
                      </p:childTnLst>
                    </p:cTn>
                  </p:par>
                  <p:par>
                    <p:cTn id="50100" fill="hold">
                      <p:stCondLst>
                        <p:cond delay="450"/>
                      </p:stCondLst>
                      <p:childTnLst>
                        <p:par>
                          <p:cTn id="50108" presetID="10" presetClass="entr" presetSubtype="0" fill="hold" grpId="1" nodeType="withEffect">
                            <p:stCondLst>
                              <p:cond delay="0"/>
                            </p:stCondLst>
                            <p:childTnLst>
                              <p:animEffect transition="in" filter="fade">
                                <p:cBhvr>
                                  <p:cTn id="50101" dur="350"/>
                                  <p:tgtEl>
                                    <p:spTgt spid="10"/>
                                  </p:tgtEl>
                                </p:cBhvr>
                              </p:animEffect>
                              <p:animEffect transition="in" filter="fade">
                                <p:cBhvr>
                                  <p:cTn id="50102" dur="350"/>
                                  <p:tgtEl>
                                    <p:spTgt spid="11"/>
                                  </p:tgtEl>
                                </p:cBhvr>
                              </p:animEffect>
                              <p:animEffect transition="in" filter="fade">
                                <p:cBhvr>
                                  <p:cTn id="50103" dur="350"/>
                                  <p:tgtEl>
                                    <p:spTgt spid="12"/>
                                  </p:tgtEl>
                                </p:cBhvr>
                              </p:animEffect>
                              <p:animEffect transition="in" filter="fade">
                                <p:cBhvr>
                                  <p:cTn id="50104" dur="350"/>
                                  <p:tgtEl>
                                    <p:spTgt spid="13"/>
                                  </p:tgtEl>
                                </p:cBhvr>
                              </p:animEffect>
                              <p:animEffect transition="in" filter="fade">
                                <p:cBhvr>
                                  <p:cTn id="50105" dur="350"/>
                                  <p:tgtEl>
                                    <p:spTgt spid="14"/>
                                  </p:tgtEl>
                                </p:cBhvr>
                              </p:animEffect>
                              <p:animEffect transition="in" filter="fade">
                                <p:cBhvr>
                                  <p:cTn id="50106" dur="350"/>
                                  <p:tgtEl>
                                    <p:spTgt spid="15"/>
                                  </p:tgtEl>
                                </p:cBhvr>
                              </p:animEffect>
                              <p:animEffect transition="in" filter="fade">
                                <p:cBhvr>
                                  <p:cTn id="50107" dur="350"/>
                                  <p:tgtEl>
                                    <p:spTgt spid="16"/>
                                  </p:tgtEl>
                                </p:cBhvr>
                              </p:animEffect>
                            </p:childTnLst>
                          </p:cTn>
                        </p:par>
                      </p:childTnLst>
                    </p:cTn>
                  </p:par>
                  <p:par>
                    <p:cTn id="50200" fill="hold">
                      <p:stCondLst>
                        <p:cond delay="550"/>
                      </p:stCondLst>
                      <p:childTnLst>
                        <p:par>
                          <p:cTn id="50208" presetID="10" presetClass="entr" presetSubtype="0" fill="hold" grpId="2" nodeType="withEffect">
                            <p:stCondLst>
                              <p:cond delay="0"/>
                            </p:stCondLst>
                            <p:childTnLst>
                              <p:animEffect transition="in" filter="fade">
                                <p:cBhvr>
                                  <p:cTn id="50201" dur="350"/>
                                  <p:tgtEl>
                                    <p:spTgt spid="17"/>
                                  </p:tgtEl>
                                </p:cBhvr>
                              </p:animEffect>
                              <p:animEffect transition="in" filter="fade">
                                <p:cBhvr>
                                  <p:cTn id="50202" dur="350"/>
                                  <p:tgtEl>
                                    <p:spTgt spid="18"/>
                                  </p:tgtEl>
                                </p:cBhvr>
                              </p:animEffect>
                              <p:animEffect transition="in" filter="fade">
                                <p:cBhvr>
                                  <p:cTn id="50203" dur="350"/>
                                  <p:tgtEl>
                                    <p:spTgt spid="19"/>
                                  </p:tgtEl>
                                </p:cBhvr>
                              </p:animEffect>
                              <p:animEffect transition="in" filter="fade">
                                <p:cBhvr>
                                  <p:cTn id="50204" dur="350"/>
                                  <p:tgtEl>
                                    <p:spTgt spid="20"/>
                                  </p:tgtEl>
                                </p:cBhvr>
                              </p:animEffect>
                              <p:animEffect transition="in" filter="fade">
                                <p:cBhvr>
                                  <p:cTn id="50205" dur="350"/>
                                  <p:tgtEl>
                                    <p:spTgt spid="21"/>
                                  </p:tgtEl>
                                </p:cBhvr>
                              </p:animEffect>
                              <p:animEffect transition="in" filter="fade">
                                <p:cBhvr>
                                  <p:cTn id="50206" dur="350"/>
                                  <p:tgtEl>
                                    <p:spTgt spid="22"/>
                                  </p:tgtEl>
                                </p:cBhvr>
                              </p:animEffect>
                              <p:animEffect transition="in" filter="fade">
                                <p:cBhvr>
                                  <p:cTn id="50207" dur="350"/>
                                  <p:tgtEl>
                                    <p:spTgt spid="23"/>
                                  </p:tgtEl>
                                </p:cBhvr>
                              </p:animEffect>
                            </p:childTnLst>
                          </p:cTn>
                        </p:par>
                      </p:childTnLst>
                    </p:cTn>
                  </p:par>
                  <p:par>
                    <p:cTn id="50300" fill="hold">
                      <p:stCondLst>
                        <p:cond delay="650"/>
                      </p:stCondLst>
                      <p:childTnLst>
                        <p:par>
                          <p:cTn id="50308" presetID="10" presetClass="entr" presetSubtype="0" fill="hold" grpId="3" nodeType="withEffect">
                            <p:stCondLst>
                              <p:cond delay="0"/>
                            </p:stCondLst>
                            <p:childTnLst>
                              <p:animEffect transition="in" filter="fade">
                                <p:cBhvr>
                                  <p:cTn id="50301" dur="350"/>
                                  <p:tgtEl>
                                    <p:spTgt spid="24"/>
                                  </p:tgtEl>
                                </p:cBhvr>
                              </p:animEffect>
                              <p:animEffect transition="in" filter="fade">
                                <p:cBhvr>
                                  <p:cTn id="50302" dur="350"/>
                                  <p:tgtEl>
                                    <p:spTgt spid="25"/>
                                  </p:tgtEl>
                                </p:cBhvr>
                              </p:animEffect>
                              <p:animEffect transition="in" filter="fade">
                                <p:cBhvr>
                                  <p:cTn id="50303" dur="350"/>
                                  <p:tgtEl>
                                    <p:spTgt spid="26"/>
                                  </p:tgtEl>
                                </p:cBhvr>
                              </p:animEffect>
                              <p:animEffect transition="in" filter="fade">
                                <p:cBhvr>
                                  <p:cTn id="50304" dur="350"/>
                                  <p:tgtEl>
                                    <p:spTgt spid="27"/>
                                  </p:tgtEl>
                                </p:cBhvr>
                              </p:animEffect>
                              <p:animEffect transition="in" filter="fade">
                                <p:cBhvr>
                                  <p:cTn id="50305" dur="350"/>
                                  <p:tgtEl>
                                    <p:spTgt spid="28"/>
                                  </p:tgtEl>
                                </p:cBhvr>
                              </p:animEffect>
                              <p:animEffect transition="in" filter="fade">
                                <p:cBhvr>
                                  <p:cTn id="50306" dur="350"/>
                                  <p:tgtEl>
                                    <p:spTgt spid="29"/>
                                  </p:tgtEl>
                                </p:cBhvr>
                              </p:animEffect>
                              <p:animEffect transition="in" filter="fade">
                                <p:cBhvr>
                                  <p:cTn id="50307" dur="350"/>
                                  <p:tgtEl>
                                    <p:spTgt spid="30"/>
                                  </p:tgtEl>
                                </p:cBhvr>
                              </p:animEffect>
                            </p:childTnLst>
                          </p:cTn>
                        </p:par>
                      </p:childTnLst>
                    </p:cTn>
                  </p:par>
                  <p:par>
                    <p:cTn id="50400" fill="hold">
                      <p:stCondLst>
                        <p:cond delay="750"/>
                      </p:stCondLst>
                      <p:childTnLst>
                        <p:par>
                          <p:cTn id="50408" presetID="10" presetClass="entr" presetSubtype="0" fill="hold" grpId="4" nodeType="withEffect">
                            <p:stCondLst>
                              <p:cond delay="0"/>
                            </p:stCondLst>
                            <p:childTnLst>
                              <p:animEffect transition="in" filter="fade">
                                <p:cBhvr>
                                  <p:cTn id="50401" dur="350"/>
                                  <p:tgtEl>
                                    <p:spTgt spid="31"/>
                                  </p:tgtEl>
                                </p:cBhvr>
                              </p:animEffect>
                              <p:animEffect transition="in" filter="fade">
                                <p:cBhvr>
                                  <p:cTn id="50402" dur="350"/>
                                  <p:tgtEl>
                                    <p:spTgt spid="32"/>
                                  </p:tgtEl>
                                </p:cBhvr>
                              </p:animEffect>
                              <p:animEffect transition="in" filter="fade">
                                <p:cBhvr>
                                  <p:cTn id="50403" dur="350"/>
                                  <p:tgtEl>
                                    <p:spTgt spid="33"/>
                                  </p:tgtEl>
                                </p:cBhvr>
                              </p:animEffect>
                              <p:animEffect transition="in" filter="fade">
                                <p:cBhvr>
                                  <p:cTn id="50404" dur="350"/>
                                  <p:tgtEl>
                                    <p:spTgt spid="34"/>
                                  </p:tgtEl>
                                </p:cBhvr>
                              </p:animEffect>
                              <p:animEffect transition="in" filter="fade">
                                <p:cBhvr>
                                  <p:cTn id="50405" dur="350"/>
                                  <p:tgtEl>
                                    <p:spTgt spid="35"/>
                                  </p:tgtEl>
                                </p:cBhvr>
                              </p:animEffect>
                              <p:animEffect transition="in" filter="fade">
                                <p:cBhvr>
                                  <p:cTn id="50406" dur="350"/>
                                  <p:tgtEl>
                                    <p:spTgt spid="36"/>
                                  </p:tgtEl>
                                </p:cBhvr>
                              </p:animEffect>
                              <p:animEffect transition="in" filter="fade">
                                <p:cBhvr>
                                  <p:cTn id="50407" dur="350"/>
                                  <p:tgtEl>
                                    <p:spTgt spid="37"/>
                                  </p:tgtEl>
                                </p:cBhvr>
                              </p:animEffect>
                            </p:childTnLst>
                          </p:cTn>
                        </p:par>
                      </p:childTnLst>
                    </p:cTn>
                  </p:par>
                  <p:par>
                    <p:cTn id="50500" fill="hold">
                      <p:stCondLst>
                        <p:cond delay="850"/>
                      </p:stCondLst>
                      <p:childTnLst>
                        <p:par>
                          <p:cTn id="50502" presetID="10" presetClass="entr" presetSubtype="0" fill="hold" grpId="5" nodeType="withEffect">
                            <p:stCondLst>
                              <p:cond delay="0"/>
                            </p:stCondLst>
                            <p:childTnLst>
                              <p:animEffect transition="in" filter="fade">
                                <p:cBhvr>
                                  <p:cTn id="50501" dur="350"/>
                                  <p:tgtEl>
                                    <p:spTgt spid="3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1" animBg="1"/>
      <p:bldP spid="11" grpId="1" animBg="1"/>
      <p:bldP spid="12" grpId="1" animBg="1"/>
      <p:bldP spid="13" grpId="1" animBg="1"/>
      <p:bldP spid="14" grpId="1" animBg="1"/>
      <p:bldP spid="15" grpId="1" animBg="1"/>
      <p:bldP spid="16" grpId="1" animBg="1"/>
      <p:bldP spid="17" grpId="2" animBg="1"/>
      <p:bldP spid="18" grpId="2" animBg="1"/>
      <p:bldP spid="19" grpId="2" animBg="1"/>
      <p:bldP spid="20" grpId="2" animBg="1"/>
      <p:bldP spid="21" grpId="2" animBg="1"/>
      <p:bldP spid="22" grpId="2" animBg="1"/>
      <p:bldP spid="23" grpId="2" animBg="1"/>
      <p:bldP spid="24" grpId="3" animBg="1"/>
      <p:bldP spid="25" grpId="3" animBg="1"/>
      <p:bldP spid="26" grpId="3" animBg="1"/>
      <p:bldP spid="27" grpId="3" animBg="1"/>
      <p:bldP spid="28" grpId="3" animBg="1"/>
      <p:bldP spid="29" grpId="3" animBg="1"/>
      <p:bldP spid="30" grpId="3" animBg="1"/>
      <p:bldP spid="31" grpId="4" animBg="1"/>
      <p:bldP spid="32" grpId="4" animBg="1"/>
      <p:bldP spid="33" grpId="4" animBg="1"/>
      <p:bldP spid="34" grpId="4" animBg="1"/>
      <p:bldP spid="35" grpId="4" animBg="1"/>
      <p:bldP spid="36" grpId="4" animBg="1"/>
      <p:bldP spid="37" grpId="4" animBg="1"/>
      <p:bldP spid="38" grpId="5"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0" y="0"/>
            <a:ext cx="64008" cy="5143500"/>
          </a:xfrm>
          <a:prstGeom prst="rect">
            <a:avLst/>
          </a:prstGeom>
          <a:solidFill>
            <a:srgbClr val="1A6268"/>
          </a:solidFill>
          <a:ln w="12700">
            <a:solidFill>
              <a:srgbClr val="1A6268"/>
            </a:solidFill>
            <a:prstDash val="solid"/>
          </a:ln>
        </p:spPr>
        <p:txBody>
          <a:bodyPr/>
          <a:lstStyle/>
          <a:p>
            <a:endParaRPr lang="en-US"/>
          </a:p>
        </p:txBody>
      </p:sp>
      <p:sp>
        <p:nvSpPr>
          <p:cNvPr id="4" name="Shape 2"/>
          <p:cNvSpPr/>
          <p:nvPr/>
        </p:nvSpPr>
        <p:spPr>
          <a:xfrm>
            <a:off x="2560320" y="731520"/>
            <a:ext cx="4023360" cy="4023360"/>
          </a:xfrm>
          <a:prstGeom prst="ellipse">
            <a:avLst/>
          </a:prstGeom>
          <a:solidFill>
            <a:srgbClr val="1A6268">
              <a:alpha val="7000"/>
            </a:srgbClr>
          </a:solidFill>
          <a:ln w="12700">
            <a:solidFill>
              <a:srgbClr val="F7F5F0"/>
            </a:solidFill>
            <a:prstDash val="solid"/>
          </a:ln>
        </p:spPr>
        <p:txBody>
          <a:bodyPr/>
          <a:lstStyle/>
          <a:p>
            <a:endParaRPr lang="en-US"/>
          </a:p>
        </p:txBody>
      </p:sp>
      <p:sp>
        <p:nvSpPr>
          <p:cNvPr id="5" name="Shape 3"/>
          <p:cNvSpPr/>
          <p:nvPr/>
        </p:nvSpPr>
        <p:spPr>
          <a:xfrm>
            <a:off x="3566160" y="1737360"/>
            <a:ext cx="2011680" cy="2011680"/>
          </a:xfrm>
          <a:prstGeom prst="ellipse">
            <a:avLst/>
          </a:prstGeom>
          <a:solidFill>
            <a:srgbClr val="1A6268">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1A6268"/>
                </a:solidFill>
                <a:latin typeface="Calibri" pitchFamily="34" charset="0"/>
                <a:ea typeface="Calibri" pitchFamily="34" charset="-122"/>
                <a:cs typeface="Calibri" pitchFamily="34" charset="-120"/>
              </a:rPr>
              <a:t>PEEF ARCHITECTURE</a:t>
            </a:r>
            <a:endParaRPr lang="en-US" sz="900" dirty="0"/>
          </a:p>
        </p:txBody>
      </p:sp>
      <p:sp>
        <p:nvSpPr>
          <p:cNvPr id="7" name="Text 5"/>
          <p:cNvSpPr/>
          <p:nvPr/>
        </p:nvSpPr>
        <p:spPr>
          <a:xfrm>
            <a:off x="457200" y="384048"/>
            <a:ext cx="7315200" cy="685800"/>
          </a:xfrm>
          <a:prstGeom prst="rect">
            <a:avLst/>
          </a:prstGeom>
          <a:noFill/>
          <a:ln/>
        </p:spPr>
        <p:txBody>
          <a:bodyPr wrap="square" rtlCol="0" anchor="ctr"/>
          <a:lstStyle/>
          <a:p>
            <a:pPr marL="0" indent="0">
              <a:buNone/>
            </a:pPr>
            <a:r>
              <a:rPr lang="en-US" sz="2600" b="1" dirty="0">
                <a:solidFill>
                  <a:srgbClr val="1A1814"/>
                </a:solidFill>
                <a:latin typeface="Calibri" pitchFamily="34" charset="0"/>
                <a:ea typeface="Calibri" pitchFamily="34" charset="-122"/>
                <a:cs typeface="Calibri" pitchFamily="34" charset="-120"/>
              </a:rPr>
              <a:t>Six Modules. Strict Separation of Concerns.</a:t>
            </a:r>
            <a:endParaRPr lang="en-US" sz="2600" dirty="0"/>
          </a:p>
        </p:txBody>
      </p:sp>
      <p:sp>
        <p:nvSpPr>
          <p:cNvPr id="8" name="Shape 6"/>
          <p:cNvSpPr/>
          <p:nvPr/>
        </p:nvSpPr>
        <p:spPr>
          <a:xfrm>
            <a:off x="256032" y="1170432"/>
            <a:ext cx="2029968" cy="1508760"/>
          </a:xfrm>
          <a:prstGeom prst="roundRect">
            <a:avLst>
              <a:gd name="adj" fmla="val 6061"/>
            </a:avLst>
          </a:prstGeom>
          <a:solidFill>
            <a:srgbClr val="EDEAE3"/>
          </a:solidFill>
          <a:ln w="12700">
            <a:solidFill>
              <a:srgbClr val="2A4875"/>
            </a:solidFill>
            <a:prstDash val="solid"/>
          </a:ln>
        </p:spPr>
        <p:txBody>
          <a:bodyPr/>
          <a:lstStyle/>
          <a:p>
            <a:endParaRPr lang="en-US"/>
          </a:p>
        </p:txBody>
      </p:sp>
      <p:sp>
        <p:nvSpPr>
          <p:cNvPr id="9" name="Shape 7"/>
          <p:cNvSpPr/>
          <p:nvPr/>
        </p:nvSpPr>
        <p:spPr>
          <a:xfrm>
            <a:off x="256032" y="1170432"/>
            <a:ext cx="2029968" cy="41148"/>
          </a:xfrm>
          <a:prstGeom prst="rect">
            <a:avLst/>
          </a:prstGeom>
          <a:solidFill>
            <a:srgbClr val="2A4875"/>
          </a:solidFill>
          <a:ln w="12700">
            <a:solidFill>
              <a:srgbClr val="2A4875"/>
            </a:solidFill>
            <a:prstDash val="solid"/>
          </a:ln>
        </p:spPr>
        <p:txBody>
          <a:bodyPr/>
          <a:lstStyle/>
          <a:p>
            <a:endParaRPr lang="en-US"/>
          </a:p>
        </p:txBody>
      </p:sp>
      <p:sp>
        <p:nvSpPr>
          <p:cNvPr id="10" name="Text 8"/>
          <p:cNvSpPr/>
          <p:nvPr/>
        </p:nvSpPr>
        <p:spPr>
          <a:xfrm>
            <a:off x="384048" y="1261872"/>
            <a:ext cx="502920" cy="182880"/>
          </a:xfrm>
          <a:prstGeom prst="rect">
            <a:avLst/>
          </a:prstGeom>
          <a:noFill/>
          <a:ln/>
        </p:spPr>
        <p:txBody>
          <a:bodyPr wrap="square" rtlCol="0" anchor="ctr"/>
          <a:lstStyle/>
          <a:p>
            <a:pPr marL="0" indent="0">
              <a:buNone/>
            </a:pPr>
            <a:r>
              <a:rPr lang="en-US" sz="800" b="1" dirty="0">
                <a:solidFill>
                  <a:srgbClr val="2A4875"/>
                </a:solidFill>
                <a:latin typeface="Calibri" pitchFamily="34" charset="0"/>
                <a:ea typeface="Calibri" pitchFamily="34" charset="-122"/>
                <a:cs typeface="Calibri" pitchFamily="34" charset="-120"/>
              </a:rPr>
              <a:t>M01</a:t>
            </a:r>
            <a:endParaRPr lang="en-US" sz="800" dirty="0"/>
          </a:p>
        </p:txBody>
      </p:sp>
      <p:sp>
        <p:nvSpPr>
          <p:cNvPr id="11" name="Text 9"/>
          <p:cNvSpPr/>
          <p:nvPr/>
        </p:nvSpPr>
        <p:spPr>
          <a:xfrm>
            <a:off x="384048" y="1481328"/>
            <a:ext cx="1792224"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Prompt Builder</a:t>
            </a:r>
            <a:endParaRPr lang="en-US" sz="1200" dirty="0"/>
          </a:p>
        </p:txBody>
      </p:sp>
      <p:sp>
        <p:nvSpPr>
          <p:cNvPr id="12" name="Text 10"/>
          <p:cNvSpPr/>
          <p:nvPr/>
        </p:nvSpPr>
        <p:spPr>
          <a:xfrm>
            <a:off x="384048" y="1856232"/>
            <a:ext cx="1792224" cy="658368"/>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Jinja2 templates</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per task-technique</a:t>
            </a:r>
            <a:endParaRPr lang="en-US" sz="1000" dirty="0"/>
          </a:p>
        </p:txBody>
      </p:sp>
      <p:sp>
        <p:nvSpPr>
          <p:cNvPr id="13" name="Text 11"/>
          <p:cNvSpPr/>
          <p:nvPr/>
        </p:nvSpPr>
        <p:spPr>
          <a:xfrm>
            <a:off x="2286000" y="1801368"/>
            <a:ext cx="146304" cy="237744"/>
          </a:xfrm>
          <a:prstGeom prst="rect">
            <a:avLst/>
          </a:prstGeom>
          <a:noFill/>
          <a:ln/>
        </p:spPr>
        <p:txBody>
          <a:bodyPr wrap="square" rtlCol="0" anchor="ctr"/>
          <a:lstStyle/>
          <a:p>
            <a:pPr marL="0" indent="0" algn="ctr">
              <a:buNone/>
            </a:pPr>
            <a:r>
              <a:rPr lang="en-US" sz="1100" dirty="0">
                <a:solidFill>
                  <a:srgbClr val="9A9590"/>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2432304" y="1170432"/>
            <a:ext cx="2029968" cy="1508760"/>
          </a:xfrm>
          <a:prstGeom prst="roundRect">
            <a:avLst>
              <a:gd name="adj" fmla="val 6061"/>
            </a:avLst>
          </a:prstGeom>
          <a:solidFill>
            <a:srgbClr val="EDEAE3"/>
          </a:solidFill>
          <a:ln w="12700">
            <a:solidFill>
              <a:srgbClr val="1A6268"/>
            </a:solidFill>
            <a:prstDash val="solid"/>
          </a:ln>
        </p:spPr>
        <p:txBody>
          <a:bodyPr/>
          <a:lstStyle/>
          <a:p>
            <a:endParaRPr lang="en-US"/>
          </a:p>
        </p:txBody>
      </p:sp>
      <p:sp>
        <p:nvSpPr>
          <p:cNvPr id="15" name="Shape 13"/>
          <p:cNvSpPr/>
          <p:nvPr/>
        </p:nvSpPr>
        <p:spPr>
          <a:xfrm>
            <a:off x="2432304" y="1170432"/>
            <a:ext cx="2029968" cy="41148"/>
          </a:xfrm>
          <a:prstGeom prst="rect">
            <a:avLst/>
          </a:prstGeom>
          <a:solidFill>
            <a:srgbClr val="1A6268"/>
          </a:solidFill>
          <a:ln w="12700">
            <a:solidFill>
              <a:srgbClr val="1A6268"/>
            </a:solidFill>
            <a:prstDash val="solid"/>
          </a:ln>
        </p:spPr>
        <p:txBody>
          <a:bodyPr/>
          <a:lstStyle/>
          <a:p>
            <a:endParaRPr lang="en-US"/>
          </a:p>
        </p:txBody>
      </p:sp>
      <p:sp>
        <p:nvSpPr>
          <p:cNvPr id="16" name="Text 14"/>
          <p:cNvSpPr/>
          <p:nvPr/>
        </p:nvSpPr>
        <p:spPr>
          <a:xfrm>
            <a:off x="2560320" y="1261872"/>
            <a:ext cx="502920" cy="182880"/>
          </a:xfrm>
          <a:prstGeom prst="rect">
            <a:avLst/>
          </a:prstGeom>
          <a:noFill/>
          <a:ln/>
        </p:spPr>
        <p:txBody>
          <a:bodyPr wrap="square" rtlCol="0" anchor="ctr"/>
          <a:lstStyle/>
          <a:p>
            <a:pPr marL="0" indent="0">
              <a:buNone/>
            </a:pPr>
            <a:r>
              <a:rPr lang="en-US" sz="800" b="1" dirty="0">
                <a:solidFill>
                  <a:srgbClr val="1A6268"/>
                </a:solidFill>
                <a:latin typeface="Calibri" pitchFamily="34" charset="0"/>
                <a:ea typeface="Calibri" pitchFamily="34" charset="-122"/>
                <a:cs typeface="Calibri" pitchFamily="34" charset="-120"/>
              </a:rPr>
              <a:t>M02</a:t>
            </a:r>
            <a:endParaRPr lang="en-US" sz="800" dirty="0"/>
          </a:p>
        </p:txBody>
      </p:sp>
      <p:sp>
        <p:nvSpPr>
          <p:cNvPr id="17" name="Text 15"/>
          <p:cNvSpPr/>
          <p:nvPr/>
        </p:nvSpPr>
        <p:spPr>
          <a:xfrm>
            <a:off x="2560320" y="1481328"/>
            <a:ext cx="1792224"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Experiment Runner</a:t>
            </a:r>
            <a:endParaRPr lang="en-US" sz="1200" dirty="0"/>
          </a:p>
        </p:txBody>
      </p:sp>
      <p:sp>
        <p:nvSpPr>
          <p:cNvPr id="18" name="Text 16"/>
          <p:cNvSpPr/>
          <p:nvPr/>
        </p:nvSpPr>
        <p:spPr>
          <a:xfrm>
            <a:off x="2560320" y="1856232"/>
            <a:ext cx="1792224" cy="658368"/>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Exp. back-off,</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deduplication cache</a:t>
            </a:r>
            <a:endParaRPr lang="en-US" sz="1000" dirty="0"/>
          </a:p>
        </p:txBody>
      </p:sp>
      <p:sp>
        <p:nvSpPr>
          <p:cNvPr id="19" name="Text 17"/>
          <p:cNvSpPr/>
          <p:nvPr/>
        </p:nvSpPr>
        <p:spPr>
          <a:xfrm>
            <a:off x="4462272" y="1801368"/>
            <a:ext cx="146304" cy="237744"/>
          </a:xfrm>
          <a:prstGeom prst="rect">
            <a:avLst/>
          </a:prstGeom>
          <a:noFill/>
          <a:ln/>
        </p:spPr>
        <p:txBody>
          <a:bodyPr wrap="square" rtlCol="0" anchor="ctr"/>
          <a:lstStyle/>
          <a:p>
            <a:pPr marL="0" indent="0" algn="ctr">
              <a:buNone/>
            </a:pPr>
            <a:r>
              <a:rPr lang="en-US" sz="1100" dirty="0">
                <a:solidFill>
                  <a:srgbClr val="9A9590"/>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4608576" y="1170432"/>
            <a:ext cx="2029968" cy="1508760"/>
          </a:xfrm>
          <a:prstGeom prst="roundRect">
            <a:avLst>
              <a:gd name="adj" fmla="val 6061"/>
            </a:avLst>
          </a:prstGeom>
          <a:solidFill>
            <a:srgbClr val="EDEAE3"/>
          </a:solidFill>
          <a:ln w="12700">
            <a:solidFill>
              <a:srgbClr val="245E3E"/>
            </a:solidFill>
            <a:prstDash val="solid"/>
          </a:ln>
        </p:spPr>
        <p:txBody>
          <a:bodyPr/>
          <a:lstStyle/>
          <a:p>
            <a:endParaRPr lang="en-US"/>
          </a:p>
        </p:txBody>
      </p:sp>
      <p:sp>
        <p:nvSpPr>
          <p:cNvPr id="21" name="Shape 19"/>
          <p:cNvSpPr/>
          <p:nvPr/>
        </p:nvSpPr>
        <p:spPr>
          <a:xfrm>
            <a:off x="4608576" y="1170432"/>
            <a:ext cx="2029968" cy="41148"/>
          </a:xfrm>
          <a:prstGeom prst="rect">
            <a:avLst/>
          </a:prstGeom>
          <a:solidFill>
            <a:srgbClr val="245E3E"/>
          </a:solidFill>
          <a:ln w="12700">
            <a:solidFill>
              <a:srgbClr val="245E3E"/>
            </a:solidFill>
            <a:prstDash val="solid"/>
          </a:ln>
        </p:spPr>
        <p:txBody>
          <a:bodyPr/>
          <a:lstStyle/>
          <a:p>
            <a:endParaRPr lang="en-US"/>
          </a:p>
        </p:txBody>
      </p:sp>
      <p:sp>
        <p:nvSpPr>
          <p:cNvPr id="22" name="Text 20"/>
          <p:cNvSpPr/>
          <p:nvPr/>
        </p:nvSpPr>
        <p:spPr>
          <a:xfrm>
            <a:off x="4736592" y="1261872"/>
            <a:ext cx="502920" cy="182880"/>
          </a:xfrm>
          <a:prstGeom prst="rect">
            <a:avLst/>
          </a:prstGeom>
          <a:noFill/>
          <a:ln/>
        </p:spPr>
        <p:txBody>
          <a:bodyPr wrap="square" rtlCol="0" anchor="ctr"/>
          <a:lstStyle/>
          <a:p>
            <a:pPr marL="0" indent="0">
              <a:buNone/>
            </a:pPr>
            <a:r>
              <a:rPr lang="en-US" sz="800" b="1" dirty="0">
                <a:solidFill>
                  <a:srgbClr val="245E3E"/>
                </a:solidFill>
                <a:latin typeface="Calibri" pitchFamily="34" charset="0"/>
                <a:ea typeface="Calibri" pitchFamily="34" charset="-122"/>
                <a:cs typeface="Calibri" pitchFamily="34" charset="-120"/>
              </a:rPr>
              <a:t>M03</a:t>
            </a:r>
            <a:endParaRPr lang="en-US" sz="800" dirty="0"/>
          </a:p>
        </p:txBody>
      </p:sp>
      <p:sp>
        <p:nvSpPr>
          <p:cNvPr id="23" name="Text 21"/>
          <p:cNvSpPr/>
          <p:nvPr/>
        </p:nvSpPr>
        <p:spPr>
          <a:xfrm>
            <a:off x="4736592" y="1481328"/>
            <a:ext cx="1792224"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Evaluator</a:t>
            </a:r>
            <a:endParaRPr lang="en-US" sz="1200" dirty="0"/>
          </a:p>
        </p:txBody>
      </p:sp>
      <p:sp>
        <p:nvSpPr>
          <p:cNvPr id="24" name="Text 22"/>
          <p:cNvSpPr/>
          <p:nvPr/>
        </p:nvSpPr>
        <p:spPr>
          <a:xfrm>
            <a:off x="4736592" y="1856232"/>
            <a:ext cx="1792224" cy="658368"/>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Exact match,</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ROUGE-L, BERTScore</a:t>
            </a:r>
            <a:endParaRPr lang="en-US" sz="1000" dirty="0"/>
          </a:p>
        </p:txBody>
      </p:sp>
      <p:sp>
        <p:nvSpPr>
          <p:cNvPr id="25" name="Text 23"/>
          <p:cNvSpPr/>
          <p:nvPr/>
        </p:nvSpPr>
        <p:spPr>
          <a:xfrm>
            <a:off x="6638544" y="1801368"/>
            <a:ext cx="146304" cy="237744"/>
          </a:xfrm>
          <a:prstGeom prst="rect">
            <a:avLst/>
          </a:prstGeom>
          <a:noFill/>
          <a:ln/>
        </p:spPr>
        <p:txBody>
          <a:bodyPr wrap="square" rtlCol="0" anchor="ctr"/>
          <a:lstStyle/>
          <a:p>
            <a:pPr marL="0" indent="0" algn="ctr">
              <a:buNone/>
            </a:pPr>
            <a:r>
              <a:rPr lang="en-US" sz="1100" dirty="0">
                <a:solidFill>
                  <a:srgbClr val="9A9590"/>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784848" y="1170432"/>
            <a:ext cx="2029968" cy="1508760"/>
          </a:xfrm>
          <a:prstGeom prst="roundRect">
            <a:avLst>
              <a:gd name="adj" fmla="val 6061"/>
            </a:avLst>
          </a:prstGeom>
          <a:solidFill>
            <a:srgbClr val="EDEAE3"/>
          </a:solidFill>
          <a:ln w="12700">
            <a:solidFill>
              <a:srgbClr val="6E5200"/>
            </a:solidFill>
            <a:prstDash val="solid"/>
          </a:ln>
        </p:spPr>
        <p:txBody>
          <a:bodyPr/>
          <a:lstStyle/>
          <a:p>
            <a:endParaRPr lang="en-US"/>
          </a:p>
        </p:txBody>
      </p:sp>
      <p:sp>
        <p:nvSpPr>
          <p:cNvPr id="27" name="Shape 25"/>
          <p:cNvSpPr/>
          <p:nvPr/>
        </p:nvSpPr>
        <p:spPr>
          <a:xfrm>
            <a:off x="6784848" y="1170432"/>
            <a:ext cx="2029968" cy="41148"/>
          </a:xfrm>
          <a:prstGeom prst="rect">
            <a:avLst/>
          </a:prstGeom>
          <a:solidFill>
            <a:srgbClr val="6E5200"/>
          </a:solidFill>
          <a:ln w="12700">
            <a:solidFill>
              <a:srgbClr val="6E5200"/>
            </a:solidFill>
            <a:prstDash val="solid"/>
          </a:ln>
        </p:spPr>
        <p:txBody>
          <a:bodyPr/>
          <a:lstStyle/>
          <a:p>
            <a:endParaRPr lang="en-US"/>
          </a:p>
        </p:txBody>
      </p:sp>
      <p:sp>
        <p:nvSpPr>
          <p:cNvPr id="28" name="Text 26"/>
          <p:cNvSpPr/>
          <p:nvPr/>
        </p:nvSpPr>
        <p:spPr>
          <a:xfrm>
            <a:off x="6912864" y="1261872"/>
            <a:ext cx="502920" cy="182880"/>
          </a:xfrm>
          <a:prstGeom prst="rect">
            <a:avLst/>
          </a:prstGeom>
          <a:noFill/>
          <a:ln/>
        </p:spPr>
        <p:txBody>
          <a:bodyPr wrap="square" rtlCol="0" anchor="ctr"/>
          <a:lstStyle/>
          <a:p>
            <a:pPr marL="0" indent="0">
              <a:buNone/>
            </a:pPr>
            <a:r>
              <a:rPr lang="en-US" sz="800" b="1" dirty="0">
                <a:solidFill>
                  <a:srgbClr val="6E5200"/>
                </a:solidFill>
                <a:latin typeface="Calibri" pitchFamily="34" charset="0"/>
                <a:ea typeface="Calibri" pitchFamily="34" charset="-122"/>
                <a:cs typeface="Calibri" pitchFamily="34" charset="-120"/>
              </a:rPr>
              <a:t>M04</a:t>
            </a:r>
            <a:endParaRPr lang="en-US" sz="800" dirty="0"/>
          </a:p>
        </p:txBody>
      </p:sp>
      <p:sp>
        <p:nvSpPr>
          <p:cNvPr id="29" name="Text 27"/>
          <p:cNvSpPr/>
          <p:nvPr/>
        </p:nvSpPr>
        <p:spPr>
          <a:xfrm>
            <a:off x="6912864" y="1481328"/>
            <a:ext cx="1792224"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Analysis Engine</a:t>
            </a:r>
            <a:endParaRPr lang="en-US" sz="1200" dirty="0"/>
          </a:p>
        </p:txBody>
      </p:sp>
      <p:sp>
        <p:nvSpPr>
          <p:cNvPr id="30" name="Text 28"/>
          <p:cNvSpPr/>
          <p:nvPr/>
        </p:nvSpPr>
        <p:spPr>
          <a:xfrm>
            <a:off x="6912864" y="1856232"/>
            <a:ext cx="1792224" cy="658368"/>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Wilcoxon tests,</a:t>
            </a:r>
            <a:endParaRPr lang="en-US" sz="1000" dirty="0"/>
          </a:p>
          <a:p>
            <a:pPr marL="0" indent="0">
              <a:buNone/>
            </a:pPr>
            <a:r>
              <a:rPr lang="en-US" sz="1000" dirty="0">
                <a:solidFill>
                  <a:srgbClr val="6E6760"/>
                </a:solidFill>
                <a:latin typeface="Calibri" pitchFamily="34" charset="0"/>
                <a:ea typeface="Calibri" pitchFamily="34" charset="-122"/>
                <a:cs typeface="Calibri" pitchFamily="34" charset="-120"/>
              </a:rPr>
              <a:t>Cohen's d, charts</a:t>
            </a:r>
            <a:endParaRPr lang="en-US" sz="1000" dirty="0"/>
          </a:p>
        </p:txBody>
      </p:sp>
      <p:sp>
        <p:nvSpPr>
          <p:cNvPr id="31" name="Shape 29"/>
          <p:cNvSpPr/>
          <p:nvPr/>
        </p:nvSpPr>
        <p:spPr>
          <a:xfrm>
            <a:off x="4453128" y="2679192"/>
            <a:ext cx="22860" cy="256032"/>
          </a:xfrm>
          <a:prstGeom prst="rect">
            <a:avLst/>
          </a:prstGeom>
          <a:solidFill>
            <a:srgbClr val="CFCABC"/>
          </a:solidFill>
          <a:ln w="12700">
            <a:solidFill>
              <a:srgbClr val="CFCABC"/>
            </a:solidFill>
            <a:prstDash val="solid"/>
          </a:ln>
        </p:spPr>
        <p:txBody>
          <a:bodyPr/>
          <a:lstStyle/>
          <a:p>
            <a:endParaRPr lang="en-US"/>
          </a:p>
        </p:txBody>
      </p:sp>
      <p:sp>
        <p:nvSpPr>
          <p:cNvPr id="32" name="Text 30"/>
          <p:cNvSpPr/>
          <p:nvPr/>
        </p:nvSpPr>
        <p:spPr>
          <a:xfrm>
            <a:off x="4224528" y="2926080"/>
            <a:ext cx="640080" cy="164592"/>
          </a:xfrm>
          <a:prstGeom prst="rect">
            <a:avLst/>
          </a:prstGeom>
          <a:noFill/>
          <a:ln/>
        </p:spPr>
        <p:txBody>
          <a:bodyPr wrap="square" rtlCol="0" anchor="ctr"/>
          <a:lstStyle/>
          <a:p>
            <a:pPr marL="0" indent="0" algn="ctr">
              <a:buNone/>
            </a:pPr>
            <a:r>
              <a:rPr lang="en-US" sz="700" dirty="0">
                <a:solidFill>
                  <a:srgbClr val="9A9590"/>
                </a:solidFill>
                <a:latin typeface="Calibri" pitchFamily="34" charset="0"/>
                <a:ea typeface="Calibri" pitchFamily="34" charset="-122"/>
                <a:cs typeface="Calibri" pitchFamily="34" charset="-120"/>
              </a:rPr>
              <a:t>↓ data flow</a:t>
            </a:r>
            <a:endParaRPr lang="en-US" sz="700" dirty="0"/>
          </a:p>
        </p:txBody>
      </p:sp>
      <p:sp>
        <p:nvSpPr>
          <p:cNvPr id="33" name="Shape 31"/>
          <p:cNvSpPr/>
          <p:nvPr/>
        </p:nvSpPr>
        <p:spPr>
          <a:xfrm>
            <a:off x="1097280" y="3081528"/>
            <a:ext cx="3401568" cy="1783080"/>
          </a:xfrm>
          <a:prstGeom prst="roundRect">
            <a:avLst>
              <a:gd name="adj" fmla="val 7692"/>
            </a:avLst>
          </a:prstGeom>
          <a:solidFill>
            <a:srgbClr val="4A6A9A">
              <a:alpha val="6000"/>
            </a:srgbClr>
          </a:solidFill>
          <a:ln w="12700">
            <a:solidFill>
              <a:srgbClr val="4A6A9A"/>
            </a:solidFill>
            <a:prstDash val="solid"/>
          </a:ln>
        </p:spPr>
        <p:txBody>
          <a:bodyPr/>
          <a:lstStyle/>
          <a:p>
            <a:endParaRPr lang="en-US"/>
          </a:p>
        </p:txBody>
      </p:sp>
      <p:sp>
        <p:nvSpPr>
          <p:cNvPr id="34" name="Shape 32"/>
          <p:cNvSpPr/>
          <p:nvPr/>
        </p:nvSpPr>
        <p:spPr>
          <a:xfrm>
            <a:off x="1143000" y="3127248"/>
            <a:ext cx="3310128" cy="1691640"/>
          </a:xfrm>
          <a:prstGeom prst="roundRect">
            <a:avLst>
              <a:gd name="adj" fmla="val 6486"/>
            </a:avLst>
          </a:prstGeom>
          <a:solidFill>
            <a:srgbClr val="EDEAE3"/>
          </a:solidFill>
          <a:ln w="12700">
            <a:solidFill>
              <a:srgbClr val="4A6A9A"/>
            </a:solidFill>
            <a:prstDash val="solid"/>
          </a:ln>
        </p:spPr>
        <p:txBody>
          <a:bodyPr/>
          <a:lstStyle/>
          <a:p>
            <a:endParaRPr lang="en-US"/>
          </a:p>
        </p:txBody>
      </p:sp>
      <p:sp>
        <p:nvSpPr>
          <p:cNvPr id="35" name="Shape 33"/>
          <p:cNvSpPr/>
          <p:nvPr/>
        </p:nvSpPr>
        <p:spPr>
          <a:xfrm>
            <a:off x="1307592" y="3255264"/>
            <a:ext cx="1645920" cy="219456"/>
          </a:xfrm>
          <a:prstGeom prst="roundRect">
            <a:avLst>
              <a:gd name="adj" fmla="val 41667"/>
            </a:avLst>
          </a:prstGeom>
          <a:solidFill>
            <a:srgbClr val="4A6A9A">
              <a:alpha val="20000"/>
            </a:srgbClr>
          </a:solidFill>
          <a:ln w="12700">
            <a:solidFill>
              <a:srgbClr val="4A6A9A"/>
            </a:solidFill>
            <a:prstDash val="solid"/>
          </a:ln>
        </p:spPr>
        <p:txBody>
          <a:bodyPr/>
          <a:lstStyle/>
          <a:p>
            <a:endParaRPr lang="en-US"/>
          </a:p>
        </p:txBody>
      </p:sp>
      <p:sp>
        <p:nvSpPr>
          <p:cNvPr id="36" name="Text 34"/>
          <p:cNvSpPr/>
          <p:nvPr/>
        </p:nvSpPr>
        <p:spPr>
          <a:xfrm>
            <a:off x="1307592" y="3255264"/>
            <a:ext cx="1645920" cy="219456"/>
          </a:xfrm>
          <a:prstGeom prst="rect">
            <a:avLst/>
          </a:prstGeom>
          <a:noFill/>
          <a:ln/>
        </p:spPr>
        <p:txBody>
          <a:bodyPr wrap="square" rtlCol="0" anchor="ctr"/>
          <a:lstStyle/>
          <a:p>
            <a:pPr marL="0" indent="0" algn="ctr">
              <a:buNone/>
            </a:pPr>
            <a:r>
              <a:rPr lang="en-US" sz="750" b="1" dirty="0">
                <a:solidFill>
                  <a:srgbClr val="4A6A9A"/>
                </a:solidFill>
                <a:latin typeface="Calibri" pitchFamily="34" charset="0"/>
                <a:ea typeface="Calibri" pitchFamily="34" charset="-122"/>
                <a:cs typeface="Calibri" pitchFamily="34" charset="-120"/>
              </a:rPr>
              <a:t>★  NOVEL CONTRIBUTION</a:t>
            </a:r>
            <a:endParaRPr lang="en-US" sz="750" dirty="0"/>
          </a:p>
        </p:txBody>
      </p:sp>
      <p:sp>
        <p:nvSpPr>
          <p:cNvPr id="37" name="Text 35"/>
          <p:cNvSpPr/>
          <p:nvPr/>
        </p:nvSpPr>
        <p:spPr>
          <a:xfrm>
            <a:off x="1307592" y="3547872"/>
            <a:ext cx="2999232" cy="292608"/>
          </a:xfrm>
          <a:prstGeom prst="rect">
            <a:avLst/>
          </a:prstGeom>
          <a:noFill/>
          <a:ln/>
        </p:spPr>
        <p:txBody>
          <a:bodyPr wrap="square" rtlCol="0" anchor="ctr"/>
          <a:lstStyle/>
          <a:p>
            <a:pPr marL="0" indent="0">
              <a:buNone/>
            </a:pPr>
            <a:r>
              <a:rPr lang="en-US" sz="1400" b="1" dirty="0">
                <a:solidFill>
                  <a:srgbClr val="1A1814"/>
                </a:solidFill>
                <a:latin typeface="Calibri" pitchFamily="34" charset="0"/>
                <a:ea typeface="Calibri" pitchFamily="34" charset="-122"/>
                <a:cs typeface="Calibri" pitchFamily="34" charset="-120"/>
              </a:rPr>
              <a:t>M05  RPO ★</a:t>
            </a:r>
            <a:endParaRPr lang="en-US" sz="1400" dirty="0"/>
          </a:p>
        </p:txBody>
      </p:sp>
      <p:sp>
        <p:nvSpPr>
          <p:cNvPr id="38" name="Text 36"/>
          <p:cNvSpPr/>
          <p:nvPr/>
        </p:nvSpPr>
        <p:spPr>
          <a:xfrm>
            <a:off x="1307592" y="3895344"/>
            <a:ext cx="2999232" cy="685800"/>
          </a:xfrm>
          <a:prstGeom prst="rect">
            <a:avLst/>
          </a:prstGeom>
          <a:noFill/>
          <a:ln/>
        </p:spPr>
        <p:txBody>
          <a:bodyPr wrap="square" rtlCol="0" anchor="ctr"/>
          <a:lstStyle/>
          <a:p>
            <a:pPr marL="0" indent="0">
              <a:buNone/>
            </a:pPr>
            <a:r>
              <a:rPr lang="en-US" sz="1100" dirty="0">
                <a:solidFill>
                  <a:srgbClr val="4A6A9A"/>
                </a:solidFill>
                <a:latin typeface="Calibri" pitchFamily="34" charset="0"/>
                <a:ea typeface="Calibri" pitchFamily="34" charset="-122"/>
                <a:cs typeface="Calibri" pitchFamily="34" charset="-120"/>
              </a:rPr>
              <a:t>Reflexive Prompt</a:t>
            </a:r>
            <a:endParaRPr lang="en-US" sz="1100" dirty="0"/>
          </a:p>
          <a:p>
            <a:pPr marL="0" indent="0">
              <a:buNone/>
            </a:pPr>
            <a:r>
              <a:rPr lang="en-US" sz="1100" dirty="0">
                <a:solidFill>
                  <a:srgbClr val="4A6A9A"/>
                </a:solidFill>
                <a:latin typeface="Calibri" pitchFamily="34" charset="0"/>
                <a:ea typeface="Calibri" pitchFamily="34" charset="-122"/>
                <a:cs typeface="Calibri" pitchFamily="34" charset="-120"/>
              </a:rPr>
              <a:t>Optimizer -novel</a:t>
            </a:r>
            <a:endParaRPr lang="en-US" sz="1100" dirty="0"/>
          </a:p>
        </p:txBody>
      </p:sp>
      <p:sp>
        <p:nvSpPr>
          <p:cNvPr id="39" name="Shape 37"/>
          <p:cNvSpPr/>
          <p:nvPr/>
        </p:nvSpPr>
        <p:spPr>
          <a:xfrm>
            <a:off x="5303520" y="3081528"/>
            <a:ext cx="3401568" cy="1783080"/>
          </a:xfrm>
          <a:prstGeom prst="roundRect">
            <a:avLst>
              <a:gd name="adj" fmla="val 7692"/>
            </a:avLst>
          </a:prstGeom>
          <a:solidFill>
            <a:srgbClr val="4A6A9A">
              <a:alpha val="6000"/>
            </a:srgbClr>
          </a:solidFill>
          <a:ln w="12700">
            <a:solidFill>
              <a:srgbClr val="4A6A9A"/>
            </a:solidFill>
            <a:prstDash val="solid"/>
          </a:ln>
        </p:spPr>
        <p:txBody>
          <a:bodyPr/>
          <a:lstStyle/>
          <a:p>
            <a:endParaRPr lang="en-US"/>
          </a:p>
        </p:txBody>
      </p:sp>
      <p:sp>
        <p:nvSpPr>
          <p:cNvPr id="40" name="Shape 38"/>
          <p:cNvSpPr/>
          <p:nvPr/>
        </p:nvSpPr>
        <p:spPr>
          <a:xfrm>
            <a:off x="5349240" y="3127248"/>
            <a:ext cx="3310128" cy="1691640"/>
          </a:xfrm>
          <a:prstGeom prst="roundRect">
            <a:avLst>
              <a:gd name="adj" fmla="val 6486"/>
            </a:avLst>
          </a:prstGeom>
          <a:solidFill>
            <a:srgbClr val="EDEAE3"/>
          </a:solidFill>
          <a:ln w="12700">
            <a:solidFill>
              <a:srgbClr val="4A6A9A"/>
            </a:solidFill>
            <a:prstDash val="solid"/>
          </a:ln>
        </p:spPr>
        <p:txBody>
          <a:bodyPr/>
          <a:lstStyle/>
          <a:p>
            <a:endParaRPr lang="en-US"/>
          </a:p>
        </p:txBody>
      </p:sp>
      <p:sp>
        <p:nvSpPr>
          <p:cNvPr id="41" name="Shape 39"/>
          <p:cNvSpPr/>
          <p:nvPr/>
        </p:nvSpPr>
        <p:spPr>
          <a:xfrm>
            <a:off x="5513832" y="3255264"/>
            <a:ext cx="1645920" cy="219456"/>
          </a:xfrm>
          <a:prstGeom prst="roundRect">
            <a:avLst>
              <a:gd name="adj" fmla="val 41667"/>
            </a:avLst>
          </a:prstGeom>
          <a:solidFill>
            <a:srgbClr val="4A6A9A">
              <a:alpha val="20000"/>
            </a:srgbClr>
          </a:solidFill>
          <a:ln w="12700">
            <a:solidFill>
              <a:srgbClr val="4A6A9A"/>
            </a:solidFill>
            <a:prstDash val="solid"/>
          </a:ln>
        </p:spPr>
        <p:txBody>
          <a:bodyPr/>
          <a:lstStyle/>
          <a:p>
            <a:endParaRPr lang="en-US"/>
          </a:p>
        </p:txBody>
      </p:sp>
      <p:sp>
        <p:nvSpPr>
          <p:cNvPr id="42" name="Text 40"/>
          <p:cNvSpPr/>
          <p:nvPr/>
        </p:nvSpPr>
        <p:spPr>
          <a:xfrm>
            <a:off x="5513832" y="3255264"/>
            <a:ext cx="1645920" cy="219456"/>
          </a:xfrm>
          <a:prstGeom prst="rect">
            <a:avLst/>
          </a:prstGeom>
          <a:noFill/>
          <a:ln/>
        </p:spPr>
        <p:txBody>
          <a:bodyPr wrap="square" rtlCol="0" anchor="ctr"/>
          <a:lstStyle/>
          <a:p>
            <a:pPr marL="0" indent="0" algn="ctr">
              <a:buNone/>
            </a:pPr>
            <a:r>
              <a:rPr lang="en-US" sz="750" b="1" dirty="0">
                <a:solidFill>
                  <a:srgbClr val="4A6A9A"/>
                </a:solidFill>
                <a:latin typeface="Calibri" pitchFamily="34" charset="0"/>
                <a:ea typeface="Calibri" pitchFamily="34" charset="-122"/>
                <a:cs typeface="Calibri" pitchFamily="34" charset="-120"/>
              </a:rPr>
              <a:t>★  NOVEL CONTRIBUTION</a:t>
            </a:r>
            <a:endParaRPr lang="en-US" sz="750" dirty="0"/>
          </a:p>
        </p:txBody>
      </p:sp>
      <p:sp>
        <p:nvSpPr>
          <p:cNvPr id="43" name="Text 41"/>
          <p:cNvSpPr/>
          <p:nvPr/>
        </p:nvSpPr>
        <p:spPr>
          <a:xfrm>
            <a:off x="5513832" y="3547872"/>
            <a:ext cx="2999232" cy="292608"/>
          </a:xfrm>
          <a:prstGeom prst="rect">
            <a:avLst/>
          </a:prstGeom>
          <a:noFill/>
          <a:ln/>
        </p:spPr>
        <p:txBody>
          <a:bodyPr wrap="square" rtlCol="0" anchor="ctr"/>
          <a:lstStyle/>
          <a:p>
            <a:pPr marL="0" indent="0">
              <a:buNone/>
            </a:pPr>
            <a:r>
              <a:rPr lang="en-US" sz="1400" b="1" dirty="0">
                <a:solidFill>
                  <a:srgbClr val="1A1814"/>
                </a:solidFill>
                <a:latin typeface="Calibri" pitchFamily="34" charset="0"/>
                <a:ea typeface="Calibri" pitchFamily="34" charset="-122"/>
                <a:cs typeface="Calibri" pitchFamily="34" charset="-120"/>
              </a:rPr>
              <a:t>M06  Adaptive Cascade ★</a:t>
            </a:r>
            <a:endParaRPr lang="en-US" sz="1400" dirty="0"/>
          </a:p>
        </p:txBody>
      </p:sp>
      <p:sp>
        <p:nvSpPr>
          <p:cNvPr id="44" name="Text 42"/>
          <p:cNvSpPr/>
          <p:nvPr/>
        </p:nvSpPr>
        <p:spPr>
          <a:xfrm>
            <a:off x="5513832" y="3895344"/>
            <a:ext cx="2999232" cy="685800"/>
          </a:xfrm>
          <a:prstGeom prst="rect">
            <a:avLst/>
          </a:prstGeom>
          <a:noFill/>
          <a:ln/>
        </p:spPr>
        <p:txBody>
          <a:bodyPr wrap="square" rtlCol="0" anchor="ctr"/>
          <a:lstStyle/>
          <a:p>
            <a:pPr marL="0" indent="0">
              <a:buNone/>
            </a:pPr>
            <a:r>
              <a:rPr lang="en-US" sz="1100" dirty="0">
                <a:solidFill>
                  <a:srgbClr val="4A6A9A"/>
                </a:solidFill>
                <a:latin typeface="Calibri" pitchFamily="34" charset="0"/>
                <a:ea typeface="Calibri" pitchFamily="34" charset="-122"/>
                <a:cs typeface="Calibri" pitchFamily="34" charset="-120"/>
              </a:rPr>
              <a:t>Confidence-based</a:t>
            </a:r>
            <a:endParaRPr lang="en-US" sz="1100" dirty="0"/>
          </a:p>
          <a:p>
            <a:pPr marL="0" indent="0">
              <a:buNone/>
            </a:pPr>
            <a:r>
              <a:rPr lang="en-US" sz="1100" dirty="0">
                <a:solidFill>
                  <a:srgbClr val="4A6A9A"/>
                </a:solidFill>
                <a:latin typeface="Calibri" pitchFamily="34" charset="0"/>
                <a:ea typeface="Calibri" pitchFamily="34" charset="-122"/>
                <a:cs typeface="Calibri" pitchFamily="34" charset="-120"/>
              </a:rPr>
              <a:t>tier routing -novel</a:t>
            </a:r>
            <a:endParaRPr lang="en-US" sz="1100" dirty="0"/>
          </a:p>
        </p:txBody>
      </p:sp>
      <p:sp>
        <p:nvSpPr>
          <p:cNvPr id="45" name="Text 43"/>
          <p:cNvSpPr/>
          <p:nvPr/>
        </p:nvSpPr>
        <p:spPr>
          <a:xfrm>
            <a:off x="274320" y="4901184"/>
            <a:ext cx="8595360" cy="182880"/>
          </a:xfrm>
          <a:prstGeom prst="rect">
            <a:avLst/>
          </a:prstGeom>
          <a:noFill/>
          <a:ln/>
        </p:spPr>
        <p:txBody>
          <a:bodyPr wrap="square" rtlCol="0" anchor="ctr"/>
          <a:lstStyle/>
          <a:p>
            <a:pPr marL="0" indent="0" algn="ctr">
              <a:buNone/>
            </a:pPr>
            <a:r>
              <a:rPr lang="en-US" sz="850" i="1" dirty="0">
                <a:solidFill>
                  <a:srgbClr val="9A9590"/>
                </a:solidFill>
                <a:latin typeface="Calibri" pitchFamily="34" charset="0"/>
                <a:ea typeface="Calibri" pitchFamily="34" charset="-122"/>
                <a:cs typeface="Calibri" pitchFamily="34" charset="-120"/>
              </a:rPr>
              <a:t>~14,900 API calls  ·  ~$12.67 total  ·  Results persisted after every single call</a:t>
            </a:r>
            <a:endParaRPr lang="en-US" sz="85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11" presetID="10" presetClass="entr" presetSubtype="0" fill="hold" grpId="0" nodeType="clickEffect">
                            <p:stCondLst>
                              <p:cond delay="0"/>
                            </p:stCondLst>
                            <p:childTnLst>
                              <p:animEffect transition="in" filter="fade">
                                <p:cBhvr>
                                  <p:cTn id="50001" dur="350"/>
                                  <p:tgtEl>
                                    <p:spTgt spid="45"/>
                                  </p:tgtEl>
                                </p:cBhvr>
                              </p:animEffect>
                              <p:animEffect transition="in" filter="fade">
                                <p:cBhvr>
                                  <p:cTn id="50002" dur="350"/>
                                  <p:tgtEl>
                                    <p:spTgt spid="6"/>
                                  </p:tgtEl>
                                </p:cBhvr>
                              </p:animEffect>
                              <p:animEffect transition="in" filter="fade">
                                <p:cBhvr>
                                  <p:cTn id="50003" dur="350"/>
                                  <p:tgtEl>
                                    <p:spTgt spid="7"/>
                                  </p:tgtEl>
                                </p:cBhvr>
                              </p:animEffect>
                              <p:animEffect transition="in" filter="fade">
                                <p:cBhvr>
                                  <p:cTn id="50004" dur="350"/>
                                  <p:tgtEl>
                                    <p:spTgt spid="13"/>
                                  </p:tgtEl>
                                </p:cBhvr>
                              </p:animEffect>
                              <p:animEffect transition="in" filter="fade">
                                <p:cBhvr>
                                  <p:cTn id="50005" dur="350"/>
                                  <p:tgtEl>
                                    <p:spTgt spid="4"/>
                                  </p:tgtEl>
                                </p:cBhvr>
                              </p:animEffect>
                              <p:animEffect transition="in" filter="fade">
                                <p:cBhvr>
                                  <p:cTn id="50006" dur="350"/>
                                  <p:tgtEl>
                                    <p:spTgt spid="5"/>
                                  </p:tgtEl>
                                </p:cBhvr>
                              </p:animEffect>
                              <p:animEffect transition="in" filter="fade">
                                <p:cBhvr>
                                  <p:cTn id="50007" dur="350"/>
                                  <p:tgtEl>
                                    <p:spTgt spid="32"/>
                                  </p:tgtEl>
                                </p:cBhvr>
                              </p:animEffect>
                              <p:animEffect transition="in" filter="fade">
                                <p:cBhvr>
                                  <p:cTn id="50008" dur="350"/>
                                  <p:tgtEl>
                                    <p:spTgt spid="31"/>
                                  </p:tgtEl>
                                </p:cBhvr>
                              </p:animEffect>
                              <p:animEffect transition="in" filter="fade">
                                <p:cBhvr>
                                  <p:cTn id="50009" dur="350"/>
                                  <p:tgtEl>
                                    <p:spTgt spid="19"/>
                                  </p:tgtEl>
                                </p:cBhvr>
                              </p:animEffect>
                              <p:animEffect transition="in" filter="fade">
                                <p:cBhvr>
                                  <p:cTn id="50010" dur="350"/>
                                  <p:tgtEl>
                                    <p:spTgt spid="25"/>
                                  </p:tgtEl>
                                </p:cBhvr>
                              </p:animEffect>
                            </p:childTnLst>
                          </p:cTn>
                        </p:par>
                      </p:childTnLst>
                    </p:cTn>
                  </p:par>
                  <p:par>
                    <p:cTn id="50100" fill="hold">
                      <p:stCondLst>
                        <p:cond delay="450"/>
                      </p:stCondLst>
                      <p:childTnLst>
                        <p:par>
                          <p:cTn id="50106" presetID="10" presetClass="entr" presetSubtype="0" fill="hold" grpId="1" nodeType="withEffect">
                            <p:stCondLst>
                              <p:cond delay="0"/>
                            </p:stCondLst>
                            <p:childTnLst>
                              <p:animEffect transition="in" filter="fade">
                                <p:cBhvr>
                                  <p:cTn id="50101" dur="350"/>
                                  <p:tgtEl>
                                    <p:spTgt spid="8"/>
                                  </p:tgtEl>
                                </p:cBhvr>
                              </p:animEffect>
                              <p:animEffect transition="in" filter="fade">
                                <p:cBhvr>
                                  <p:cTn id="50102" dur="350"/>
                                  <p:tgtEl>
                                    <p:spTgt spid="9"/>
                                  </p:tgtEl>
                                </p:cBhvr>
                              </p:animEffect>
                              <p:animEffect transition="in" filter="fade">
                                <p:cBhvr>
                                  <p:cTn id="50103" dur="350"/>
                                  <p:tgtEl>
                                    <p:spTgt spid="10"/>
                                  </p:tgtEl>
                                </p:cBhvr>
                              </p:animEffect>
                              <p:animEffect transition="in" filter="fade">
                                <p:cBhvr>
                                  <p:cTn id="50104" dur="350"/>
                                  <p:tgtEl>
                                    <p:spTgt spid="11"/>
                                  </p:tgtEl>
                                </p:cBhvr>
                              </p:animEffect>
                              <p:animEffect transition="in" filter="fade">
                                <p:cBhvr>
                                  <p:cTn id="50105" dur="350"/>
                                  <p:tgtEl>
                                    <p:spTgt spid="12"/>
                                  </p:tgtEl>
                                </p:cBhvr>
                              </p:animEffect>
                            </p:childTnLst>
                          </p:cTn>
                        </p:par>
                      </p:childTnLst>
                    </p:cTn>
                  </p:par>
                  <p:par>
                    <p:cTn id="50200" fill="hold">
                      <p:stCondLst>
                        <p:cond delay="550"/>
                      </p:stCondLst>
                      <p:childTnLst>
                        <p:par>
                          <p:cTn id="50206" presetID="10" presetClass="entr" presetSubtype="0" fill="hold" grpId="2" nodeType="withEffect">
                            <p:stCondLst>
                              <p:cond delay="0"/>
                            </p:stCondLst>
                            <p:childTnLst>
                              <p:animEffect transition="in" filter="fade">
                                <p:cBhvr>
                                  <p:cTn id="50201" dur="350"/>
                                  <p:tgtEl>
                                    <p:spTgt spid="14"/>
                                  </p:tgtEl>
                                </p:cBhvr>
                              </p:animEffect>
                              <p:animEffect transition="in" filter="fade">
                                <p:cBhvr>
                                  <p:cTn id="50202" dur="350"/>
                                  <p:tgtEl>
                                    <p:spTgt spid="15"/>
                                  </p:tgtEl>
                                </p:cBhvr>
                              </p:animEffect>
                              <p:animEffect transition="in" filter="fade">
                                <p:cBhvr>
                                  <p:cTn id="50203" dur="350"/>
                                  <p:tgtEl>
                                    <p:spTgt spid="16"/>
                                  </p:tgtEl>
                                </p:cBhvr>
                              </p:animEffect>
                              <p:animEffect transition="in" filter="fade">
                                <p:cBhvr>
                                  <p:cTn id="50204" dur="350"/>
                                  <p:tgtEl>
                                    <p:spTgt spid="17"/>
                                  </p:tgtEl>
                                </p:cBhvr>
                              </p:animEffect>
                              <p:animEffect transition="in" filter="fade">
                                <p:cBhvr>
                                  <p:cTn id="50205" dur="350"/>
                                  <p:tgtEl>
                                    <p:spTgt spid="18"/>
                                  </p:tgtEl>
                                </p:cBhvr>
                              </p:animEffect>
                            </p:childTnLst>
                          </p:cTn>
                        </p:par>
                      </p:childTnLst>
                    </p:cTn>
                  </p:par>
                  <p:par>
                    <p:cTn id="50300" fill="hold">
                      <p:stCondLst>
                        <p:cond delay="650"/>
                      </p:stCondLst>
                      <p:childTnLst>
                        <p:par>
                          <p:cTn id="50306" presetID="10" presetClass="entr" presetSubtype="0" fill="hold" grpId="3" nodeType="withEffect">
                            <p:stCondLst>
                              <p:cond delay="0"/>
                            </p:stCondLst>
                            <p:childTnLst>
                              <p:animEffect transition="in" filter="fade">
                                <p:cBhvr>
                                  <p:cTn id="50301" dur="350"/>
                                  <p:tgtEl>
                                    <p:spTgt spid="20"/>
                                  </p:tgtEl>
                                </p:cBhvr>
                              </p:animEffect>
                              <p:animEffect transition="in" filter="fade">
                                <p:cBhvr>
                                  <p:cTn id="50302" dur="350"/>
                                  <p:tgtEl>
                                    <p:spTgt spid="21"/>
                                  </p:tgtEl>
                                </p:cBhvr>
                              </p:animEffect>
                              <p:animEffect transition="in" filter="fade">
                                <p:cBhvr>
                                  <p:cTn id="50303" dur="350"/>
                                  <p:tgtEl>
                                    <p:spTgt spid="22"/>
                                  </p:tgtEl>
                                </p:cBhvr>
                              </p:animEffect>
                              <p:animEffect transition="in" filter="fade">
                                <p:cBhvr>
                                  <p:cTn id="50304" dur="350"/>
                                  <p:tgtEl>
                                    <p:spTgt spid="23"/>
                                  </p:tgtEl>
                                </p:cBhvr>
                              </p:animEffect>
                              <p:animEffect transition="in" filter="fade">
                                <p:cBhvr>
                                  <p:cTn id="50305" dur="350"/>
                                  <p:tgtEl>
                                    <p:spTgt spid="24"/>
                                  </p:tgtEl>
                                </p:cBhvr>
                              </p:animEffect>
                            </p:childTnLst>
                          </p:cTn>
                        </p:par>
                      </p:childTnLst>
                    </p:cTn>
                  </p:par>
                  <p:par>
                    <p:cTn id="50400" fill="hold">
                      <p:stCondLst>
                        <p:cond delay="750"/>
                      </p:stCondLst>
                      <p:childTnLst>
                        <p:par>
                          <p:cTn id="50406" presetID="10" presetClass="entr" presetSubtype="0" fill="hold" grpId="4" nodeType="withEffect">
                            <p:stCondLst>
                              <p:cond delay="0"/>
                            </p:stCondLst>
                            <p:childTnLst>
                              <p:animEffect transition="in" filter="fade">
                                <p:cBhvr>
                                  <p:cTn id="50401" dur="350"/>
                                  <p:tgtEl>
                                    <p:spTgt spid="26"/>
                                  </p:tgtEl>
                                </p:cBhvr>
                              </p:animEffect>
                              <p:animEffect transition="in" filter="fade">
                                <p:cBhvr>
                                  <p:cTn id="50402" dur="350"/>
                                  <p:tgtEl>
                                    <p:spTgt spid="27"/>
                                  </p:tgtEl>
                                </p:cBhvr>
                              </p:animEffect>
                              <p:animEffect transition="in" filter="fade">
                                <p:cBhvr>
                                  <p:cTn id="50403" dur="350"/>
                                  <p:tgtEl>
                                    <p:spTgt spid="28"/>
                                  </p:tgtEl>
                                </p:cBhvr>
                              </p:animEffect>
                              <p:animEffect transition="in" filter="fade">
                                <p:cBhvr>
                                  <p:cTn id="50404" dur="350"/>
                                  <p:tgtEl>
                                    <p:spTgt spid="29"/>
                                  </p:tgtEl>
                                </p:cBhvr>
                              </p:animEffect>
                              <p:animEffect transition="in" filter="fade">
                                <p:cBhvr>
                                  <p:cTn id="50405" dur="350"/>
                                  <p:tgtEl>
                                    <p:spTgt spid="30"/>
                                  </p:tgtEl>
                                </p:cBhvr>
                              </p:animEffect>
                            </p:childTnLst>
                          </p:cTn>
                        </p:par>
                      </p:childTnLst>
                    </p:cTn>
                  </p:par>
                  <p:par>
                    <p:cTn id="50500" fill="hold">
                      <p:stCondLst>
                        <p:cond delay="850"/>
                      </p:stCondLst>
                      <p:childTnLst>
                        <p:par>
                          <p:cTn id="50507" presetID="10" presetClass="entr" presetSubtype="0" fill="hold" grpId="5" nodeType="withEffect">
                            <p:stCondLst>
                              <p:cond delay="0"/>
                            </p:stCondLst>
                            <p:childTnLst>
                              <p:animEffect transition="in" filter="fade">
                                <p:cBhvr>
                                  <p:cTn id="50501" dur="350"/>
                                  <p:tgtEl>
                                    <p:spTgt spid="33"/>
                                  </p:tgtEl>
                                </p:cBhvr>
                              </p:animEffect>
                              <p:animEffect transition="in" filter="fade">
                                <p:cBhvr>
                                  <p:cTn id="50502" dur="350"/>
                                  <p:tgtEl>
                                    <p:spTgt spid="34"/>
                                  </p:tgtEl>
                                </p:cBhvr>
                              </p:animEffect>
                              <p:animEffect transition="in" filter="fade">
                                <p:cBhvr>
                                  <p:cTn id="50503" dur="350"/>
                                  <p:tgtEl>
                                    <p:spTgt spid="35"/>
                                  </p:tgtEl>
                                </p:cBhvr>
                              </p:animEffect>
                              <p:animEffect transition="in" filter="fade">
                                <p:cBhvr>
                                  <p:cTn id="50504" dur="350"/>
                                  <p:tgtEl>
                                    <p:spTgt spid="36"/>
                                  </p:tgtEl>
                                </p:cBhvr>
                              </p:animEffect>
                              <p:animEffect transition="in" filter="fade">
                                <p:cBhvr>
                                  <p:cTn id="50505" dur="350"/>
                                  <p:tgtEl>
                                    <p:spTgt spid="37"/>
                                  </p:tgtEl>
                                </p:cBhvr>
                              </p:animEffect>
                              <p:animEffect transition="in" filter="fade">
                                <p:cBhvr>
                                  <p:cTn id="50506" dur="350"/>
                                  <p:tgtEl>
                                    <p:spTgt spid="38"/>
                                  </p:tgtEl>
                                </p:cBhvr>
                              </p:animEffect>
                            </p:childTnLst>
                          </p:cTn>
                        </p:par>
                      </p:childTnLst>
                    </p:cTn>
                  </p:par>
                  <p:par>
                    <p:cTn id="50600" fill="hold">
                      <p:stCondLst>
                        <p:cond delay="950"/>
                      </p:stCondLst>
                      <p:childTnLst>
                        <p:par>
                          <p:cTn id="50607" presetID="10" presetClass="entr" presetSubtype="0" fill="hold" grpId="6" nodeType="withEffect">
                            <p:stCondLst>
                              <p:cond delay="0"/>
                            </p:stCondLst>
                            <p:childTnLst>
                              <p:animEffect transition="in" filter="fade">
                                <p:cBhvr>
                                  <p:cTn id="50601" dur="350"/>
                                  <p:tgtEl>
                                    <p:spTgt spid="39"/>
                                  </p:tgtEl>
                                </p:cBhvr>
                              </p:animEffect>
                              <p:animEffect transition="in" filter="fade">
                                <p:cBhvr>
                                  <p:cTn id="50602" dur="350"/>
                                  <p:tgtEl>
                                    <p:spTgt spid="40"/>
                                  </p:tgtEl>
                                </p:cBhvr>
                              </p:animEffect>
                              <p:animEffect transition="in" filter="fade">
                                <p:cBhvr>
                                  <p:cTn id="50603" dur="350"/>
                                  <p:tgtEl>
                                    <p:spTgt spid="41"/>
                                  </p:tgtEl>
                                </p:cBhvr>
                              </p:animEffect>
                              <p:animEffect transition="in" filter="fade">
                                <p:cBhvr>
                                  <p:cTn id="50604" dur="350"/>
                                  <p:tgtEl>
                                    <p:spTgt spid="42"/>
                                  </p:tgtEl>
                                </p:cBhvr>
                              </p:animEffect>
                              <p:animEffect transition="in" filter="fade">
                                <p:cBhvr>
                                  <p:cTn id="50605" dur="350"/>
                                  <p:tgtEl>
                                    <p:spTgt spid="43"/>
                                  </p:tgtEl>
                                </p:cBhvr>
                              </p:animEffect>
                              <p:animEffect transition="in" filter="fade">
                                <p:cBhvr>
                                  <p:cTn id="50606" dur="350"/>
                                  <p:tgtEl>
                                    <p:spTgt spid="4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6" grpId="0" animBg="1"/>
      <p:bldP spid="7" grpId="0" animBg="1"/>
      <p:bldP spid="13" grpId="0" animBg="1"/>
      <p:bldP spid="4" grpId="0" animBg="1"/>
      <p:bldP spid="5" grpId="0" animBg="1"/>
      <p:bldP spid="32" grpId="0" animBg="1"/>
      <p:bldP spid="31" grpId="0" animBg="1"/>
      <p:bldP spid="19" grpId="0" animBg="1"/>
      <p:bldP spid="25" grpId="0" animBg="1"/>
      <p:bldP spid="8" grpId="1" animBg="1"/>
      <p:bldP spid="9" grpId="1" animBg="1"/>
      <p:bldP spid="10" grpId="1" animBg="1"/>
      <p:bldP spid="11" grpId="1" animBg="1"/>
      <p:bldP spid="12" grpId="1" animBg="1"/>
      <p:bldP spid="14" grpId="2" animBg="1"/>
      <p:bldP spid="15" grpId="2" animBg="1"/>
      <p:bldP spid="16" grpId="2" animBg="1"/>
      <p:bldP spid="17" grpId="2" animBg="1"/>
      <p:bldP spid="18" grpId="2" animBg="1"/>
      <p:bldP spid="20" grpId="3" animBg="1"/>
      <p:bldP spid="21" grpId="3" animBg="1"/>
      <p:bldP spid="22" grpId="3" animBg="1"/>
      <p:bldP spid="23" grpId="3" animBg="1"/>
      <p:bldP spid="24" grpId="3" animBg="1"/>
      <p:bldP spid="26" grpId="4" animBg="1"/>
      <p:bldP spid="27" grpId="4" animBg="1"/>
      <p:bldP spid="28" grpId="4" animBg="1"/>
      <p:bldP spid="29" grpId="4" animBg="1"/>
      <p:bldP spid="30" grpId="4" animBg="1"/>
      <p:bldP spid="33" grpId="5" animBg="1"/>
      <p:bldP spid="34" grpId="5" animBg="1"/>
      <p:bldP spid="35" grpId="5" animBg="1"/>
      <p:bldP spid="36" grpId="5" animBg="1"/>
      <p:bldP spid="37" grpId="5" animBg="1"/>
      <p:bldP spid="38" grpId="5" animBg="1"/>
      <p:bldP spid="39" grpId="6" animBg="1"/>
      <p:bldP spid="40" grpId="6" animBg="1"/>
      <p:bldP spid="41" grpId="6" animBg="1"/>
      <p:bldP spid="42" grpId="6" animBg="1"/>
      <p:bldP spid="43" grpId="6" animBg="1"/>
      <p:bldP spid="44" grpId="6"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0" y="0"/>
            <a:ext cx="64008" cy="5143500"/>
          </a:xfrm>
          <a:prstGeom prst="rect">
            <a:avLst/>
          </a:prstGeom>
          <a:solidFill>
            <a:srgbClr val="245E3E"/>
          </a:solidFill>
          <a:ln w="12700">
            <a:solidFill>
              <a:srgbClr val="245E3E"/>
            </a:solidFill>
            <a:prstDash val="solid"/>
          </a:ln>
        </p:spPr>
        <p:txBody>
          <a:bodyPr/>
          <a:lstStyle/>
          <a:p>
            <a:endParaRPr lang="en-US"/>
          </a:p>
        </p:txBody>
      </p:sp>
      <p:sp>
        <p:nvSpPr>
          <p:cNvPr id="4" name="Shape 2"/>
          <p:cNvSpPr/>
          <p:nvPr/>
        </p:nvSpPr>
        <p:spPr>
          <a:xfrm>
            <a:off x="2743200" y="3200400"/>
            <a:ext cx="3657600" cy="3657600"/>
          </a:xfrm>
          <a:prstGeom prst="ellipse">
            <a:avLst/>
          </a:prstGeom>
          <a:solidFill>
            <a:srgbClr val="245E3E">
              <a:alpha val="7000"/>
            </a:srgbClr>
          </a:solidFill>
          <a:ln w="12700">
            <a:solidFill>
              <a:srgbClr val="F7F5F0"/>
            </a:solidFill>
            <a:prstDash val="solid"/>
          </a:ln>
        </p:spPr>
        <p:txBody>
          <a:bodyPr/>
          <a:lstStyle/>
          <a:p>
            <a:endParaRPr lang="en-US"/>
          </a:p>
        </p:txBody>
      </p:sp>
      <p:sp>
        <p:nvSpPr>
          <p:cNvPr id="5" name="Shape 3"/>
          <p:cNvSpPr/>
          <p:nvPr/>
        </p:nvSpPr>
        <p:spPr>
          <a:xfrm>
            <a:off x="3657600" y="4114800"/>
            <a:ext cx="1828800" cy="1828800"/>
          </a:xfrm>
          <a:prstGeom prst="ellipse">
            <a:avLst/>
          </a:prstGeom>
          <a:solidFill>
            <a:srgbClr val="245E3E">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245E3E"/>
                </a:solidFill>
                <a:latin typeface="Calibri" pitchFamily="34" charset="0"/>
                <a:ea typeface="Calibri" pitchFamily="34" charset="-122"/>
                <a:cs typeface="Calibri" pitchFamily="34" charset="-120"/>
              </a:rPr>
              <a:t>EXPERIMENT DESIGN</a:t>
            </a:r>
            <a:endParaRPr lang="en-US" sz="900" dirty="0"/>
          </a:p>
        </p:txBody>
      </p:sp>
      <p:sp>
        <p:nvSpPr>
          <p:cNvPr id="7" name="Text 5"/>
          <p:cNvSpPr/>
          <p:nvPr/>
        </p:nvSpPr>
        <p:spPr>
          <a:xfrm>
            <a:off x="457200" y="384048"/>
            <a:ext cx="8229600" cy="685800"/>
          </a:xfrm>
          <a:prstGeom prst="rect">
            <a:avLst/>
          </a:prstGeom>
          <a:noFill/>
          <a:ln/>
        </p:spPr>
        <p:txBody>
          <a:bodyPr wrap="square" rtlCol="0" anchor="ctr"/>
          <a:lstStyle/>
          <a:p>
            <a:pPr marL="0" indent="0">
              <a:buNone/>
            </a:pPr>
            <a:r>
              <a:rPr lang="en-US" sz="2400" b="1" dirty="0">
                <a:solidFill>
                  <a:srgbClr val="1A1814"/>
                </a:solidFill>
                <a:latin typeface="Calibri" pitchFamily="34" charset="0"/>
                <a:ea typeface="Calibri" pitchFamily="34" charset="-122"/>
                <a:cs typeface="Calibri" pitchFamily="34" charset="-120"/>
              </a:rPr>
              <a:t>18 Experiments: 6 Techniques × 3 Task Domains</a:t>
            </a:r>
            <a:endParaRPr lang="en-US" sz="2400" dirty="0"/>
          </a:p>
        </p:txBody>
      </p:sp>
      <p:sp>
        <p:nvSpPr>
          <p:cNvPr id="8" name="Shape 6"/>
          <p:cNvSpPr/>
          <p:nvPr/>
        </p:nvSpPr>
        <p:spPr>
          <a:xfrm>
            <a:off x="256032" y="1115568"/>
            <a:ext cx="2816352" cy="3611880"/>
          </a:xfrm>
          <a:prstGeom prst="roundRect">
            <a:avLst>
              <a:gd name="adj" fmla="val 3896"/>
            </a:avLst>
          </a:prstGeom>
          <a:solidFill>
            <a:srgbClr val="EDEAE3"/>
          </a:solidFill>
          <a:ln w="12700">
            <a:solidFill>
              <a:srgbClr val="2A4875"/>
            </a:solidFill>
            <a:prstDash val="solid"/>
          </a:ln>
        </p:spPr>
        <p:txBody>
          <a:bodyPr/>
          <a:lstStyle/>
          <a:p>
            <a:endParaRPr lang="en-US"/>
          </a:p>
        </p:txBody>
      </p:sp>
      <p:sp>
        <p:nvSpPr>
          <p:cNvPr id="9" name="Shape 7"/>
          <p:cNvSpPr/>
          <p:nvPr/>
        </p:nvSpPr>
        <p:spPr>
          <a:xfrm>
            <a:off x="256032" y="1115568"/>
            <a:ext cx="2816352" cy="713232"/>
          </a:xfrm>
          <a:prstGeom prst="roundRect">
            <a:avLst>
              <a:gd name="adj" fmla="val 15385"/>
            </a:avLst>
          </a:prstGeom>
          <a:solidFill>
            <a:srgbClr val="2A4875">
              <a:alpha val="16000"/>
            </a:srgbClr>
          </a:solidFill>
          <a:ln w="12700">
            <a:solidFill>
              <a:srgbClr val="2A4875"/>
            </a:solidFill>
            <a:prstDash val="solid"/>
          </a:ln>
        </p:spPr>
        <p:txBody>
          <a:bodyPr/>
          <a:lstStyle/>
          <a:p>
            <a:endParaRPr lang="en-US"/>
          </a:p>
        </p:txBody>
      </p:sp>
      <p:sp>
        <p:nvSpPr>
          <p:cNvPr id="10" name="Shape 8"/>
          <p:cNvSpPr/>
          <p:nvPr/>
        </p:nvSpPr>
        <p:spPr>
          <a:xfrm>
            <a:off x="393192" y="1234440"/>
            <a:ext cx="548640" cy="475488"/>
          </a:xfrm>
          <a:prstGeom prst="roundRect">
            <a:avLst>
              <a:gd name="adj" fmla="val 15385"/>
            </a:avLst>
          </a:prstGeom>
          <a:solidFill>
            <a:srgbClr val="2A4875"/>
          </a:solidFill>
          <a:ln w="12700">
            <a:solidFill>
              <a:srgbClr val="2A4875"/>
            </a:solidFill>
            <a:prstDash val="solid"/>
          </a:ln>
        </p:spPr>
        <p:txBody>
          <a:bodyPr/>
          <a:lstStyle/>
          <a:p>
            <a:endParaRPr lang="en-US"/>
          </a:p>
        </p:txBody>
      </p:sp>
      <p:sp>
        <p:nvSpPr>
          <p:cNvPr id="11" name="Text 9"/>
          <p:cNvSpPr/>
          <p:nvPr/>
        </p:nvSpPr>
        <p:spPr>
          <a:xfrm>
            <a:off x="393192" y="1234440"/>
            <a:ext cx="548640" cy="475488"/>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QA</a:t>
            </a:r>
            <a:endParaRPr lang="en-US" sz="1100" dirty="0"/>
          </a:p>
        </p:txBody>
      </p:sp>
      <p:sp>
        <p:nvSpPr>
          <p:cNvPr id="12" name="Text 10"/>
          <p:cNvSpPr/>
          <p:nvPr/>
        </p:nvSpPr>
        <p:spPr>
          <a:xfrm>
            <a:off x="1033272" y="1261872"/>
            <a:ext cx="1920240" cy="420624"/>
          </a:xfrm>
          <a:prstGeom prst="rect">
            <a:avLst/>
          </a:prstGeom>
          <a:noFill/>
          <a:ln/>
        </p:spPr>
        <p:txBody>
          <a:bodyPr wrap="square" rtlCol="0" anchor="ctr"/>
          <a:lstStyle/>
          <a:p>
            <a:pPr marL="0" indent="0">
              <a:buNone/>
            </a:pPr>
            <a:r>
              <a:rPr lang="en-US" sz="1400" b="1" dirty="0">
                <a:solidFill>
                  <a:srgbClr val="2A4875"/>
                </a:solidFill>
                <a:latin typeface="Calibri" pitchFamily="34" charset="0"/>
                <a:ea typeface="Calibri" pitchFamily="34" charset="-122"/>
                <a:cs typeface="Calibri" pitchFamily="34" charset="-120"/>
              </a:rPr>
              <a:t>Question Answering</a:t>
            </a:r>
            <a:endParaRPr lang="en-US" sz="1400" dirty="0"/>
          </a:p>
        </p:txBody>
      </p:sp>
      <p:sp>
        <p:nvSpPr>
          <p:cNvPr id="13" name="Text 11"/>
          <p:cNvSpPr/>
          <p:nvPr/>
        </p:nvSpPr>
        <p:spPr>
          <a:xfrm>
            <a:off x="420624" y="1956816"/>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DATASET</a:t>
            </a:r>
            <a:endParaRPr lang="en-US" sz="750" dirty="0"/>
          </a:p>
        </p:txBody>
      </p:sp>
      <p:sp>
        <p:nvSpPr>
          <p:cNvPr id="14" name="Text 12"/>
          <p:cNvSpPr/>
          <p:nvPr/>
        </p:nvSpPr>
        <p:spPr>
          <a:xfrm>
            <a:off x="420624" y="2139696"/>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TriviaQA</a:t>
            </a:r>
            <a:endParaRPr lang="en-US" sz="1100" dirty="0"/>
          </a:p>
        </p:txBody>
      </p:sp>
      <p:sp>
        <p:nvSpPr>
          <p:cNvPr id="15" name="Shape 13"/>
          <p:cNvSpPr/>
          <p:nvPr/>
        </p:nvSpPr>
        <p:spPr>
          <a:xfrm>
            <a:off x="420624" y="2551176"/>
            <a:ext cx="2487168" cy="12802"/>
          </a:xfrm>
          <a:prstGeom prst="rect">
            <a:avLst/>
          </a:prstGeom>
          <a:solidFill>
            <a:srgbClr val="CFCABC"/>
          </a:solidFill>
          <a:ln w="12700">
            <a:solidFill>
              <a:srgbClr val="CFCABC"/>
            </a:solidFill>
            <a:prstDash val="solid"/>
          </a:ln>
        </p:spPr>
        <p:txBody>
          <a:bodyPr/>
          <a:lstStyle/>
          <a:p>
            <a:endParaRPr lang="en-US"/>
          </a:p>
        </p:txBody>
      </p:sp>
      <p:sp>
        <p:nvSpPr>
          <p:cNvPr id="16" name="Text 14"/>
          <p:cNvSpPr/>
          <p:nvPr/>
        </p:nvSpPr>
        <p:spPr>
          <a:xfrm>
            <a:off x="420624" y="2633472"/>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SAMPLE</a:t>
            </a:r>
            <a:endParaRPr lang="en-US" sz="750" dirty="0"/>
          </a:p>
        </p:txBody>
      </p:sp>
      <p:sp>
        <p:nvSpPr>
          <p:cNvPr id="17" name="Text 15"/>
          <p:cNvSpPr/>
          <p:nvPr/>
        </p:nvSpPr>
        <p:spPr>
          <a:xfrm>
            <a:off x="420624" y="2816352"/>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n = 500</a:t>
            </a:r>
            <a:endParaRPr lang="en-US" sz="1100" dirty="0"/>
          </a:p>
        </p:txBody>
      </p:sp>
      <p:sp>
        <p:nvSpPr>
          <p:cNvPr id="18" name="Shape 16"/>
          <p:cNvSpPr/>
          <p:nvPr/>
        </p:nvSpPr>
        <p:spPr>
          <a:xfrm>
            <a:off x="420624" y="3227832"/>
            <a:ext cx="2487168" cy="12802"/>
          </a:xfrm>
          <a:prstGeom prst="rect">
            <a:avLst/>
          </a:prstGeom>
          <a:solidFill>
            <a:srgbClr val="CFCABC"/>
          </a:solidFill>
          <a:ln w="12700">
            <a:solidFill>
              <a:srgbClr val="CFCABC"/>
            </a:solidFill>
            <a:prstDash val="solid"/>
          </a:ln>
        </p:spPr>
        <p:txBody>
          <a:bodyPr/>
          <a:lstStyle/>
          <a:p>
            <a:endParaRPr lang="en-US"/>
          </a:p>
        </p:txBody>
      </p:sp>
      <p:sp>
        <p:nvSpPr>
          <p:cNvPr id="19" name="Text 17"/>
          <p:cNvSpPr/>
          <p:nvPr/>
        </p:nvSpPr>
        <p:spPr>
          <a:xfrm>
            <a:off x="420624" y="3310128"/>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METRIC</a:t>
            </a:r>
            <a:endParaRPr lang="en-US" sz="750" dirty="0"/>
          </a:p>
        </p:txBody>
      </p:sp>
      <p:sp>
        <p:nvSpPr>
          <p:cNvPr id="20" name="Text 18"/>
          <p:cNvSpPr/>
          <p:nvPr/>
        </p:nvSpPr>
        <p:spPr>
          <a:xfrm>
            <a:off x="420624" y="3493008"/>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Exact Match Accuracy</a:t>
            </a:r>
            <a:endParaRPr lang="en-US" sz="1100" dirty="0"/>
          </a:p>
        </p:txBody>
      </p:sp>
      <p:sp>
        <p:nvSpPr>
          <p:cNvPr id="21" name="Shape 19"/>
          <p:cNvSpPr/>
          <p:nvPr/>
        </p:nvSpPr>
        <p:spPr>
          <a:xfrm>
            <a:off x="420624" y="3904488"/>
            <a:ext cx="2487168" cy="12802"/>
          </a:xfrm>
          <a:prstGeom prst="rect">
            <a:avLst/>
          </a:prstGeom>
          <a:solidFill>
            <a:srgbClr val="CFCABC"/>
          </a:solidFill>
          <a:ln w="12700">
            <a:solidFill>
              <a:srgbClr val="CFCABC"/>
            </a:solidFill>
            <a:prstDash val="solid"/>
          </a:ln>
        </p:spPr>
        <p:txBody>
          <a:bodyPr/>
          <a:lstStyle/>
          <a:p>
            <a:endParaRPr lang="en-US"/>
          </a:p>
        </p:txBody>
      </p:sp>
      <p:sp>
        <p:nvSpPr>
          <p:cNvPr id="22" name="Text 20"/>
          <p:cNvSpPr/>
          <p:nvPr/>
        </p:nvSpPr>
        <p:spPr>
          <a:xfrm>
            <a:off x="420624" y="3986784"/>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TECHNIQUES</a:t>
            </a:r>
            <a:endParaRPr lang="en-US" sz="750" dirty="0"/>
          </a:p>
        </p:txBody>
      </p:sp>
      <p:sp>
        <p:nvSpPr>
          <p:cNvPr id="23" name="Text 21"/>
          <p:cNvSpPr/>
          <p:nvPr/>
        </p:nvSpPr>
        <p:spPr>
          <a:xfrm>
            <a:off x="420624" y="4169664"/>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Zero-Shot, 2-Shot, 4-Shot,</a:t>
            </a:r>
            <a:endParaRPr lang="en-US" sz="1100" dirty="0"/>
          </a:p>
          <a:p>
            <a:pPr marL="0" indent="0">
              <a:buNone/>
            </a:pPr>
            <a:r>
              <a:rPr lang="en-US" sz="1100" dirty="0">
                <a:solidFill>
                  <a:srgbClr val="1A1814"/>
                </a:solidFill>
                <a:latin typeface="Calibri" pitchFamily="34" charset="0"/>
                <a:ea typeface="Calibri" pitchFamily="34" charset="-122"/>
                <a:cs typeface="Calibri" pitchFamily="34" charset="-120"/>
              </a:rPr>
              <a:t>8-Shot, CoT, ZS-CoT</a:t>
            </a:r>
            <a:endParaRPr lang="en-US" sz="1100" dirty="0"/>
          </a:p>
        </p:txBody>
      </p:sp>
      <p:sp>
        <p:nvSpPr>
          <p:cNvPr id="24" name="Shape 22"/>
          <p:cNvSpPr/>
          <p:nvPr/>
        </p:nvSpPr>
        <p:spPr>
          <a:xfrm>
            <a:off x="3218688" y="1115568"/>
            <a:ext cx="2816352" cy="3611880"/>
          </a:xfrm>
          <a:prstGeom prst="roundRect">
            <a:avLst>
              <a:gd name="adj" fmla="val 3896"/>
            </a:avLst>
          </a:prstGeom>
          <a:solidFill>
            <a:srgbClr val="EDEAE3"/>
          </a:solidFill>
          <a:ln w="12700">
            <a:solidFill>
              <a:srgbClr val="6E5200"/>
            </a:solidFill>
            <a:prstDash val="solid"/>
          </a:ln>
        </p:spPr>
        <p:txBody>
          <a:bodyPr/>
          <a:lstStyle/>
          <a:p>
            <a:endParaRPr lang="en-US"/>
          </a:p>
        </p:txBody>
      </p:sp>
      <p:sp>
        <p:nvSpPr>
          <p:cNvPr id="25" name="Shape 23"/>
          <p:cNvSpPr/>
          <p:nvPr/>
        </p:nvSpPr>
        <p:spPr>
          <a:xfrm>
            <a:off x="3218688" y="1115568"/>
            <a:ext cx="2816352" cy="713232"/>
          </a:xfrm>
          <a:prstGeom prst="roundRect">
            <a:avLst>
              <a:gd name="adj" fmla="val 15385"/>
            </a:avLst>
          </a:prstGeom>
          <a:solidFill>
            <a:srgbClr val="6E5200">
              <a:alpha val="16000"/>
            </a:srgbClr>
          </a:solidFill>
          <a:ln w="12700">
            <a:solidFill>
              <a:srgbClr val="6E5200"/>
            </a:solidFill>
            <a:prstDash val="solid"/>
          </a:ln>
        </p:spPr>
        <p:txBody>
          <a:bodyPr/>
          <a:lstStyle/>
          <a:p>
            <a:endParaRPr lang="en-US"/>
          </a:p>
        </p:txBody>
      </p:sp>
      <p:sp>
        <p:nvSpPr>
          <p:cNvPr id="26" name="Shape 24"/>
          <p:cNvSpPr/>
          <p:nvPr/>
        </p:nvSpPr>
        <p:spPr>
          <a:xfrm>
            <a:off x="3355848" y="1234440"/>
            <a:ext cx="548640" cy="475488"/>
          </a:xfrm>
          <a:prstGeom prst="roundRect">
            <a:avLst>
              <a:gd name="adj" fmla="val 15385"/>
            </a:avLst>
          </a:prstGeom>
          <a:solidFill>
            <a:srgbClr val="6E5200"/>
          </a:solidFill>
          <a:ln w="12700">
            <a:solidFill>
              <a:srgbClr val="6E5200"/>
            </a:solidFill>
            <a:prstDash val="solid"/>
          </a:ln>
        </p:spPr>
        <p:txBody>
          <a:bodyPr/>
          <a:lstStyle/>
          <a:p>
            <a:endParaRPr lang="en-US"/>
          </a:p>
        </p:txBody>
      </p:sp>
      <p:sp>
        <p:nvSpPr>
          <p:cNvPr id="27" name="Text 25"/>
          <p:cNvSpPr/>
          <p:nvPr/>
        </p:nvSpPr>
        <p:spPr>
          <a:xfrm>
            <a:off x="3355848" y="1234440"/>
            <a:ext cx="548640" cy="475488"/>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3995928" y="1261872"/>
            <a:ext cx="1920240" cy="420624"/>
          </a:xfrm>
          <a:prstGeom prst="rect">
            <a:avLst/>
          </a:prstGeom>
          <a:noFill/>
          <a:ln/>
        </p:spPr>
        <p:txBody>
          <a:bodyPr wrap="square" rtlCol="0" anchor="ctr"/>
          <a:lstStyle/>
          <a:p>
            <a:pPr marL="0" indent="0">
              <a:buNone/>
            </a:pPr>
            <a:r>
              <a:rPr lang="en-US" sz="1400" b="1" dirty="0">
                <a:solidFill>
                  <a:srgbClr val="6E5200"/>
                </a:solidFill>
                <a:latin typeface="Calibri" pitchFamily="34" charset="0"/>
                <a:ea typeface="Calibri" pitchFamily="34" charset="-122"/>
                <a:cs typeface="Calibri" pitchFamily="34" charset="-120"/>
              </a:rPr>
              <a:t>Summarisation</a:t>
            </a:r>
            <a:endParaRPr lang="en-US" sz="1400" dirty="0"/>
          </a:p>
        </p:txBody>
      </p:sp>
      <p:sp>
        <p:nvSpPr>
          <p:cNvPr id="29" name="Text 27"/>
          <p:cNvSpPr/>
          <p:nvPr/>
        </p:nvSpPr>
        <p:spPr>
          <a:xfrm>
            <a:off x="3383280" y="1956816"/>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DATASET</a:t>
            </a:r>
            <a:endParaRPr lang="en-US" sz="750" dirty="0"/>
          </a:p>
        </p:txBody>
      </p:sp>
      <p:sp>
        <p:nvSpPr>
          <p:cNvPr id="30" name="Text 28"/>
          <p:cNvSpPr/>
          <p:nvPr/>
        </p:nvSpPr>
        <p:spPr>
          <a:xfrm>
            <a:off x="3383280" y="2139696"/>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CNN / DailyMail</a:t>
            </a:r>
            <a:endParaRPr lang="en-US" sz="1100" dirty="0"/>
          </a:p>
        </p:txBody>
      </p:sp>
      <p:sp>
        <p:nvSpPr>
          <p:cNvPr id="31" name="Shape 29"/>
          <p:cNvSpPr/>
          <p:nvPr/>
        </p:nvSpPr>
        <p:spPr>
          <a:xfrm>
            <a:off x="3383280" y="2551176"/>
            <a:ext cx="2487168" cy="12802"/>
          </a:xfrm>
          <a:prstGeom prst="rect">
            <a:avLst/>
          </a:prstGeom>
          <a:solidFill>
            <a:srgbClr val="CFCABC"/>
          </a:solidFill>
          <a:ln w="12700">
            <a:solidFill>
              <a:srgbClr val="CFCABC"/>
            </a:solidFill>
            <a:prstDash val="solid"/>
          </a:ln>
        </p:spPr>
        <p:txBody>
          <a:bodyPr/>
          <a:lstStyle/>
          <a:p>
            <a:endParaRPr lang="en-US"/>
          </a:p>
        </p:txBody>
      </p:sp>
      <p:sp>
        <p:nvSpPr>
          <p:cNvPr id="32" name="Text 30"/>
          <p:cNvSpPr/>
          <p:nvPr/>
        </p:nvSpPr>
        <p:spPr>
          <a:xfrm>
            <a:off x="3383280" y="2633472"/>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SAMPLE</a:t>
            </a:r>
            <a:endParaRPr lang="en-US" sz="750" dirty="0"/>
          </a:p>
        </p:txBody>
      </p:sp>
      <p:sp>
        <p:nvSpPr>
          <p:cNvPr id="33" name="Text 31"/>
          <p:cNvSpPr/>
          <p:nvPr/>
        </p:nvSpPr>
        <p:spPr>
          <a:xfrm>
            <a:off x="3383280" y="2816352"/>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n = 300</a:t>
            </a:r>
            <a:endParaRPr lang="en-US" sz="1100" dirty="0"/>
          </a:p>
        </p:txBody>
      </p:sp>
      <p:sp>
        <p:nvSpPr>
          <p:cNvPr id="34" name="Shape 32"/>
          <p:cNvSpPr/>
          <p:nvPr/>
        </p:nvSpPr>
        <p:spPr>
          <a:xfrm>
            <a:off x="3383280" y="3227832"/>
            <a:ext cx="2487168" cy="12802"/>
          </a:xfrm>
          <a:prstGeom prst="rect">
            <a:avLst/>
          </a:prstGeom>
          <a:solidFill>
            <a:srgbClr val="CFCABC"/>
          </a:solidFill>
          <a:ln w="12700">
            <a:solidFill>
              <a:srgbClr val="CFCABC"/>
            </a:solidFill>
            <a:prstDash val="solid"/>
          </a:ln>
        </p:spPr>
        <p:txBody>
          <a:bodyPr/>
          <a:lstStyle/>
          <a:p>
            <a:endParaRPr lang="en-US"/>
          </a:p>
        </p:txBody>
      </p:sp>
      <p:sp>
        <p:nvSpPr>
          <p:cNvPr id="35" name="Text 33"/>
          <p:cNvSpPr/>
          <p:nvPr/>
        </p:nvSpPr>
        <p:spPr>
          <a:xfrm>
            <a:off x="3383280" y="3310128"/>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METRIC</a:t>
            </a:r>
            <a:endParaRPr lang="en-US" sz="750" dirty="0"/>
          </a:p>
        </p:txBody>
      </p:sp>
      <p:sp>
        <p:nvSpPr>
          <p:cNvPr id="36" name="Text 34"/>
          <p:cNvSpPr/>
          <p:nvPr/>
        </p:nvSpPr>
        <p:spPr>
          <a:xfrm>
            <a:off x="3383280" y="3493008"/>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ROUGE-L + BERTScore</a:t>
            </a:r>
            <a:endParaRPr lang="en-US" sz="1100" dirty="0"/>
          </a:p>
        </p:txBody>
      </p:sp>
      <p:sp>
        <p:nvSpPr>
          <p:cNvPr id="37" name="Shape 35"/>
          <p:cNvSpPr/>
          <p:nvPr/>
        </p:nvSpPr>
        <p:spPr>
          <a:xfrm>
            <a:off x="3383280" y="3904488"/>
            <a:ext cx="2487168" cy="12802"/>
          </a:xfrm>
          <a:prstGeom prst="rect">
            <a:avLst/>
          </a:prstGeom>
          <a:solidFill>
            <a:srgbClr val="CFCABC"/>
          </a:solidFill>
          <a:ln w="12700">
            <a:solidFill>
              <a:srgbClr val="CFCABC"/>
            </a:solidFill>
            <a:prstDash val="solid"/>
          </a:ln>
        </p:spPr>
        <p:txBody>
          <a:bodyPr/>
          <a:lstStyle/>
          <a:p>
            <a:endParaRPr lang="en-US"/>
          </a:p>
        </p:txBody>
      </p:sp>
      <p:sp>
        <p:nvSpPr>
          <p:cNvPr id="38" name="Text 36"/>
          <p:cNvSpPr/>
          <p:nvPr/>
        </p:nvSpPr>
        <p:spPr>
          <a:xfrm>
            <a:off x="3383280" y="3986784"/>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TECHNIQUES</a:t>
            </a:r>
            <a:endParaRPr lang="en-US" sz="750" dirty="0"/>
          </a:p>
        </p:txBody>
      </p:sp>
      <p:sp>
        <p:nvSpPr>
          <p:cNvPr id="39" name="Text 37"/>
          <p:cNvSpPr/>
          <p:nvPr/>
        </p:nvSpPr>
        <p:spPr>
          <a:xfrm>
            <a:off x="3383280" y="4169664"/>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Zero-Shot, 4-Shot,</a:t>
            </a:r>
            <a:endParaRPr lang="en-US" sz="1100" dirty="0"/>
          </a:p>
          <a:p>
            <a:pPr marL="0" indent="0">
              <a:buNone/>
            </a:pPr>
            <a:r>
              <a:rPr lang="en-US" sz="1100" dirty="0">
                <a:solidFill>
                  <a:srgbClr val="1A1814"/>
                </a:solidFill>
                <a:latin typeface="Calibri" pitchFamily="34" charset="0"/>
                <a:ea typeface="Calibri" pitchFamily="34" charset="-122"/>
                <a:cs typeface="Calibri" pitchFamily="34" charset="-120"/>
              </a:rPr>
              <a:t>8-Shot, CoT, ZS-CoT</a:t>
            </a:r>
            <a:endParaRPr lang="en-US" sz="1100" dirty="0"/>
          </a:p>
        </p:txBody>
      </p:sp>
      <p:sp>
        <p:nvSpPr>
          <p:cNvPr id="40" name="Shape 38"/>
          <p:cNvSpPr/>
          <p:nvPr/>
        </p:nvSpPr>
        <p:spPr>
          <a:xfrm>
            <a:off x="6181344" y="1115568"/>
            <a:ext cx="2816352" cy="3611880"/>
          </a:xfrm>
          <a:prstGeom prst="roundRect">
            <a:avLst>
              <a:gd name="adj" fmla="val 3896"/>
            </a:avLst>
          </a:prstGeom>
          <a:solidFill>
            <a:srgbClr val="EDEAE3"/>
          </a:solidFill>
          <a:ln w="12700">
            <a:solidFill>
              <a:srgbClr val="7A3020"/>
            </a:solidFill>
            <a:prstDash val="solid"/>
          </a:ln>
        </p:spPr>
        <p:txBody>
          <a:bodyPr/>
          <a:lstStyle/>
          <a:p>
            <a:endParaRPr lang="en-US"/>
          </a:p>
        </p:txBody>
      </p:sp>
      <p:sp>
        <p:nvSpPr>
          <p:cNvPr id="41" name="Shape 39"/>
          <p:cNvSpPr/>
          <p:nvPr/>
        </p:nvSpPr>
        <p:spPr>
          <a:xfrm>
            <a:off x="6181344" y="1115568"/>
            <a:ext cx="2816352" cy="713232"/>
          </a:xfrm>
          <a:prstGeom prst="roundRect">
            <a:avLst>
              <a:gd name="adj" fmla="val 15385"/>
            </a:avLst>
          </a:prstGeom>
          <a:solidFill>
            <a:srgbClr val="7A3020">
              <a:alpha val="16000"/>
            </a:srgbClr>
          </a:solidFill>
          <a:ln w="12700">
            <a:solidFill>
              <a:srgbClr val="7A3020"/>
            </a:solidFill>
            <a:prstDash val="solid"/>
          </a:ln>
        </p:spPr>
        <p:txBody>
          <a:bodyPr/>
          <a:lstStyle/>
          <a:p>
            <a:endParaRPr lang="en-US"/>
          </a:p>
        </p:txBody>
      </p:sp>
      <p:sp>
        <p:nvSpPr>
          <p:cNvPr id="42" name="Shape 40"/>
          <p:cNvSpPr/>
          <p:nvPr/>
        </p:nvSpPr>
        <p:spPr>
          <a:xfrm>
            <a:off x="6318504" y="1234440"/>
            <a:ext cx="548640" cy="475488"/>
          </a:xfrm>
          <a:prstGeom prst="roundRect">
            <a:avLst>
              <a:gd name="adj" fmla="val 15385"/>
            </a:avLst>
          </a:prstGeom>
          <a:solidFill>
            <a:srgbClr val="7A3020"/>
          </a:solidFill>
          <a:ln w="12700">
            <a:solidFill>
              <a:srgbClr val="7A3020"/>
            </a:solidFill>
            <a:prstDash val="solid"/>
          </a:ln>
        </p:spPr>
        <p:txBody>
          <a:bodyPr/>
          <a:lstStyle/>
          <a:p>
            <a:endParaRPr lang="en-US"/>
          </a:p>
        </p:txBody>
      </p:sp>
      <p:sp>
        <p:nvSpPr>
          <p:cNvPr id="43" name="Text 41"/>
          <p:cNvSpPr/>
          <p:nvPr/>
        </p:nvSpPr>
        <p:spPr>
          <a:xfrm>
            <a:off x="6318504" y="1234440"/>
            <a:ext cx="548640" cy="475488"/>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∑x²</a:t>
            </a:r>
            <a:endParaRPr lang="en-US" sz="1100" dirty="0"/>
          </a:p>
        </p:txBody>
      </p:sp>
      <p:sp>
        <p:nvSpPr>
          <p:cNvPr id="44" name="Text 42"/>
          <p:cNvSpPr/>
          <p:nvPr/>
        </p:nvSpPr>
        <p:spPr>
          <a:xfrm>
            <a:off x="6958584" y="1261872"/>
            <a:ext cx="1920240" cy="420624"/>
          </a:xfrm>
          <a:prstGeom prst="rect">
            <a:avLst/>
          </a:prstGeom>
          <a:noFill/>
          <a:ln/>
        </p:spPr>
        <p:txBody>
          <a:bodyPr wrap="square" rtlCol="0" anchor="ctr"/>
          <a:lstStyle/>
          <a:p>
            <a:pPr marL="0" indent="0">
              <a:buNone/>
            </a:pPr>
            <a:r>
              <a:rPr lang="en-US" sz="1400" b="1" dirty="0">
                <a:solidFill>
                  <a:srgbClr val="7A3020"/>
                </a:solidFill>
                <a:latin typeface="Calibri" pitchFamily="34" charset="0"/>
                <a:ea typeface="Calibri" pitchFamily="34" charset="-122"/>
                <a:cs typeface="Calibri" pitchFamily="34" charset="-120"/>
              </a:rPr>
              <a:t>Reasoning</a:t>
            </a:r>
            <a:endParaRPr lang="en-US" sz="1400" dirty="0"/>
          </a:p>
        </p:txBody>
      </p:sp>
      <p:sp>
        <p:nvSpPr>
          <p:cNvPr id="45" name="Text 43"/>
          <p:cNvSpPr/>
          <p:nvPr/>
        </p:nvSpPr>
        <p:spPr>
          <a:xfrm>
            <a:off x="6345936" y="1956816"/>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DATASET</a:t>
            </a:r>
            <a:endParaRPr lang="en-US" sz="750" dirty="0"/>
          </a:p>
        </p:txBody>
      </p:sp>
      <p:sp>
        <p:nvSpPr>
          <p:cNvPr id="46" name="Text 44"/>
          <p:cNvSpPr/>
          <p:nvPr/>
        </p:nvSpPr>
        <p:spPr>
          <a:xfrm>
            <a:off x="6345936" y="2139696"/>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GSM8K</a:t>
            </a:r>
            <a:endParaRPr lang="en-US" sz="1100" dirty="0"/>
          </a:p>
        </p:txBody>
      </p:sp>
      <p:sp>
        <p:nvSpPr>
          <p:cNvPr id="47" name="Shape 45"/>
          <p:cNvSpPr/>
          <p:nvPr/>
        </p:nvSpPr>
        <p:spPr>
          <a:xfrm>
            <a:off x="6345936" y="2551176"/>
            <a:ext cx="2487168" cy="12802"/>
          </a:xfrm>
          <a:prstGeom prst="rect">
            <a:avLst/>
          </a:prstGeom>
          <a:solidFill>
            <a:srgbClr val="CFCABC"/>
          </a:solidFill>
          <a:ln w="12700">
            <a:solidFill>
              <a:srgbClr val="CFCABC"/>
            </a:solidFill>
            <a:prstDash val="solid"/>
          </a:ln>
        </p:spPr>
        <p:txBody>
          <a:bodyPr/>
          <a:lstStyle/>
          <a:p>
            <a:endParaRPr lang="en-US"/>
          </a:p>
        </p:txBody>
      </p:sp>
      <p:sp>
        <p:nvSpPr>
          <p:cNvPr id="48" name="Text 46"/>
          <p:cNvSpPr/>
          <p:nvPr/>
        </p:nvSpPr>
        <p:spPr>
          <a:xfrm>
            <a:off x="6345936" y="2633472"/>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SAMPLE</a:t>
            </a:r>
            <a:endParaRPr lang="en-US" sz="750" dirty="0"/>
          </a:p>
        </p:txBody>
      </p:sp>
      <p:sp>
        <p:nvSpPr>
          <p:cNvPr id="49" name="Text 47"/>
          <p:cNvSpPr/>
          <p:nvPr/>
        </p:nvSpPr>
        <p:spPr>
          <a:xfrm>
            <a:off x="6345936" y="2816352"/>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n = 1,319</a:t>
            </a:r>
            <a:endParaRPr lang="en-US" sz="1100" dirty="0"/>
          </a:p>
        </p:txBody>
      </p:sp>
      <p:sp>
        <p:nvSpPr>
          <p:cNvPr id="50" name="Shape 48"/>
          <p:cNvSpPr/>
          <p:nvPr/>
        </p:nvSpPr>
        <p:spPr>
          <a:xfrm>
            <a:off x="6345936" y="3227832"/>
            <a:ext cx="2487168" cy="12802"/>
          </a:xfrm>
          <a:prstGeom prst="rect">
            <a:avLst/>
          </a:prstGeom>
          <a:solidFill>
            <a:srgbClr val="CFCABC"/>
          </a:solidFill>
          <a:ln w="12700">
            <a:solidFill>
              <a:srgbClr val="CFCABC"/>
            </a:solidFill>
            <a:prstDash val="solid"/>
          </a:ln>
        </p:spPr>
        <p:txBody>
          <a:bodyPr/>
          <a:lstStyle/>
          <a:p>
            <a:endParaRPr lang="en-US"/>
          </a:p>
        </p:txBody>
      </p:sp>
      <p:sp>
        <p:nvSpPr>
          <p:cNvPr id="51" name="Text 49"/>
          <p:cNvSpPr/>
          <p:nvPr/>
        </p:nvSpPr>
        <p:spPr>
          <a:xfrm>
            <a:off x="6345936" y="3310128"/>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METRIC</a:t>
            </a:r>
            <a:endParaRPr lang="en-US" sz="750" dirty="0"/>
          </a:p>
        </p:txBody>
      </p:sp>
      <p:sp>
        <p:nvSpPr>
          <p:cNvPr id="52" name="Text 50"/>
          <p:cNvSpPr/>
          <p:nvPr/>
        </p:nvSpPr>
        <p:spPr>
          <a:xfrm>
            <a:off x="6345936" y="3493008"/>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Exact Match on Answer</a:t>
            </a:r>
            <a:endParaRPr lang="en-US" sz="1100" dirty="0"/>
          </a:p>
        </p:txBody>
      </p:sp>
      <p:sp>
        <p:nvSpPr>
          <p:cNvPr id="53" name="Shape 51"/>
          <p:cNvSpPr/>
          <p:nvPr/>
        </p:nvSpPr>
        <p:spPr>
          <a:xfrm>
            <a:off x="6345936" y="3904488"/>
            <a:ext cx="2487168" cy="12802"/>
          </a:xfrm>
          <a:prstGeom prst="rect">
            <a:avLst/>
          </a:prstGeom>
          <a:solidFill>
            <a:srgbClr val="CFCABC"/>
          </a:solidFill>
          <a:ln w="12700">
            <a:solidFill>
              <a:srgbClr val="CFCABC"/>
            </a:solidFill>
            <a:prstDash val="solid"/>
          </a:ln>
        </p:spPr>
        <p:txBody>
          <a:bodyPr/>
          <a:lstStyle/>
          <a:p>
            <a:endParaRPr lang="en-US"/>
          </a:p>
        </p:txBody>
      </p:sp>
      <p:sp>
        <p:nvSpPr>
          <p:cNvPr id="54" name="Text 52"/>
          <p:cNvSpPr/>
          <p:nvPr/>
        </p:nvSpPr>
        <p:spPr>
          <a:xfrm>
            <a:off x="6345936" y="3986784"/>
            <a:ext cx="868680" cy="182880"/>
          </a:xfrm>
          <a:prstGeom prst="rect">
            <a:avLst/>
          </a:prstGeom>
          <a:noFill/>
          <a:ln/>
        </p:spPr>
        <p:txBody>
          <a:bodyPr wrap="square" rtlCol="0" anchor="ctr"/>
          <a:lstStyle/>
          <a:p>
            <a:pPr marL="0" indent="0">
              <a:buNone/>
            </a:pPr>
            <a:r>
              <a:rPr lang="en-US" sz="750" b="1" kern="0" spc="100" dirty="0">
                <a:solidFill>
                  <a:srgbClr val="9A9590"/>
                </a:solidFill>
                <a:latin typeface="Calibri" pitchFamily="34" charset="0"/>
                <a:ea typeface="Calibri" pitchFamily="34" charset="-122"/>
                <a:cs typeface="Calibri" pitchFamily="34" charset="-120"/>
              </a:rPr>
              <a:t>TECHNIQUES</a:t>
            </a:r>
            <a:endParaRPr lang="en-US" sz="750" dirty="0"/>
          </a:p>
        </p:txBody>
      </p:sp>
      <p:sp>
        <p:nvSpPr>
          <p:cNvPr id="55" name="Text 53"/>
          <p:cNvSpPr/>
          <p:nvPr/>
        </p:nvSpPr>
        <p:spPr>
          <a:xfrm>
            <a:off x="6345936" y="4169664"/>
            <a:ext cx="2487168" cy="365760"/>
          </a:xfrm>
          <a:prstGeom prst="rect">
            <a:avLst/>
          </a:prstGeom>
          <a:noFill/>
          <a:ln/>
        </p:spPr>
        <p:txBody>
          <a:bodyPr wrap="square" rtlCol="0" anchor="ctr"/>
          <a:lstStyle/>
          <a:p>
            <a:pPr marL="0" indent="0">
              <a:buNone/>
            </a:pPr>
            <a:r>
              <a:rPr lang="en-US" sz="1100" dirty="0">
                <a:solidFill>
                  <a:srgbClr val="1A1814"/>
                </a:solidFill>
                <a:latin typeface="Calibri" pitchFamily="34" charset="0"/>
                <a:ea typeface="Calibri" pitchFamily="34" charset="-122"/>
                <a:cs typeface="Calibri" pitchFamily="34" charset="-120"/>
              </a:rPr>
              <a:t>Zero-Shot, 2-Shot, 4-Shot,</a:t>
            </a:r>
            <a:endParaRPr lang="en-US" sz="1100" dirty="0"/>
          </a:p>
          <a:p>
            <a:pPr marL="0" indent="0">
              <a:buNone/>
            </a:pPr>
            <a:r>
              <a:rPr lang="en-US" sz="1100" dirty="0">
                <a:solidFill>
                  <a:srgbClr val="1A1814"/>
                </a:solidFill>
                <a:latin typeface="Calibri" pitchFamily="34" charset="0"/>
                <a:ea typeface="Calibri" pitchFamily="34" charset="-122"/>
                <a:cs typeface="Calibri" pitchFamily="34" charset="-120"/>
              </a:rPr>
              <a:t>8-Shot, CoT, ZS-CoT</a:t>
            </a:r>
            <a:endParaRPr lang="en-US" sz="1100" dirty="0"/>
          </a:p>
        </p:txBody>
      </p:sp>
      <p:sp>
        <p:nvSpPr>
          <p:cNvPr id="56" name="Shape 54"/>
          <p:cNvSpPr/>
          <p:nvPr/>
        </p:nvSpPr>
        <p:spPr>
          <a:xfrm>
            <a:off x="256032" y="4773168"/>
            <a:ext cx="8631936" cy="274320"/>
          </a:xfrm>
          <a:prstGeom prst="roundRect">
            <a:avLst>
              <a:gd name="adj" fmla="val 20000"/>
            </a:avLst>
          </a:prstGeom>
          <a:solidFill>
            <a:srgbClr val="EDEAE3"/>
          </a:solidFill>
          <a:ln w="12700">
            <a:solidFill>
              <a:srgbClr val="CFCABC"/>
            </a:solidFill>
            <a:prstDash val="solid"/>
          </a:ln>
        </p:spPr>
        <p:txBody>
          <a:bodyPr/>
          <a:lstStyle/>
          <a:p>
            <a:endParaRPr lang="en-US"/>
          </a:p>
        </p:txBody>
      </p:sp>
      <p:sp>
        <p:nvSpPr>
          <p:cNvPr id="57" name="Text 55"/>
          <p:cNvSpPr/>
          <p:nvPr/>
        </p:nvSpPr>
        <p:spPr>
          <a:xfrm>
            <a:off x="256032" y="4773168"/>
            <a:ext cx="8631936" cy="274320"/>
          </a:xfrm>
          <a:prstGeom prst="rect">
            <a:avLst/>
          </a:prstGeom>
          <a:noFill/>
          <a:ln/>
        </p:spPr>
        <p:txBody>
          <a:bodyPr wrap="square" rtlCol="0" anchor="ctr"/>
          <a:lstStyle/>
          <a:p>
            <a:pPr marL="0" indent="0" algn="ctr">
              <a:buNone/>
            </a:pPr>
            <a:r>
              <a:rPr lang="en-US" sz="900" dirty="0">
                <a:solidFill>
                  <a:srgbClr val="6E6760"/>
                </a:solidFill>
                <a:latin typeface="Calibri" pitchFamily="34" charset="0"/>
                <a:ea typeface="Calibri" pitchFamily="34" charset="-122"/>
                <a:cs typeface="Calibri" pitchFamily="34" charset="-120"/>
              </a:rPr>
              <a:t>All experiments: Temperature = 0.0  ·  Wilcoxon signed-rank significance tests  ·  Cohen's d effect sizes  ·  Model: Claude Haiku</a:t>
            </a:r>
            <a:endParaRPr lang="en-US" sz="9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3" presetID="10" presetClass="entr" presetSubtype="0" fill="hold" grpId="0" nodeType="clickEffect">
                            <p:stCondLst>
                              <p:cond delay="0"/>
                            </p:stCondLst>
                            <p:childTnLst>
                              <p:animEffect transition="in" filter="fade">
                                <p:cBhvr>
                                  <p:cTn id="50001" dur="350"/>
                                  <p:tgtEl>
                                    <p:spTgt spid="6"/>
                                  </p:tgtEl>
                                </p:cBhvr>
                              </p:animEffect>
                              <p:animEffect transition="in" filter="fade">
                                <p:cBhvr>
                                  <p:cTn id="50002" dur="350"/>
                                  <p:tgtEl>
                                    <p:spTgt spid="7"/>
                                  </p:tgtEl>
                                </p:cBhvr>
                              </p:animEffect>
                            </p:childTnLst>
                          </p:cTn>
                        </p:par>
                      </p:childTnLst>
                    </p:cTn>
                  </p:par>
                  <p:par>
                    <p:cTn id="50100" fill="hold">
                      <p:stCondLst>
                        <p:cond delay="450"/>
                      </p:stCondLst>
                      <p:childTnLst>
                        <p:par>
                          <p:cTn id="50117" presetID="10" presetClass="entr" presetSubtype="0" fill="hold" grpId="1" nodeType="withEffect">
                            <p:stCondLst>
                              <p:cond delay="0"/>
                            </p:stCondLst>
                            <p:childTnLst>
                              <p:animEffect transition="in" filter="fade">
                                <p:cBhvr>
                                  <p:cTn id="50101" dur="350"/>
                                  <p:tgtEl>
                                    <p:spTgt spid="8"/>
                                  </p:tgtEl>
                                </p:cBhvr>
                              </p:animEffect>
                              <p:animEffect transition="in" filter="fade">
                                <p:cBhvr>
                                  <p:cTn id="50102" dur="350"/>
                                  <p:tgtEl>
                                    <p:spTgt spid="9"/>
                                  </p:tgtEl>
                                </p:cBhvr>
                              </p:animEffect>
                              <p:animEffect transition="in" filter="fade">
                                <p:cBhvr>
                                  <p:cTn id="50103" dur="350"/>
                                  <p:tgtEl>
                                    <p:spTgt spid="10"/>
                                  </p:tgtEl>
                                </p:cBhvr>
                              </p:animEffect>
                              <p:animEffect transition="in" filter="fade">
                                <p:cBhvr>
                                  <p:cTn id="50104" dur="350"/>
                                  <p:tgtEl>
                                    <p:spTgt spid="11"/>
                                  </p:tgtEl>
                                </p:cBhvr>
                              </p:animEffect>
                              <p:animEffect transition="in" filter="fade">
                                <p:cBhvr>
                                  <p:cTn id="50105" dur="350"/>
                                  <p:tgtEl>
                                    <p:spTgt spid="12"/>
                                  </p:tgtEl>
                                </p:cBhvr>
                              </p:animEffect>
                              <p:animEffect transition="in" filter="fade">
                                <p:cBhvr>
                                  <p:cTn id="50106" dur="350"/>
                                  <p:tgtEl>
                                    <p:spTgt spid="13"/>
                                  </p:tgtEl>
                                </p:cBhvr>
                              </p:animEffect>
                              <p:animEffect transition="in" filter="fade">
                                <p:cBhvr>
                                  <p:cTn id="50107" dur="350"/>
                                  <p:tgtEl>
                                    <p:spTgt spid="14"/>
                                  </p:tgtEl>
                                </p:cBhvr>
                              </p:animEffect>
                              <p:animEffect transition="in" filter="fade">
                                <p:cBhvr>
                                  <p:cTn id="50108" dur="350"/>
                                  <p:tgtEl>
                                    <p:spTgt spid="15"/>
                                  </p:tgtEl>
                                </p:cBhvr>
                              </p:animEffect>
                              <p:animEffect transition="in" filter="fade">
                                <p:cBhvr>
                                  <p:cTn id="50109" dur="350"/>
                                  <p:tgtEl>
                                    <p:spTgt spid="16"/>
                                  </p:tgtEl>
                                </p:cBhvr>
                              </p:animEffect>
                              <p:animEffect transition="in" filter="fade">
                                <p:cBhvr>
                                  <p:cTn id="50110" dur="350"/>
                                  <p:tgtEl>
                                    <p:spTgt spid="17"/>
                                  </p:tgtEl>
                                </p:cBhvr>
                              </p:animEffect>
                              <p:animEffect transition="in" filter="fade">
                                <p:cBhvr>
                                  <p:cTn id="50111" dur="350"/>
                                  <p:tgtEl>
                                    <p:spTgt spid="18"/>
                                  </p:tgtEl>
                                </p:cBhvr>
                              </p:animEffect>
                              <p:animEffect transition="in" filter="fade">
                                <p:cBhvr>
                                  <p:cTn id="50112" dur="350"/>
                                  <p:tgtEl>
                                    <p:spTgt spid="19"/>
                                  </p:tgtEl>
                                </p:cBhvr>
                              </p:animEffect>
                              <p:animEffect transition="in" filter="fade">
                                <p:cBhvr>
                                  <p:cTn id="50113" dur="350"/>
                                  <p:tgtEl>
                                    <p:spTgt spid="20"/>
                                  </p:tgtEl>
                                </p:cBhvr>
                              </p:animEffect>
                              <p:animEffect transition="in" filter="fade">
                                <p:cBhvr>
                                  <p:cTn id="50114" dur="350"/>
                                  <p:tgtEl>
                                    <p:spTgt spid="21"/>
                                  </p:tgtEl>
                                </p:cBhvr>
                              </p:animEffect>
                              <p:animEffect transition="in" filter="fade">
                                <p:cBhvr>
                                  <p:cTn id="50115" dur="350"/>
                                  <p:tgtEl>
                                    <p:spTgt spid="22"/>
                                  </p:tgtEl>
                                </p:cBhvr>
                              </p:animEffect>
                              <p:animEffect transition="in" filter="fade">
                                <p:cBhvr>
                                  <p:cTn id="50116" dur="350"/>
                                  <p:tgtEl>
                                    <p:spTgt spid="23"/>
                                  </p:tgtEl>
                                </p:cBhvr>
                              </p:animEffect>
                            </p:childTnLst>
                          </p:cTn>
                        </p:par>
                      </p:childTnLst>
                    </p:cTn>
                  </p:par>
                  <p:par>
                    <p:cTn id="50200" fill="hold">
                      <p:stCondLst>
                        <p:cond delay="550"/>
                      </p:stCondLst>
                      <p:childTnLst>
                        <p:par>
                          <p:cTn id="50217" presetID="10" presetClass="entr" presetSubtype="0" fill="hold" grpId="2" nodeType="withEffect">
                            <p:stCondLst>
                              <p:cond delay="0"/>
                            </p:stCondLst>
                            <p:childTnLst>
                              <p:animEffect transition="in" filter="fade">
                                <p:cBhvr>
                                  <p:cTn id="50201" dur="350"/>
                                  <p:tgtEl>
                                    <p:spTgt spid="24"/>
                                  </p:tgtEl>
                                </p:cBhvr>
                              </p:animEffect>
                              <p:animEffect transition="in" filter="fade">
                                <p:cBhvr>
                                  <p:cTn id="50202" dur="350"/>
                                  <p:tgtEl>
                                    <p:spTgt spid="25"/>
                                  </p:tgtEl>
                                </p:cBhvr>
                              </p:animEffect>
                              <p:animEffect transition="in" filter="fade">
                                <p:cBhvr>
                                  <p:cTn id="50203" dur="350"/>
                                  <p:tgtEl>
                                    <p:spTgt spid="26"/>
                                  </p:tgtEl>
                                </p:cBhvr>
                              </p:animEffect>
                              <p:animEffect transition="in" filter="fade">
                                <p:cBhvr>
                                  <p:cTn id="50204" dur="350"/>
                                  <p:tgtEl>
                                    <p:spTgt spid="27"/>
                                  </p:tgtEl>
                                </p:cBhvr>
                              </p:animEffect>
                              <p:animEffect transition="in" filter="fade">
                                <p:cBhvr>
                                  <p:cTn id="50205" dur="350"/>
                                  <p:tgtEl>
                                    <p:spTgt spid="28"/>
                                  </p:tgtEl>
                                </p:cBhvr>
                              </p:animEffect>
                              <p:animEffect transition="in" filter="fade">
                                <p:cBhvr>
                                  <p:cTn id="50206" dur="350"/>
                                  <p:tgtEl>
                                    <p:spTgt spid="29"/>
                                  </p:tgtEl>
                                </p:cBhvr>
                              </p:animEffect>
                              <p:animEffect transition="in" filter="fade">
                                <p:cBhvr>
                                  <p:cTn id="50207" dur="350"/>
                                  <p:tgtEl>
                                    <p:spTgt spid="30"/>
                                  </p:tgtEl>
                                </p:cBhvr>
                              </p:animEffect>
                              <p:animEffect transition="in" filter="fade">
                                <p:cBhvr>
                                  <p:cTn id="50208" dur="350"/>
                                  <p:tgtEl>
                                    <p:spTgt spid="31"/>
                                  </p:tgtEl>
                                </p:cBhvr>
                              </p:animEffect>
                              <p:animEffect transition="in" filter="fade">
                                <p:cBhvr>
                                  <p:cTn id="50209" dur="350"/>
                                  <p:tgtEl>
                                    <p:spTgt spid="32"/>
                                  </p:tgtEl>
                                </p:cBhvr>
                              </p:animEffect>
                              <p:animEffect transition="in" filter="fade">
                                <p:cBhvr>
                                  <p:cTn id="50210" dur="350"/>
                                  <p:tgtEl>
                                    <p:spTgt spid="33"/>
                                  </p:tgtEl>
                                </p:cBhvr>
                              </p:animEffect>
                              <p:animEffect transition="in" filter="fade">
                                <p:cBhvr>
                                  <p:cTn id="50211" dur="350"/>
                                  <p:tgtEl>
                                    <p:spTgt spid="34"/>
                                  </p:tgtEl>
                                </p:cBhvr>
                              </p:animEffect>
                              <p:animEffect transition="in" filter="fade">
                                <p:cBhvr>
                                  <p:cTn id="50212" dur="350"/>
                                  <p:tgtEl>
                                    <p:spTgt spid="35"/>
                                  </p:tgtEl>
                                </p:cBhvr>
                              </p:animEffect>
                              <p:animEffect transition="in" filter="fade">
                                <p:cBhvr>
                                  <p:cTn id="50213" dur="350"/>
                                  <p:tgtEl>
                                    <p:spTgt spid="36"/>
                                  </p:tgtEl>
                                </p:cBhvr>
                              </p:animEffect>
                              <p:animEffect transition="in" filter="fade">
                                <p:cBhvr>
                                  <p:cTn id="50214" dur="350"/>
                                  <p:tgtEl>
                                    <p:spTgt spid="37"/>
                                  </p:tgtEl>
                                </p:cBhvr>
                              </p:animEffect>
                              <p:animEffect transition="in" filter="fade">
                                <p:cBhvr>
                                  <p:cTn id="50215" dur="350"/>
                                  <p:tgtEl>
                                    <p:spTgt spid="38"/>
                                  </p:tgtEl>
                                </p:cBhvr>
                              </p:animEffect>
                              <p:animEffect transition="in" filter="fade">
                                <p:cBhvr>
                                  <p:cTn id="50216" dur="350"/>
                                  <p:tgtEl>
                                    <p:spTgt spid="39"/>
                                  </p:tgtEl>
                                </p:cBhvr>
                              </p:animEffect>
                            </p:childTnLst>
                          </p:cTn>
                        </p:par>
                      </p:childTnLst>
                    </p:cTn>
                  </p:par>
                  <p:par>
                    <p:cTn id="50300" fill="hold">
                      <p:stCondLst>
                        <p:cond delay="650"/>
                      </p:stCondLst>
                      <p:childTnLst>
                        <p:par>
                          <p:cTn id="50317" presetID="10" presetClass="entr" presetSubtype="0" fill="hold" grpId="3" nodeType="withEffect">
                            <p:stCondLst>
                              <p:cond delay="0"/>
                            </p:stCondLst>
                            <p:childTnLst>
                              <p:animEffect transition="in" filter="fade">
                                <p:cBhvr>
                                  <p:cTn id="50301" dur="350"/>
                                  <p:tgtEl>
                                    <p:spTgt spid="40"/>
                                  </p:tgtEl>
                                </p:cBhvr>
                              </p:animEffect>
                              <p:animEffect transition="in" filter="fade">
                                <p:cBhvr>
                                  <p:cTn id="50302" dur="350"/>
                                  <p:tgtEl>
                                    <p:spTgt spid="41"/>
                                  </p:tgtEl>
                                </p:cBhvr>
                              </p:animEffect>
                              <p:animEffect transition="in" filter="fade">
                                <p:cBhvr>
                                  <p:cTn id="50303" dur="350"/>
                                  <p:tgtEl>
                                    <p:spTgt spid="42"/>
                                  </p:tgtEl>
                                </p:cBhvr>
                              </p:animEffect>
                              <p:animEffect transition="in" filter="fade">
                                <p:cBhvr>
                                  <p:cTn id="50304" dur="350"/>
                                  <p:tgtEl>
                                    <p:spTgt spid="43"/>
                                  </p:tgtEl>
                                </p:cBhvr>
                              </p:animEffect>
                              <p:animEffect transition="in" filter="fade">
                                <p:cBhvr>
                                  <p:cTn id="50305" dur="350"/>
                                  <p:tgtEl>
                                    <p:spTgt spid="44"/>
                                  </p:tgtEl>
                                </p:cBhvr>
                              </p:animEffect>
                              <p:animEffect transition="in" filter="fade">
                                <p:cBhvr>
                                  <p:cTn id="50306" dur="350"/>
                                  <p:tgtEl>
                                    <p:spTgt spid="45"/>
                                  </p:tgtEl>
                                </p:cBhvr>
                              </p:animEffect>
                              <p:animEffect transition="in" filter="fade">
                                <p:cBhvr>
                                  <p:cTn id="50307" dur="350"/>
                                  <p:tgtEl>
                                    <p:spTgt spid="46"/>
                                  </p:tgtEl>
                                </p:cBhvr>
                              </p:animEffect>
                              <p:animEffect transition="in" filter="fade">
                                <p:cBhvr>
                                  <p:cTn id="50308" dur="350"/>
                                  <p:tgtEl>
                                    <p:spTgt spid="47"/>
                                  </p:tgtEl>
                                </p:cBhvr>
                              </p:animEffect>
                              <p:animEffect transition="in" filter="fade">
                                <p:cBhvr>
                                  <p:cTn id="50309" dur="350"/>
                                  <p:tgtEl>
                                    <p:spTgt spid="48"/>
                                  </p:tgtEl>
                                </p:cBhvr>
                              </p:animEffect>
                              <p:animEffect transition="in" filter="fade">
                                <p:cBhvr>
                                  <p:cTn id="50310" dur="350"/>
                                  <p:tgtEl>
                                    <p:spTgt spid="49"/>
                                  </p:tgtEl>
                                </p:cBhvr>
                              </p:animEffect>
                              <p:animEffect transition="in" filter="fade">
                                <p:cBhvr>
                                  <p:cTn id="50311" dur="350"/>
                                  <p:tgtEl>
                                    <p:spTgt spid="50"/>
                                  </p:tgtEl>
                                </p:cBhvr>
                              </p:animEffect>
                              <p:animEffect transition="in" filter="fade">
                                <p:cBhvr>
                                  <p:cTn id="50312" dur="350"/>
                                  <p:tgtEl>
                                    <p:spTgt spid="51"/>
                                  </p:tgtEl>
                                </p:cBhvr>
                              </p:animEffect>
                              <p:animEffect transition="in" filter="fade">
                                <p:cBhvr>
                                  <p:cTn id="50313" dur="350"/>
                                  <p:tgtEl>
                                    <p:spTgt spid="52"/>
                                  </p:tgtEl>
                                </p:cBhvr>
                              </p:animEffect>
                              <p:animEffect transition="in" filter="fade">
                                <p:cBhvr>
                                  <p:cTn id="50314" dur="350"/>
                                  <p:tgtEl>
                                    <p:spTgt spid="53"/>
                                  </p:tgtEl>
                                </p:cBhvr>
                              </p:animEffect>
                              <p:animEffect transition="in" filter="fade">
                                <p:cBhvr>
                                  <p:cTn id="50315" dur="350"/>
                                  <p:tgtEl>
                                    <p:spTgt spid="54"/>
                                  </p:tgtEl>
                                </p:cBhvr>
                              </p:animEffect>
                              <p:animEffect transition="in" filter="fade">
                                <p:cBhvr>
                                  <p:cTn id="50316" dur="350"/>
                                  <p:tgtEl>
                                    <p:spTgt spid="55"/>
                                  </p:tgtEl>
                                </p:cBhvr>
                              </p:animEffect>
                            </p:childTnLst>
                          </p:cTn>
                        </p:par>
                      </p:childTnLst>
                    </p:cTn>
                  </p:par>
                  <p:par>
                    <p:cTn id="50400" fill="hold">
                      <p:stCondLst>
                        <p:cond delay="750"/>
                      </p:stCondLst>
                      <p:childTnLst>
                        <p:par>
                          <p:cTn id="50403" presetID="10" presetClass="entr" presetSubtype="0" fill="hold" grpId="4" nodeType="withEffect">
                            <p:stCondLst>
                              <p:cond delay="0"/>
                            </p:stCondLst>
                            <p:childTnLst>
                              <p:animEffect transition="in" filter="fade">
                                <p:cBhvr>
                                  <p:cTn id="50401" dur="350"/>
                                  <p:tgtEl>
                                    <p:spTgt spid="56"/>
                                  </p:tgtEl>
                                </p:cBhvr>
                              </p:animEffect>
                              <p:animEffect transition="in" filter="fade">
                                <p:cBhvr>
                                  <p:cTn id="50402" dur="350"/>
                                  <p:tgtEl>
                                    <p:spTgt spid="5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1" animBg="1"/>
      <p:bldP spid="9" grpId="1" animBg="1"/>
      <p:bldP spid="10" grpId="1" animBg="1"/>
      <p:bldP spid="11" grpId="1" animBg="1"/>
      <p:bldP spid="12" grpId="1" animBg="1"/>
      <p:bldP spid="13" grpId="1" animBg="1"/>
      <p:bldP spid="14" grpId="1" animBg="1"/>
      <p:bldP spid="15" grpId="1" animBg="1"/>
      <p:bldP spid="16" grpId="1" animBg="1"/>
      <p:bldP spid="17" grpId="1" animBg="1"/>
      <p:bldP spid="18" grpId="1" animBg="1"/>
      <p:bldP spid="19" grpId="1" animBg="1"/>
      <p:bldP spid="20" grpId="1" animBg="1"/>
      <p:bldP spid="21" grpId="1" animBg="1"/>
      <p:bldP spid="22" grpId="1" animBg="1"/>
      <p:bldP spid="23" grpId="1" animBg="1"/>
      <p:bldP spid="24" grpId="2" animBg="1"/>
      <p:bldP spid="25" grpId="2" animBg="1"/>
      <p:bldP spid="26" grpId="2" animBg="1"/>
      <p:bldP spid="27" grpId="2" animBg="1"/>
      <p:bldP spid="28" grpId="2" animBg="1"/>
      <p:bldP spid="29" grpId="2" animBg="1"/>
      <p:bldP spid="30" grpId="2" animBg="1"/>
      <p:bldP spid="31" grpId="2" animBg="1"/>
      <p:bldP spid="32" grpId="2" animBg="1"/>
      <p:bldP spid="33" grpId="2" animBg="1"/>
      <p:bldP spid="34" grpId="2" animBg="1"/>
      <p:bldP spid="35" grpId="2" animBg="1"/>
      <p:bldP spid="36" grpId="2" animBg="1"/>
      <p:bldP spid="37" grpId="2" animBg="1"/>
      <p:bldP spid="38" grpId="2" animBg="1"/>
      <p:bldP spid="39" grpId="2" animBg="1"/>
      <p:bldP spid="40" grpId="3" animBg="1"/>
      <p:bldP spid="41" grpId="3" animBg="1"/>
      <p:bldP spid="42" grpId="3" animBg="1"/>
      <p:bldP spid="43" grpId="3" animBg="1"/>
      <p:bldP spid="44" grpId="3" animBg="1"/>
      <p:bldP spid="45" grpId="3" animBg="1"/>
      <p:bldP spid="46" grpId="3" animBg="1"/>
      <p:bldP spid="47" grpId="3" animBg="1"/>
      <p:bldP spid="48" grpId="3" animBg="1"/>
      <p:bldP spid="49" grpId="3" animBg="1"/>
      <p:bldP spid="50" grpId="3" animBg="1"/>
      <p:bldP spid="51" grpId="3" animBg="1"/>
      <p:bldP spid="52" grpId="3" animBg="1"/>
      <p:bldP spid="53" grpId="3" animBg="1"/>
      <p:bldP spid="54" grpId="3" animBg="1"/>
      <p:bldP spid="55" grpId="3" animBg="1"/>
      <p:bldP spid="56" grpId="4" animBg="1"/>
      <p:bldP spid="57" grpId="4"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0E8"/>
          </a:solidFill>
          <a:ln w="12700">
            <a:solidFill>
              <a:srgbClr val="F2F0E8"/>
            </a:solidFill>
            <a:prstDash val="solid"/>
          </a:ln>
        </p:spPr>
        <p:txBody>
          <a:bodyPr/>
          <a:lstStyle/>
          <a:p>
            <a:endParaRPr lang="en-US"/>
          </a:p>
        </p:txBody>
      </p:sp>
      <p:sp>
        <p:nvSpPr>
          <p:cNvPr id="3" name="Shape 1"/>
          <p:cNvSpPr/>
          <p:nvPr/>
        </p:nvSpPr>
        <p:spPr>
          <a:xfrm>
            <a:off x="0" y="0"/>
            <a:ext cx="64008" cy="5143500"/>
          </a:xfrm>
          <a:prstGeom prst="rect">
            <a:avLst/>
          </a:prstGeom>
          <a:solidFill>
            <a:srgbClr val="2A4875"/>
          </a:solidFill>
          <a:ln w="12700">
            <a:solidFill>
              <a:srgbClr val="2A4875"/>
            </a:solidFill>
            <a:prstDash val="solid"/>
          </a:ln>
        </p:spPr>
        <p:txBody>
          <a:bodyPr/>
          <a:lstStyle/>
          <a:p>
            <a:endParaRPr lang="en-US"/>
          </a:p>
        </p:txBody>
      </p:sp>
      <p:sp>
        <p:nvSpPr>
          <p:cNvPr id="4" name="Shape 2"/>
          <p:cNvSpPr/>
          <p:nvPr/>
        </p:nvSpPr>
        <p:spPr>
          <a:xfrm>
            <a:off x="-91440" y="1463040"/>
            <a:ext cx="2926080" cy="2926080"/>
          </a:xfrm>
          <a:prstGeom prst="ellipse">
            <a:avLst/>
          </a:prstGeom>
          <a:solidFill>
            <a:srgbClr val="2A4875">
              <a:alpha val="7000"/>
            </a:srgbClr>
          </a:solidFill>
          <a:ln w="12700">
            <a:solidFill>
              <a:srgbClr val="F7F5F0"/>
            </a:solidFill>
            <a:prstDash val="solid"/>
          </a:ln>
        </p:spPr>
        <p:txBody>
          <a:bodyPr/>
          <a:lstStyle/>
          <a:p>
            <a:endParaRPr lang="en-US"/>
          </a:p>
        </p:txBody>
      </p:sp>
      <p:sp>
        <p:nvSpPr>
          <p:cNvPr id="5" name="Shape 3"/>
          <p:cNvSpPr/>
          <p:nvPr/>
        </p:nvSpPr>
        <p:spPr>
          <a:xfrm>
            <a:off x="640080" y="2194560"/>
            <a:ext cx="1463040" cy="1463040"/>
          </a:xfrm>
          <a:prstGeom prst="ellipse">
            <a:avLst/>
          </a:prstGeom>
          <a:solidFill>
            <a:srgbClr val="2A4875">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2A4875"/>
                </a:solidFill>
                <a:latin typeface="Calibri" pitchFamily="34" charset="0"/>
                <a:ea typeface="Calibri" pitchFamily="34" charset="-122"/>
                <a:cs typeface="Calibri" pitchFamily="34" charset="-120"/>
              </a:rPr>
              <a:t>QA RESULTS</a:t>
            </a:r>
            <a:endParaRPr lang="en-US" sz="900" dirty="0"/>
          </a:p>
        </p:txBody>
      </p:sp>
      <p:sp>
        <p:nvSpPr>
          <p:cNvPr id="7" name="Text 5"/>
          <p:cNvSpPr/>
          <p:nvPr/>
        </p:nvSpPr>
        <p:spPr>
          <a:xfrm>
            <a:off x="457200" y="402336"/>
            <a:ext cx="7315200" cy="256032"/>
          </a:xfrm>
          <a:prstGeom prst="rect">
            <a:avLst/>
          </a:prstGeom>
          <a:noFill/>
          <a:ln/>
        </p:spPr>
        <p:txBody>
          <a:bodyPr wrap="square" rtlCol="0" anchor="ctr"/>
          <a:lstStyle/>
          <a:p>
            <a:pPr marL="0" indent="0">
              <a:buNone/>
            </a:pPr>
            <a:r>
              <a:rPr lang="en-US" sz="1400" dirty="0">
                <a:solidFill>
                  <a:srgbClr val="6E6760"/>
                </a:solidFill>
                <a:latin typeface="Calibri" pitchFamily="34" charset="0"/>
                <a:ea typeface="Calibri" pitchFamily="34" charset="-122"/>
                <a:cs typeface="Calibri" pitchFamily="34" charset="-120"/>
              </a:rPr>
              <a:t>TriviaQA  ·  n = 500  ·  Exact Match Accuracy</a:t>
            </a:r>
            <a:endParaRPr lang="en-US" sz="1400" dirty="0"/>
          </a:p>
        </p:txBody>
      </p:sp>
      <p:sp>
        <p:nvSpPr>
          <p:cNvPr id="8" name="Shape 6"/>
          <p:cNvSpPr/>
          <p:nvPr/>
        </p:nvSpPr>
        <p:spPr>
          <a:xfrm>
            <a:off x="292608" y="804672"/>
            <a:ext cx="2377440" cy="2194560"/>
          </a:xfrm>
          <a:prstGeom prst="roundRect">
            <a:avLst>
              <a:gd name="adj" fmla="val 4167"/>
            </a:avLst>
          </a:prstGeom>
          <a:solidFill>
            <a:srgbClr val="EDEAE3"/>
          </a:solidFill>
          <a:ln w="12700">
            <a:solidFill>
              <a:srgbClr val="2A4875"/>
            </a:solidFill>
            <a:prstDash val="solid"/>
          </a:ln>
        </p:spPr>
        <p:txBody>
          <a:bodyPr/>
          <a:lstStyle/>
          <a:p>
            <a:endParaRPr lang="en-US"/>
          </a:p>
        </p:txBody>
      </p:sp>
      <p:sp>
        <p:nvSpPr>
          <p:cNvPr id="9" name="Shape 7"/>
          <p:cNvSpPr/>
          <p:nvPr/>
        </p:nvSpPr>
        <p:spPr>
          <a:xfrm>
            <a:off x="292608" y="804672"/>
            <a:ext cx="2377440" cy="41148"/>
          </a:xfrm>
          <a:prstGeom prst="rect">
            <a:avLst/>
          </a:prstGeom>
          <a:solidFill>
            <a:srgbClr val="2A4875"/>
          </a:solidFill>
          <a:ln w="12700">
            <a:solidFill>
              <a:srgbClr val="2A4875"/>
            </a:solidFill>
            <a:prstDash val="solid"/>
          </a:ln>
        </p:spPr>
        <p:txBody>
          <a:bodyPr/>
          <a:lstStyle/>
          <a:p>
            <a:endParaRPr lang="en-US"/>
          </a:p>
        </p:txBody>
      </p:sp>
      <p:sp>
        <p:nvSpPr>
          <p:cNvPr id="10" name="Text 8"/>
          <p:cNvSpPr/>
          <p:nvPr/>
        </p:nvSpPr>
        <p:spPr>
          <a:xfrm>
            <a:off x="365760" y="932688"/>
            <a:ext cx="2231136" cy="1141171"/>
          </a:xfrm>
          <a:prstGeom prst="rect">
            <a:avLst/>
          </a:prstGeom>
          <a:noFill/>
          <a:ln/>
        </p:spPr>
        <p:txBody>
          <a:bodyPr wrap="square" rtlCol="0" anchor="ctr"/>
          <a:lstStyle/>
          <a:p>
            <a:pPr marL="0" indent="0" algn="ctr">
              <a:buNone/>
            </a:pPr>
            <a:r>
              <a:rPr lang="en-US" sz="4800" b="1" dirty="0">
                <a:solidFill>
                  <a:srgbClr val="2A4875"/>
                </a:solidFill>
                <a:latin typeface="Calibri" pitchFamily="34" charset="0"/>
                <a:ea typeface="Calibri" pitchFamily="34" charset="-122"/>
                <a:cs typeface="Calibri" pitchFamily="34" charset="-120"/>
              </a:rPr>
              <a:t>70.6%</a:t>
            </a:r>
            <a:endParaRPr lang="en-US" sz="4800" dirty="0"/>
          </a:p>
        </p:txBody>
      </p:sp>
      <p:sp>
        <p:nvSpPr>
          <p:cNvPr id="11" name="Text 9"/>
          <p:cNvSpPr/>
          <p:nvPr/>
        </p:nvSpPr>
        <p:spPr>
          <a:xfrm>
            <a:off x="365760" y="2209190"/>
            <a:ext cx="2231136" cy="658368"/>
          </a:xfrm>
          <a:prstGeom prst="rect">
            <a:avLst/>
          </a:prstGeom>
          <a:noFill/>
          <a:ln/>
        </p:spPr>
        <p:txBody>
          <a:bodyPr wrap="square" rtlCol="0" anchor="ctr"/>
          <a:lstStyle/>
          <a:p>
            <a:pPr marL="0" indent="0" algn="ctr">
              <a:buNone/>
            </a:pPr>
            <a:r>
              <a:rPr lang="en-US" sz="900" dirty="0">
                <a:solidFill>
                  <a:srgbClr val="6E6760"/>
                </a:solidFill>
                <a:latin typeface="Calibri" pitchFamily="34" charset="0"/>
                <a:ea typeface="Calibri" pitchFamily="34" charset="-122"/>
                <a:cs typeface="Calibri" pitchFamily="34" charset="-120"/>
              </a:rPr>
              <a:t>4-Shot Few-Shot</a:t>
            </a:r>
            <a:endParaRPr lang="en-US" sz="900" dirty="0"/>
          </a:p>
          <a:p>
            <a:pPr marL="0" indent="0" algn="ctr">
              <a:buNone/>
            </a:pPr>
            <a:r>
              <a:rPr lang="en-US" sz="900" dirty="0">
                <a:solidFill>
                  <a:srgbClr val="6E6760"/>
                </a:solidFill>
                <a:latin typeface="Calibri" pitchFamily="34" charset="0"/>
                <a:ea typeface="Calibri" pitchFamily="34" charset="-122"/>
                <a:cs typeface="Calibri" pitchFamily="34" charset="-120"/>
              </a:rPr>
              <a:t>p = 0.018 · d = 0.07</a:t>
            </a:r>
            <a:endParaRPr lang="en-US" sz="900" dirty="0"/>
          </a:p>
        </p:txBody>
      </p:sp>
      <p:sp>
        <p:nvSpPr>
          <p:cNvPr id="12" name="Shape 10"/>
          <p:cNvSpPr/>
          <p:nvPr/>
        </p:nvSpPr>
        <p:spPr>
          <a:xfrm>
            <a:off x="292608" y="3090672"/>
            <a:ext cx="2377440" cy="713232"/>
          </a:xfrm>
          <a:prstGeom prst="roundRect">
            <a:avLst>
              <a:gd name="adj" fmla="val 12821"/>
            </a:avLst>
          </a:prstGeom>
          <a:solidFill>
            <a:srgbClr val="EDEAE3"/>
          </a:solidFill>
          <a:ln w="12700">
            <a:solidFill>
              <a:srgbClr val="CFCABC"/>
            </a:solidFill>
            <a:prstDash val="solid"/>
          </a:ln>
        </p:spPr>
        <p:txBody>
          <a:bodyPr/>
          <a:lstStyle/>
          <a:p>
            <a:endParaRPr lang="en-US"/>
          </a:p>
        </p:txBody>
      </p:sp>
      <p:sp>
        <p:nvSpPr>
          <p:cNvPr id="13" name="Text 11"/>
          <p:cNvSpPr/>
          <p:nvPr/>
        </p:nvSpPr>
        <p:spPr>
          <a:xfrm>
            <a:off x="457200" y="3163824"/>
            <a:ext cx="2057400" cy="201168"/>
          </a:xfrm>
          <a:prstGeom prst="rect">
            <a:avLst/>
          </a:prstGeom>
          <a:noFill/>
          <a:ln/>
        </p:spPr>
        <p:txBody>
          <a:bodyPr wrap="square" rtlCol="0" anchor="ctr"/>
          <a:lstStyle/>
          <a:p>
            <a:pPr marL="0" indent="0">
              <a:buNone/>
            </a:pPr>
            <a:r>
              <a:rPr lang="en-US" sz="900" dirty="0">
                <a:solidFill>
                  <a:srgbClr val="6E6760"/>
                </a:solidFill>
                <a:latin typeface="Calibri" pitchFamily="34" charset="0"/>
                <a:ea typeface="Calibri" pitchFamily="34" charset="-122"/>
                <a:cs typeface="Calibri" pitchFamily="34" charset="-120"/>
              </a:rPr>
              <a:t>Zero-Shot baseline</a:t>
            </a:r>
            <a:endParaRPr lang="en-US" sz="900" dirty="0"/>
          </a:p>
        </p:txBody>
      </p:sp>
      <p:sp>
        <p:nvSpPr>
          <p:cNvPr id="14" name="Text 12"/>
          <p:cNvSpPr/>
          <p:nvPr/>
        </p:nvSpPr>
        <p:spPr>
          <a:xfrm>
            <a:off x="457200" y="3364992"/>
            <a:ext cx="2057400" cy="384048"/>
          </a:xfrm>
          <a:prstGeom prst="rect">
            <a:avLst/>
          </a:prstGeom>
          <a:noFill/>
          <a:ln/>
        </p:spPr>
        <p:txBody>
          <a:bodyPr wrap="square" rtlCol="0" anchor="ctr"/>
          <a:lstStyle/>
          <a:p>
            <a:pPr marL="0" indent="0" algn="ctr">
              <a:buNone/>
            </a:pPr>
            <a:r>
              <a:rPr lang="en-US" sz="2600" b="1" dirty="0">
                <a:solidFill>
                  <a:srgbClr val="4A6A9A"/>
                </a:solidFill>
                <a:latin typeface="Calibri" pitchFamily="34" charset="0"/>
                <a:ea typeface="Calibri" pitchFamily="34" charset="-122"/>
                <a:cs typeface="Calibri" pitchFamily="34" charset="-120"/>
              </a:rPr>
              <a:t>67.4%</a:t>
            </a:r>
            <a:endParaRPr lang="en-US" sz="2600" dirty="0"/>
          </a:p>
        </p:txBody>
      </p:sp>
      <p:sp>
        <p:nvSpPr>
          <p:cNvPr id="15" name="Shape 13"/>
          <p:cNvSpPr/>
          <p:nvPr/>
        </p:nvSpPr>
        <p:spPr>
          <a:xfrm>
            <a:off x="2816352" y="804672"/>
            <a:ext cx="6080760" cy="2743200"/>
          </a:xfrm>
          <a:prstGeom prst="roundRect">
            <a:avLst>
              <a:gd name="adj" fmla="val 2667"/>
            </a:avLst>
          </a:prstGeom>
          <a:solidFill>
            <a:srgbClr val="EDEAE3"/>
          </a:solidFill>
          <a:ln w="12700">
            <a:solidFill>
              <a:srgbClr val="CFCABC"/>
            </a:solidFill>
            <a:prstDash val="solid"/>
          </a:ln>
        </p:spPr>
        <p:txBody>
          <a:bodyPr/>
          <a:lstStyle/>
          <a:p>
            <a:endParaRPr lang="en-US"/>
          </a:p>
        </p:txBody>
      </p:sp>
      <p:sp>
        <p:nvSpPr>
          <p:cNvPr id="16" name="Shape 14"/>
          <p:cNvSpPr/>
          <p:nvPr/>
        </p:nvSpPr>
        <p:spPr>
          <a:xfrm>
            <a:off x="3145536" y="3145536"/>
            <a:ext cx="5641848" cy="7315"/>
          </a:xfrm>
          <a:prstGeom prst="rect">
            <a:avLst/>
          </a:prstGeom>
          <a:solidFill>
            <a:srgbClr val="CFCABC"/>
          </a:solidFill>
          <a:ln w="12700">
            <a:solidFill>
              <a:srgbClr val="CFCABC"/>
            </a:solidFill>
            <a:prstDash val="solid"/>
          </a:ln>
        </p:spPr>
        <p:txBody>
          <a:bodyPr/>
          <a:lstStyle/>
          <a:p>
            <a:endParaRPr lang="en-US"/>
          </a:p>
        </p:txBody>
      </p:sp>
      <p:sp>
        <p:nvSpPr>
          <p:cNvPr id="17" name="Text 15"/>
          <p:cNvSpPr/>
          <p:nvPr/>
        </p:nvSpPr>
        <p:spPr>
          <a:xfrm>
            <a:off x="2816352" y="3054096"/>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0</a:t>
            </a:r>
            <a:endParaRPr lang="en-US" sz="750" dirty="0"/>
          </a:p>
        </p:txBody>
      </p:sp>
      <p:sp>
        <p:nvSpPr>
          <p:cNvPr id="18" name="Shape 16"/>
          <p:cNvSpPr/>
          <p:nvPr/>
        </p:nvSpPr>
        <p:spPr>
          <a:xfrm>
            <a:off x="3145536" y="2628900"/>
            <a:ext cx="5641848" cy="7315"/>
          </a:xfrm>
          <a:prstGeom prst="rect">
            <a:avLst/>
          </a:prstGeom>
          <a:solidFill>
            <a:srgbClr val="CFCABC"/>
          </a:solidFill>
          <a:ln w="12700">
            <a:solidFill>
              <a:srgbClr val="CFCABC"/>
            </a:solidFill>
            <a:prstDash val="solid"/>
          </a:ln>
        </p:spPr>
        <p:txBody>
          <a:bodyPr/>
          <a:lstStyle/>
          <a:p>
            <a:endParaRPr lang="en-US"/>
          </a:p>
        </p:txBody>
      </p:sp>
      <p:sp>
        <p:nvSpPr>
          <p:cNvPr id="19" name="Text 17"/>
          <p:cNvSpPr/>
          <p:nvPr/>
        </p:nvSpPr>
        <p:spPr>
          <a:xfrm>
            <a:off x="2816352" y="2537460"/>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20</a:t>
            </a:r>
            <a:endParaRPr lang="en-US" sz="750" dirty="0"/>
          </a:p>
        </p:txBody>
      </p:sp>
      <p:sp>
        <p:nvSpPr>
          <p:cNvPr id="20" name="Shape 18"/>
          <p:cNvSpPr/>
          <p:nvPr/>
        </p:nvSpPr>
        <p:spPr>
          <a:xfrm>
            <a:off x="3145536" y="2112264"/>
            <a:ext cx="5641848" cy="7315"/>
          </a:xfrm>
          <a:prstGeom prst="rect">
            <a:avLst/>
          </a:prstGeom>
          <a:solidFill>
            <a:srgbClr val="CFCABC"/>
          </a:solidFill>
          <a:ln w="12700">
            <a:solidFill>
              <a:srgbClr val="CFCABC"/>
            </a:solidFill>
            <a:prstDash val="solid"/>
          </a:ln>
        </p:spPr>
        <p:txBody>
          <a:bodyPr/>
          <a:lstStyle/>
          <a:p>
            <a:endParaRPr lang="en-US"/>
          </a:p>
        </p:txBody>
      </p:sp>
      <p:sp>
        <p:nvSpPr>
          <p:cNvPr id="21" name="Text 19"/>
          <p:cNvSpPr/>
          <p:nvPr/>
        </p:nvSpPr>
        <p:spPr>
          <a:xfrm>
            <a:off x="2816352" y="2020824"/>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40</a:t>
            </a:r>
            <a:endParaRPr lang="en-US" sz="750" dirty="0"/>
          </a:p>
        </p:txBody>
      </p:sp>
      <p:sp>
        <p:nvSpPr>
          <p:cNvPr id="22" name="Shape 20"/>
          <p:cNvSpPr/>
          <p:nvPr/>
        </p:nvSpPr>
        <p:spPr>
          <a:xfrm>
            <a:off x="3145536" y="1595628"/>
            <a:ext cx="5641848" cy="7315"/>
          </a:xfrm>
          <a:prstGeom prst="rect">
            <a:avLst/>
          </a:prstGeom>
          <a:solidFill>
            <a:srgbClr val="CFCABC"/>
          </a:solidFill>
          <a:ln w="12700">
            <a:solidFill>
              <a:srgbClr val="CFCABC"/>
            </a:solidFill>
            <a:prstDash val="solid"/>
          </a:ln>
        </p:spPr>
        <p:txBody>
          <a:bodyPr/>
          <a:lstStyle/>
          <a:p>
            <a:endParaRPr lang="en-US"/>
          </a:p>
        </p:txBody>
      </p:sp>
      <p:sp>
        <p:nvSpPr>
          <p:cNvPr id="23" name="Text 21"/>
          <p:cNvSpPr/>
          <p:nvPr/>
        </p:nvSpPr>
        <p:spPr>
          <a:xfrm>
            <a:off x="2816352" y="1504188"/>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60</a:t>
            </a:r>
            <a:endParaRPr lang="en-US" sz="750" dirty="0"/>
          </a:p>
        </p:txBody>
      </p:sp>
      <p:sp>
        <p:nvSpPr>
          <p:cNvPr id="24" name="Shape 22"/>
          <p:cNvSpPr/>
          <p:nvPr/>
        </p:nvSpPr>
        <p:spPr>
          <a:xfrm>
            <a:off x="3145536" y="1078992"/>
            <a:ext cx="5641848" cy="7315"/>
          </a:xfrm>
          <a:prstGeom prst="rect">
            <a:avLst/>
          </a:prstGeom>
          <a:solidFill>
            <a:srgbClr val="CFCABC"/>
          </a:solidFill>
          <a:ln w="12700">
            <a:solidFill>
              <a:srgbClr val="CFCABC"/>
            </a:solidFill>
            <a:prstDash val="solid"/>
          </a:ln>
        </p:spPr>
        <p:txBody>
          <a:bodyPr/>
          <a:lstStyle/>
          <a:p>
            <a:endParaRPr lang="en-US"/>
          </a:p>
        </p:txBody>
      </p:sp>
      <p:sp>
        <p:nvSpPr>
          <p:cNvPr id="25" name="Text 23"/>
          <p:cNvSpPr/>
          <p:nvPr/>
        </p:nvSpPr>
        <p:spPr>
          <a:xfrm>
            <a:off x="2816352" y="987552"/>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80</a:t>
            </a:r>
            <a:endParaRPr lang="en-US" sz="750" dirty="0"/>
          </a:p>
        </p:txBody>
      </p:sp>
      <p:sp>
        <p:nvSpPr>
          <p:cNvPr id="26" name="Shape 24"/>
          <p:cNvSpPr/>
          <p:nvPr/>
        </p:nvSpPr>
        <p:spPr>
          <a:xfrm>
            <a:off x="3333598" y="1404473"/>
            <a:ext cx="564185" cy="1741063"/>
          </a:xfrm>
          <a:prstGeom prst="roundRect">
            <a:avLst>
              <a:gd name="adj" fmla="val 7293"/>
            </a:avLst>
          </a:prstGeom>
          <a:solidFill>
            <a:srgbClr val="5E7EAA"/>
          </a:solidFill>
          <a:ln w="12700">
            <a:solidFill>
              <a:srgbClr val="5E7EAA"/>
            </a:solidFill>
            <a:prstDash val="solid"/>
          </a:ln>
        </p:spPr>
        <p:txBody>
          <a:bodyPr/>
          <a:lstStyle/>
          <a:p>
            <a:endParaRPr lang="en-US"/>
          </a:p>
        </p:txBody>
      </p:sp>
      <p:sp>
        <p:nvSpPr>
          <p:cNvPr id="27" name="Shape 25"/>
          <p:cNvSpPr/>
          <p:nvPr/>
        </p:nvSpPr>
        <p:spPr>
          <a:xfrm>
            <a:off x="3390016" y="1404473"/>
            <a:ext cx="451348" cy="91440"/>
          </a:xfrm>
          <a:prstGeom prst="roundRect">
            <a:avLst>
              <a:gd name="adj" fmla="val 40000"/>
            </a:avLst>
          </a:prstGeom>
          <a:solidFill>
            <a:srgbClr val="FFFFFF">
              <a:alpha val="12000"/>
            </a:srgbClr>
          </a:solidFill>
          <a:ln w="12700">
            <a:solidFill>
              <a:srgbClr val="5E7EAA"/>
            </a:solidFill>
            <a:prstDash val="solid"/>
          </a:ln>
        </p:spPr>
        <p:txBody>
          <a:bodyPr/>
          <a:lstStyle/>
          <a:p>
            <a:endParaRPr lang="en-US"/>
          </a:p>
        </p:txBody>
      </p:sp>
      <p:sp>
        <p:nvSpPr>
          <p:cNvPr id="28" name="Text 26"/>
          <p:cNvSpPr/>
          <p:nvPr/>
        </p:nvSpPr>
        <p:spPr>
          <a:xfrm>
            <a:off x="3242158" y="1185017"/>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67.4</a:t>
            </a:r>
            <a:endParaRPr lang="en-US" sz="950" dirty="0"/>
          </a:p>
        </p:txBody>
      </p:sp>
      <p:sp>
        <p:nvSpPr>
          <p:cNvPr id="29" name="Text 27"/>
          <p:cNvSpPr/>
          <p:nvPr/>
        </p:nvSpPr>
        <p:spPr>
          <a:xfrm>
            <a:off x="3242158"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Zero-Shot</a:t>
            </a:r>
            <a:endParaRPr lang="en-US" sz="850" dirty="0"/>
          </a:p>
        </p:txBody>
      </p:sp>
      <p:sp>
        <p:nvSpPr>
          <p:cNvPr id="30" name="Shape 28"/>
          <p:cNvSpPr/>
          <p:nvPr/>
        </p:nvSpPr>
        <p:spPr>
          <a:xfrm>
            <a:off x="4273906" y="1357975"/>
            <a:ext cx="564185" cy="1787561"/>
          </a:xfrm>
          <a:prstGeom prst="roundRect">
            <a:avLst>
              <a:gd name="adj" fmla="val 7293"/>
            </a:avLst>
          </a:prstGeom>
          <a:solidFill>
            <a:srgbClr val="4A6C9A"/>
          </a:solidFill>
          <a:ln w="12700">
            <a:solidFill>
              <a:srgbClr val="4A6C9A"/>
            </a:solidFill>
            <a:prstDash val="solid"/>
          </a:ln>
        </p:spPr>
        <p:txBody>
          <a:bodyPr/>
          <a:lstStyle/>
          <a:p>
            <a:endParaRPr lang="en-US"/>
          </a:p>
        </p:txBody>
      </p:sp>
      <p:sp>
        <p:nvSpPr>
          <p:cNvPr id="31" name="Shape 29"/>
          <p:cNvSpPr/>
          <p:nvPr/>
        </p:nvSpPr>
        <p:spPr>
          <a:xfrm>
            <a:off x="4330324" y="1357975"/>
            <a:ext cx="451348" cy="91440"/>
          </a:xfrm>
          <a:prstGeom prst="roundRect">
            <a:avLst>
              <a:gd name="adj" fmla="val 40000"/>
            </a:avLst>
          </a:prstGeom>
          <a:solidFill>
            <a:srgbClr val="FFFFFF">
              <a:alpha val="12000"/>
            </a:srgbClr>
          </a:solidFill>
          <a:ln w="12700">
            <a:solidFill>
              <a:srgbClr val="4A6C9A"/>
            </a:solidFill>
            <a:prstDash val="solid"/>
          </a:ln>
        </p:spPr>
        <p:txBody>
          <a:bodyPr/>
          <a:lstStyle/>
          <a:p>
            <a:endParaRPr lang="en-US"/>
          </a:p>
        </p:txBody>
      </p:sp>
      <p:sp>
        <p:nvSpPr>
          <p:cNvPr id="32" name="Text 30"/>
          <p:cNvSpPr/>
          <p:nvPr/>
        </p:nvSpPr>
        <p:spPr>
          <a:xfrm>
            <a:off x="4182466" y="1138519"/>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69.6</a:t>
            </a:r>
            <a:endParaRPr lang="en-US" sz="950" dirty="0"/>
          </a:p>
        </p:txBody>
      </p:sp>
      <p:sp>
        <p:nvSpPr>
          <p:cNvPr id="33" name="Text 31"/>
          <p:cNvSpPr/>
          <p:nvPr/>
        </p:nvSpPr>
        <p:spPr>
          <a:xfrm>
            <a:off x="4182466"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2-Shot</a:t>
            </a:r>
            <a:endParaRPr lang="en-US" sz="850" dirty="0"/>
          </a:p>
        </p:txBody>
      </p:sp>
      <p:sp>
        <p:nvSpPr>
          <p:cNvPr id="34" name="Shape 32"/>
          <p:cNvSpPr/>
          <p:nvPr/>
        </p:nvSpPr>
        <p:spPr>
          <a:xfrm>
            <a:off x="5214214" y="1321811"/>
            <a:ext cx="564185" cy="1823725"/>
          </a:xfrm>
          <a:prstGeom prst="roundRect">
            <a:avLst>
              <a:gd name="adj" fmla="val 7293"/>
            </a:avLst>
          </a:prstGeom>
          <a:solidFill>
            <a:srgbClr val="1A3560"/>
          </a:solidFill>
          <a:ln w="12700">
            <a:solidFill>
              <a:srgbClr val="1A3560"/>
            </a:solidFill>
            <a:prstDash val="solid"/>
          </a:ln>
        </p:spPr>
        <p:txBody>
          <a:bodyPr/>
          <a:lstStyle/>
          <a:p>
            <a:endParaRPr lang="en-US"/>
          </a:p>
        </p:txBody>
      </p:sp>
      <p:sp>
        <p:nvSpPr>
          <p:cNvPr id="35" name="Shape 33"/>
          <p:cNvSpPr/>
          <p:nvPr/>
        </p:nvSpPr>
        <p:spPr>
          <a:xfrm>
            <a:off x="5270632" y="1321811"/>
            <a:ext cx="451348" cy="91440"/>
          </a:xfrm>
          <a:prstGeom prst="roundRect">
            <a:avLst>
              <a:gd name="adj" fmla="val 40000"/>
            </a:avLst>
          </a:prstGeom>
          <a:solidFill>
            <a:srgbClr val="FFFFFF">
              <a:alpha val="12000"/>
            </a:srgbClr>
          </a:solidFill>
          <a:ln w="12700">
            <a:solidFill>
              <a:srgbClr val="1A3560"/>
            </a:solidFill>
            <a:prstDash val="solid"/>
          </a:ln>
        </p:spPr>
        <p:txBody>
          <a:bodyPr/>
          <a:lstStyle/>
          <a:p>
            <a:endParaRPr lang="en-US"/>
          </a:p>
        </p:txBody>
      </p:sp>
      <p:sp>
        <p:nvSpPr>
          <p:cNvPr id="36" name="Text 34"/>
          <p:cNvSpPr/>
          <p:nvPr/>
        </p:nvSpPr>
        <p:spPr>
          <a:xfrm>
            <a:off x="5122774" y="1102355"/>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70.6</a:t>
            </a:r>
            <a:endParaRPr lang="en-US" sz="950" dirty="0"/>
          </a:p>
        </p:txBody>
      </p:sp>
      <p:sp>
        <p:nvSpPr>
          <p:cNvPr id="37" name="Text 35"/>
          <p:cNvSpPr/>
          <p:nvPr/>
        </p:nvSpPr>
        <p:spPr>
          <a:xfrm>
            <a:off x="5122774"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4-Shot</a:t>
            </a:r>
            <a:endParaRPr lang="en-US" sz="850" dirty="0"/>
          </a:p>
        </p:txBody>
      </p:sp>
      <p:sp>
        <p:nvSpPr>
          <p:cNvPr id="38" name="Shape 36"/>
          <p:cNvSpPr/>
          <p:nvPr/>
        </p:nvSpPr>
        <p:spPr>
          <a:xfrm>
            <a:off x="6154522" y="1342476"/>
            <a:ext cx="564185" cy="1803060"/>
          </a:xfrm>
          <a:prstGeom prst="roundRect">
            <a:avLst>
              <a:gd name="adj" fmla="val 7293"/>
            </a:avLst>
          </a:prstGeom>
          <a:solidFill>
            <a:srgbClr val="2E5280"/>
          </a:solidFill>
          <a:ln w="12700">
            <a:solidFill>
              <a:srgbClr val="2E5280"/>
            </a:solidFill>
            <a:prstDash val="solid"/>
          </a:ln>
        </p:spPr>
        <p:txBody>
          <a:bodyPr/>
          <a:lstStyle/>
          <a:p>
            <a:endParaRPr lang="en-US"/>
          </a:p>
        </p:txBody>
      </p:sp>
      <p:sp>
        <p:nvSpPr>
          <p:cNvPr id="39" name="Shape 37"/>
          <p:cNvSpPr/>
          <p:nvPr/>
        </p:nvSpPr>
        <p:spPr>
          <a:xfrm>
            <a:off x="6210940" y="1342476"/>
            <a:ext cx="451348" cy="91440"/>
          </a:xfrm>
          <a:prstGeom prst="roundRect">
            <a:avLst>
              <a:gd name="adj" fmla="val 40000"/>
            </a:avLst>
          </a:prstGeom>
          <a:solidFill>
            <a:srgbClr val="FFFFFF">
              <a:alpha val="12000"/>
            </a:srgbClr>
          </a:solidFill>
          <a:ln w="12700">
            <a:solidFill>
              <a:srgbClr val="2E5280"/>
            </a:solidFill>
            <a:prstDash val="solid"/>
          </a:ln>
        </p:spPr>
        <p:txBody>
          <a:bodyPr/>
          <a:lstStyle/>
          <a:p>
            <a:endParaRPr lang="en-US"/>
          </a:p>
        </p:txBody>
      </p:sp>
      <p:sp>
        <p:nvSpPr>
          <p:cNvPr id="40" name="Text 38"/>
          <p:cNvSpPr/>
          <p:nvPr/>
        </p:nvSpPr>
        <p:spPr>
          <a:xfrm>
            <a:off x="6063082" y="1123020"/>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69.4</a:t>
            </a:r>
            <a:endParaRPr lang="en-US" sz="950" dirty="0"/>
          </a:p>
        </p:txBody>
      </p:sp>
      <p:sp>
        <p:nvSpPr>
          <p:cNvPr id="41" name="Text 39"/>
          <p:cNvSpPr/>
          <p:nvPr/>
        </p:nvSpPr>
        <p:spPr>
          <a:xfrm>
            <a:off x="6063082"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8-Shot</a:t>
            </a:r>
            <a:endParaRPr lang="en-US" sz="850" dirty="0"/>
          </a:p>
        </p:txBody>
      </p:sp>
      <p:sp>
        <p:nvSpPr>
          <p:cNvPr id="42" name="Shape 40"/>
          <p:cNvSpPr/>
          <p:nvPr/>
        </p:nvSpPr>
        <p:spPr>
          <a:xfrm>
            <a:off x="7094830" y="1463886"/>
            <a:ext cx="564185" cy="1681650"/>
          </a:xfrm>
          <a:prstGeom prst="roundRect">
            <a:avLst>
              <a:gd name="adj" fmla="val 7293"/>
            </a:avLst>
          </a:prstGeom>
          <a:solidFill>
            <a:srgbClr val="C4C0B6"/>
          </a:solidFill>
          <a:ln w="12700">
            <a:solidFill>
              <a:srgbClr val="C4C0B6"/>
            </a:solidFill>
            <a:prstDash val="solid"/>
          </a:ln>
        </p:spPr>
        <p:txBody>
          <a:bodyPr/>
          <a:lstStyle/>
          <a:p>
            <a:endParaRPr lang="en-US"/>
          </a:p>
        </p:txBody>
      </p:sp>
      <p:sp>
        <p:nvSpPr>
          <p:cNvPr id="43" name="Shape 41"/>
          <p:cNvSpPr/>
          <p:nvPr/>
        </p:nvSpPr>
        <p:spPr>
          <a:xfrm>
            <a:off x="7151248" y="1463886"/>
            <a:ext cx="451348" cy="91440"/>
          </a:xfrm>
          <a:prstGeom prst="roundRect">
            <a:avLst>
              <a:gd name="adj" fmla="val 40000"/>
            </a:avLst>
          </a:prstGeom>
          <a:solidFill>
            <a:srgbClr val="FFFFFF">
              <a:alpha val="12000"/>
            </a:srgbClr>
          </a:solidFill>
          <a:ln w="12700">
            <a:solidFill>
              <a:srgbClr val="C4C0B6"/>
            </a:solidFill>
            <a:prstDash val="solid"/>
          </a:ln>
        </p:spPr>
        <p:txBody>
          <a:bodyPr/>
          <a:lstStyle/>
          <a:p>
            <a:endParaRPr lang="en-US"/>
          </a:p>
        </p:txBody>
      </p:sp>
      <p:sp>
        <p:nvSpPr>
          <p:cNvPr id="44" name="Text 42"/>
          <p:cNvSpPr/>
          <p:nvPr/>
        </p:nvSpPr>
        <p:spPr>
          <a:xfrm>
            <a:off x="7003390" y="1244430"/>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66.6</a:t>
            </a:r>
            <a:endParaRPr lang="en-US" sz="950" dirty="0"/>
          </a:p>
        </p:txBody>
      </p:sp>
      <p:sp>
        <p:nvSpPr>
          <p:cNvPr id="45" name="Text 43"/>
          <p:cNvSpPr/>
          <p:nvPr/>
        </p:nvSpPr>
        <p:spPr>
          <a:xfrm>
            <a:off x="7003390"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CoT</a:t>
            </a:r>
            <a:endParaRPr lang="en-US" sz="850" dirty="0"/>
          </a:p>
        </p:txBody>
      </p:sp>
      <p:sp>
        <p:nvSpPr>
          <p:cNvPr id="46" name="Shape 44"/>
          <p:cNvSpPr/>
          <p:nvPr/>
        </p:nvSpPr>
        <p:spPr>
          <a:xfrm>
            <a:off x="8035138" y="2122597"/>
            <a:ext cx="564185" cy="1022939"/>
          </a:xfrm>
          <a:prstGeom prst="roundRect">
            <a:avLst>
              <a:gd name="adj" fmla="val 7293"/>
            </a:avLst>
          </a:prstGeom>
          <a:solidFill>
            <a:srgbClr val="D8D4CC"/>
          </a:solidFill>
          <a:ln w="12700">
            <a:solidFill>
              <a:srgbClr val="D8D4CC"/>
            </a:solidFill>
            <a:prstDash val="solid"/>
          </a:ln>
        </p:spPr>
        <p:txBody>
          <a:bodyPr/>
          <a:lstStyle/>
          <a:p>
            <a:endParaRPr lang="en-US"/>
          </a:p>
        </p:txBody>
      </p:sp>
      <p:sp>
        <p:nvSpPr>
          <p:cNvPr id="47" name="Shape 45"/>
          <p:cNvSpPr/>
          <p:nvPr/>
        </p:nvSpPr>
        <p:spPr>
          <a:xfrm>
            <a:off x="8091556" y="2122597"/>
            <a:ext cx="451348" cy="91440"/>
          </a:xfrm>
          <a:prstGeom prst="roundRect">
            <a:avLst>
              <a:gd name="adj" fmla="val 40000"/>
            </a:avLst>
          </a:prstGeom>
          <a:solidFill>
            <a:srgbClr val="FFFFFF">
              <a:alpha val="12000"/>
            </a:srgbClr>
          </a:solidFill>
          <a:ln w="12700">
            <a:solidFill>
              <a:srgbClr val="D8D4CC"/>
            </a:solidFill>
            <a:prstDash val="solid"/>
          </a:ln>
        </p:spPr>
        <p:txBody>
          <a:bodyPr/>
          <a:lstStyle/>
          <a:p>
            <a:endParaRPr lang="en-US"/>
          </a:p>
        </p:txBody>
      </p:sp>
      <p:sp>
        <p:nvSpPr>
          <p:cNvPr id="48" name="Text 46"/>
          <p:cNvSpPr/>
          <p:nvPr/>
        </p:nvSpPr>
        <p:spPr>
          <a:xfrm>
            <a:off x="7943698" y="1903141"/>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39.6</a:t>
            </a:r>
            <a:endParaRPr lang="en-US" sz="950" dirty="0"/>
          </a:p>
        </p:txBody>
      </p:sp>
      <p:sp>
        <p:nvSpPr>
          <p:cNvPr id="49" name="Text 47"/>
          <p:cNvSpPr/>
          <p:nvPr/>
        </p:nvSpPr>
        <p:spPr>
          <a:xfrm>
            <a:off x="7943698"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ZS-CoT</a:t>
            </a:r>
            <a:endParaRPr lang="en-US" sz="850" dirty="0"/>
          </a:p>
        </p:txBody>
      </p:sp>
      <p:sp>
        <p:nvSpPr>
          <p:cNvPr id="50" name="Shape 48"/>
          <p:cNvSpPr/>
          <p:nvPr/>
        </p:nvSpPr>
        <p:spPr>
          <a:xfrm>
            <a:off x="292608" y="3913632"/>
            <a:ext cx="8558784" cy="292608"/>
          </a:xfrm>
          <a:prstGeom prst="roundRect">
            <a:avLst>
              <a:gd name="adj" fmla="val 18750"/>
            </a:avLst>
          </a:prstGeom>
          <a:solidFill>
            <a:srgbClr val="6E5200">
              <a:alpha val="12000"/>
            </a:srgbClr>
          </a:solidFill>
          <a:ln w="12700">
            <a:solidFill>
              <a:srgbClr val="6E5200"/>
            </a:solidFill>
            <a:prstDash val="solid"/>
          </a:ln>
        </p:spPr>
        <p:txBody>
          <a:bodyPr/>
          <a:lstStyle/>
          <a:p>
            <a:endParaRPr lang="en-US"/>
          </a:p>
        </p:txBody>
      </p:sp>
      <p:sp>
        <p:nvSpPr>
          <p:cNvPr id="51" name="Text 49"/>
          <p:cNvSpPr/>
          <p:nvPr/>
        </p:nvSpPr>
        <p:spPr>
          <a:xfrm>
            <a:off x="457200" y="3941064"/>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Statistical significance (p=0.018) but negligible effect size (d=0.07) -significant ≠ meaningful</a:t>
            </a:r>
            <a:endParaRPr lang="en-US" sz="1000" dirty="0"/>
          </a:p>
        </p:txBody>
      </p:sp>
      <p:sp>
        <p:nvSpPr>
          <p:cNvPr id="52" name="Shape 50"/>
          <p:cNvSpPr/>
          <p:nvPr/>
        </p:nvSpPr>
        <p:spPr>
          <a:xfrm>
            <a:off x="292608" y="4261104"/>
            <a:ext cx="8558784" cy="292608"/>
          </a:xfrm>
          <a:prstGeom prst="roundRect">
            <a:avLst>
              <a:gd name="adj" fmla="val 18750"/>
            </a:avLst>
          </a:prstGeom>
          <a:solidFill>
            <a:srgbClr val="7A3020">
              <a:alpha val="12000"/>
            </a:srgbClr>
          </a:solidFill>
          <a:ln w="12700">
            <a:solidFill>
              <a:srgbClr val="7A3020"/>
            </a:solidFill>
            <a:prstDash val="solid"/>
          </a:ln>
        </p:spPr>
        <p:txBody>
          <a:bodyPr/>
          <a:lstStyle/>
          <a:p>
            <a:endParaRPr lang="en-US"/>
          </a:p>
        </p:txBody>
      </p:sp>
      <p:sp>
        <p:nvSpPr>
          <p:cNvPr id="53" name="Text 51"/>
          <p:cNvSpPr/>
          <p:nvPr/>
        </p:nvSpPr>
        <p:spPr>
          <a:xfrm>
            <a:off x="457200" y="4288536"/>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Zero-Shot CoT drops to 39.6% -reasoning scaffold actively hurts factual retrieval</a:t>
            </a:r>
            <a:endParaRPr lang="en-US" sz="1000" dirty="0"/>
          </a:p>
        </p:txBody>
      </p:sp>
      <p:sp>
        <p:nvSpPr>
          <p:cNvPr id="54" name="Shape 52"/>
          <p:cNvSpPr/>
          <p:nvPr/>
        </p:nvSpPr>
        <p:spPr>
          <a:xfrm>
            <a:off x="292608" y="4608576"/>
            <a:ext cx="8558784" cy="292608"/>
          </a:xfrm>
          <a:prstGeom prst="roundRect">
            <a:avLst>
              <a:gd name="adj" fmla="val 18750"/>
            </a:avLst>
          </a:prstGeom>
          <a:solidFill>
            <a:srgbClr val="245E3E">
              <a:alpha val="12000"/>
            </a:srgbClr>
          </a:solidFill>
          <a:ln w="12700">
            <a:solidFill>
              <a:srgbClr val="245E3E"/>
            </a:solidFill>
            <a:prstDash val="solid"/>
          </a:ln>
        </p:spPr>
        <p:txBody>
          <a:bodyPr/>
          <a:lstStyle/>
          <a:p>
            <a:endParaRPr lang="en-US"/>
          </a:p>
        </p:txBody>
      </p:sp>
      <p:sp>
        <p:nvSpPr>
          <p:cNvPr id="55" name="Text 53"/>
          <p:cNvSpPr/>
          <p:nvPr/>
        </p:nvSpPr>
        <p:spPr>
          <a:xfrm>
            <a:off x="457200" y="4636008"/>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Practical recommendation: use Zero-Shot -7× cheaper, statistically equivalent to Few-Shot</a:t>
            </a:r>
            <a:endParaRPr lang="en-US" sz="10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3" presetID="10" presetClass="entr" presetSubtype="0" fill="hold" grpId="0" nodeType="clickEffect">
                            <p:stCondLst>
                              <p:cond delay="0"/>
                            </p:stCondLst>
                            <p:childTnLst>
                              <p:animEffect transition="in" filter="fade">
                                <p:cBhvr>
                                  <p:cTn id="50001" dur="350"/>
                                  <p:tgtEl>
                                    <p:spTgt spid="6"/>
                                  </p:tgtEl>
                                </p:cBhvr>
                              </p:animEffect>
                              <p:animEffect transition="in" filter="fade">
                                <p:cBhvr>
                                  <p:cTn id="50002" dur="350"/>
                                  <p:tgtEl>
                                    <p:spTgt spid="7"/>
                                  </p:tgtEl>
                                </p:cBhvr>
                              </p:animEffect>
                            </p:childTnLst>
                          </p:cTn>
                        </p:par>
                      </p:childTnLst>
                    </p:cTn>
                  </p:par>
                  <p:par>
                    <p:cTn id="50100" fill="hold">
                      <p:stCondLst>
                        <p:cond delay="600"/>
                      </p:stCondLst>
                      <p:childTnLst>
                        <p:par>
                          <p:cTn id="50107" presetID="10" presetClass="entr" presetSubtype="0" fill="hold" grpId="1" nodeType="withEffect">
                            <p:stCondLst>
                              <p:cond delay="0"/>
                            </p:stCondLst>
                            <p:childTnLst>
                              <p:animEffect transition="in" filter="fade">
                                <p:cBhvr>
                                  <p:cTn id="50101" dur="550"/>
                                  <p:tgtEl>
                                    <p:spTgt spid="8"/>
                                  </p:tgtEl>
                                </p:cBhvr>
                              </p:animEffect>
                              <p:animEffect transition="in" filter="fade">
                                <p:cBhvr>
                                  <p:cTn id="50102" dur="550"/>
                                  <p:tgtEl>
                                    <p:spTgt spid="4"/>
                                  </p:tgtEl>
                                </p:cBhvr>
                              </p:animEffect>
                              <p:animEffect transition="in" filter="fade">
                                <p:cBhvr>
                                  <p:cTn id="50103" dur="550"/>
                                  <p:tgtEl>
                                    <p:spTgt spid="5"/>
                                  </p:tgtEl>
                                </p:cBhvr>
                              </p:animEffect>
                              <p:animEffect transition="in" filter="fade">
                                <p:cBhvr>
                                  <p:cTn id="50104" dur="550"/>
                                  <p:tgtEl>
                                    <p:spTgt spid="9"/>
                                  </p:tgtEl>
                                </p:cBhvr>
                              </p:animEffect>
                              <p:animEffect transition="in" filter="fade">
                                <p:cBhvr>
                                  <p:cTn id="50105" dur="550"/>
                                  <p:tgtEl>
                                    <p:spTgt spid="10"/>
                                  </p:tgtEl>
                                </p:cBhvr>
                              </p:animEffect>
                              <p:animEffect transition="in" filter="fade">
                                <p:cBhvr>
                                  <p:cTn id="50106" dur="550"/>
                                  <p:tgtEl>
                                    <p:spTgt spid="11"/>
                                  </p:tgtEl>
                                </p:cBhvr>
                              </p:animEffect>
                            </p:childTnLst>
                          </p:cTn>
                        </p:par>
                      </p:childTnLst>
                    </p:cTn>
                  </p:par>
                  <p:par>
                    <p:cTn id="50200" fill="hold">
                      <p:stCondLst>
                        <p:cond delay="700"/>
                      </p:stCondLst>
                      <p:childTnLst>
                        <p:par>
                          <p:cTn id="50202" presetID="10" presetClass="entr" presetSubtype="0" fill="hold" grpId="2" nodeType="withEffect">
                            <p:stCondLst>
                              <p:cond delay="0"/>
                            </p:stCondLst>
                            <p:childTnLst>
                              <p:animEffect transition="in" filter="fade">
                                <p:cBhvr>
                                  <p:cTn id="50201" dur="350"/>
                                  <p:tgtEl>
                                    <p:spTgt spid="15"/>
                                  </p:tgtEl>
                                </p:cBhvr>
                              </p:animEffect>
                            </p:childTnLst>
                          </p:cTn>
                        </p:par>
                      </p:childTnLst>
                    </p:cTn>
                  </p:par>
                  <p:par>
                    <p:cTn id="50300" fill="hold">
                      <p:stCondLst>
                        <p:cond delay="800"/>
                      </p:stCondLst>
                      <p:childTnLst>
                        <p:par>
                          <p:cTn id="50335" presetID="35" presetClass="entr" presetSubtype="2" fill="hold" grpId="3" nodeType="withEffect">
                            <p:stCondLst>
                              <p:cond delay="0"/>
                            </p:stCondLst>
                            <p:childTnLst>
                              <p:animEffect transition="in" filter="wipe(up)">
                                <p:cBhvr>
                                  <p:cTn id="50301" dur="450"/>
                                  <p:tgtEl>
                                    <p:spTgt spid="17"/>
                                  </p:tgtEl>
                                </p:cBhvr>
                              </p:animEffect>
                              <p:animEffect transition="in" filter="wipe(up)">
                                <p:cBhvr>
                                  <p:cTn id="50302" dur="450"/>
                                  <p:tgtEl>
                                    <p:spTgt spid="19"/>
                                  </p:tgtEl>
                                </p:cBhvr>
                              </p:animEffect>
                              <p:animEffect transition="in" filter="wipe(up)">
                                <p:cBhvr>
                                  <p:cTn id="50303" dur="450"/>
                                  <p:tgtEl>
                                    <p:spTgt spid="21"/>
                                  </p:tgtEl>
                                </p:cBhvr>
                              </p:animEffect>
                              <p:animEffect transition="in" filter="wipe(up)">
                                <p:cBhvr>
                                  <p:cTn id="50304" dur="450"/>
                                  <p:tgtEl>
                                    <p:spTgt spid="23"/>
                                  </p:tgtEl>
                                </p:cBhvr>
                              </p:animEffect>
                              <p:animEffect transition="in" filter="wipe(up)">
                                <p:cBhvr>
                                  <p:cTn id="50305" dur="450"/>
                                  <p:tgtEl>
                                    <p:spTgt spid="25"/>
                                  </p:tgtEl>
                                </p:cBhvr>
                              </p:animEffect>
                              <p:animEffect transition="in" filter="wipe(up)">
                                <p:cBhvr>
                                  <p:cTn id="50306" dur="450"/>
                                  <p:tgtEl>
                                    <p:spTgt spid="16"/>
                                  </p:tgtEl>
                                </p:cBhvr>
                              </p:animEffect>
                              <p:animEffect transition="in" filter="wipe(up)">
                                <p:cBhvr>
                                  <p:cTn id="50307" dur="450"/>
                                  <p:tgtEl>
                                    <p:spTgt spid="18"/>
                                  </p:tgtEl>
                                </p:cBhvr>
                              </p:animEffect>
                              <p:animEffect transition="in" filter="wipe(up)">
                                <p:cBhvr>
                                  <p:cTn id="50308" dur="450"/>
                                  <p:tgtEl>
                                    <p:spTgt spid="20"/>
                                  </p:tgtEl>
                                </p:cBhvr>
                              </p:animEffect>
                              <p:animEffect transition="in" filter="wipe(up)">
                                <p:cBhvr>
                                  <p:cTn id="50309" dur="450"/>
                                  <p:tgtEl>
                                    <p:spTgt spid="22"/>
                                  </p:tgtEl>
                                </p:cBhvr>
                              </p:animEffect>
                              <p:animEffect transition="in" filter="wipe(up)">
                                <p:cBhvr>
                                  <p:cTn id="50310" dur="450"/>
                                  <p:tgtEl>
                                    <p:spTgt spid="24"/>
                                  </p:tgtEl>
                                </p:cBhvr>
                              </p:animEffect>
                              <p:animEffect transition="in" filter="wipe(up)">
                                <p:cBhvr>
                                  <p:cTn id="50311" dur="450"/>
                                  <p:tgtEl>
                                    <p:spTgt spid="28"/>
                                  </p:tgtEl>
                                </p:cBhvr>
                              </p:animEffect>
                              <p:animEffect transition="in" filter="wipe(up)">
                                <p:cBhvr>
                                  <p:cTn id="50312" dur="450"/>
                                  <p:tgtEl>
                                    <p:spTgt spid="29"/>
                                  </p:tgtEl>
                                </p:cBhvr>
                              </p:animEffect>
                              <p:animEffect transition="in" filter="wipe(up)">
                                <p:cBhvr>
                                  <p:cTn id="50313" dur="450"/>
                                  <p:tgtEl>
                                    <p:spTgt spid="26"/>
                                  </p:tgtEl>
                                </p:cBhvr>
                              </p:animEffect>
                              <p:animEffect transition="in" filter="wipe(up)">
                                <p:cBhvr>
                                  <p:cTn id="50314" dur="450"/>
                                  <p:tgtEl>
                                    <p:spTgt spid="27"/>
                                  </p:tgtEl>
                                </p:cBhvr>
                              </p:animEffect>
                              <p:animEffect transition="in" filter="wipe(up)">
                                <p:cBhvr>
                                  <p:cTn id="50315" dur="450"/>
                                  <p:tgtEl>
                                    <p:spTgt spid="32"/>
                                  </p:tgtEl>
                                </p:cBhvr>
                              </p:animEffect>
                              <p:animEffect transition="in" filter="wipe(up)">
                                <p:cBhvr>
                                  <p:cTn id="50316" dur="450"/>
                                  <p:tgtEl>
                                    <p:spTgt spid="33"/>
                                  </p:tgtEl>
                                </p:cBhvr>
                              </p:animEffect>
                              <p:animEffect transition="in" filter="wipe(up)">
                                <p:cBhvr>
                                  <p:cTn id="50317" dur="450"/>
                                  <p:tgtEl>
                                    <p:spTgt spid="30"/>
                                  </p:tgtEl>
                                </p:cBhvr>
                              </p:animEffect>
                              <p:animEffect transition="in" filter="wipe(up)">
                                <p:cBhvr>
                                  <p:cTn id="50318" dur="450"/>
                                  <p:tgtEl>
                                    <p:spTgt spid="31"/>
                                  </p:tgtEl>
                                </p:cBhvr>
                              </p:animEffect>
                              <p:animEffect transition="in" filter="wipe(up)">
                                <p:cBhvr>
                                  <p:cTn id="50319" dur="450"/>
                                  <p:tgtEl>
                                    <p:spTgt spid="36"/>
                                  </p:tgtEl>
                                </p:cBhvr>
                              </p:animEffect>
                              <p:animEffect transition="in" filter="wipe(up)">
                                <p:cBhvr>
                                  <p:cTn id="50320" dur="450"/>
                                  <p:tgtEl>
                                    <p:spTgt spid="37"/>
                                  </p:tgtEl>
                                </p:cBhvr>
                              </p:animEffect>
                              <p:animEffect transition="in" filter="wipe(up)">
                                <p:cBhvr>
                                  <p:cTn id="50321" dur="450"/>
                                  <p:tgtEl>
                                    <p:spTgt spid="34"/>
                                  </p:tgtEl>
                                </p:cBhvr>
                              </p:animEffect>
                              <p:animEffect transition="in" filter="wipe(up)">
                                <p:cBhvr>
                                  <p:cTn id="50322" dur="450"/>
                                  <p:tgtEl>
                                    <p:spTgt spid="35"/>
                                  </p:tgtEl>
                                </p:cBhvr>
                              </p:animEffect>
                              <p:animEffect transition="in" filter="wipe(up)">
                                <p:cBhvr>
                                  <p:cTn id="50323" dur="450"/>
                                  <p:tgtEl>
                                    <p:spTgt spid="40"/>
                                  </p:tgtEl>
                                </p:cBhvr>
                              </p:animEffect>
                              <p:animEffect transition="in" filter="wipe(up)">
                                <p:cBhvr>
                                  <p:cTn id="50324" dur="450"/>
                                  <p:tgtEl>
                                    <p:spTgt spid="41"/>
                                  </p:tgtEl>
                                </p:cBhvr>
                              </p:animEffect>
                              <p:animEffect transition="in" filter="wipe(up)">
                                <p:cBhvr>
                                  <p:cTn id="50325" dur="450"/>
                                  <p:tgtEl>
                                    <p:spTgt spid="38"/>
                                  </p:tgtEl>
                                </p:cBhvr>
                              </p:animEffect>
                              <p:animEffect transition="in" filter="wipe(up)">
                                <p:cBhvr>
                                  <p:cTn id="50326" dur="450"/>
                                  <p:tgtEl>
                                    <p:spTgt spid="39"/>
                                  </p:tgtEl>
                                </p:cBhvr>
                              </p:animEffect>
                              <p:animEffect transition="in" filter="wipe(up)">
                                <p:cBhvr>
                                  <p:cTn id="50327" dur="450"/>
                                  <p:tgtEl>
                                    <p:spTgt spid="44"/>
                                  </p:tgtEl>
                                </p:cBhvr>
                              </p:animEffect>
                              <p:animEffect transition="in" filter="wipe(up)">
                                <p:cBhvr>
                                  <p:cTn id="50328" dur="450"/>
                                  <p:tgtEl>
                                    <p:spTgt spid="45"/>
                                  </p:tgtEl>
                                </p:cBhvr>
                              </p:animEffect>
                              <p:animEffect transition="in" filter="wipe(up)">
                                <p:cBhvr>
                                  <p:cTn id="50329" dur="450"/>
                                  <p:tgtEl>
                                    <p:spTgt spid="42"/>
                                  </p:tgtEl>
                                </p:cBhvr>
                              </p:animEffect>
                              <p:animEffect transition="in" filter="wipe(up)">
                                <p:cBhvr>
                                  <p:cTn id="50330" dur="450"/>
                                  <p:tgtEl>
                                    <p:spTgt spid="43"/>
                                  </p:tgtEl>
                                </p:cBhvr>
                              </p:animEffect>
                              <p:animEffect transition="in" filter="wipe(up)">
                                <p:cBhvr>
                                  <p:cTn id="50331" dur="450"/>
                                  <p:tgtEl>
                                    <p:spTgt spid="48"/>
                                  </p:tgtEl>
                                </p:cBhvr>
                              </p:animEffect>
                              <p:animEffect transition="in" filter="wipe(up)">
                                <p:cBhvr>
                                  <p:cTn id="50332" dur="450"/>
                                  <p:tgtEl>
                                    <p:spTgt spid="49"/>
                                  </p:tgtEl>
                                </p:cBhvr>
                              </p:animEffect>
                              <p:animEffect transition="in" filter="wipe(up)">
                                <p:cBhvr>
                                  <p:cTn id="50333" dur="450"/>
                                  <p:tgtEl>
                                    <p:spTgt spid="46"/>
                                  </p:tgtEl>
                                </p:cBhvr>
                              </p:animEffect>
                              <p:animEffect transition="in" filter="wipe(up)">
                                <p:cBhvr>
                                  <p:cTn id="50334" dur="450"/>
                                  <p:tgtEl>
                                    <p:spTgt spid="47"/>
                                  </p:tgtEl>
                                </p:cBhvr>
                              </p:animEffect>
                            </p:childTnLst>
                          </p:cTn>
                        </p:par>
                      </p:childTnLst>
                    </p:cTn>
                  </p:par>
                  <p:par>
                    <p:cTn id="50400" fill="hold">
                      <p:stCondLst>
                        <p:cond delay="900"/>
                      </p:stCondLst>
                      <p:childTnLst>
                        <p:par>
                          <p:cTn id="50404" presetID="10" presetClass="entr" presetSubtype="0" fill="hold" grpId="4" nodeType="withEffect">
                            <p:stCondLst>
                              <p:cond delay="0"/>
                            </p:stCondLst>
                            <p:childTnLst>
                              <p:animEffect transition="in" filter="fade">
                                <p:cBhvr>
                                  <p:cTn id="50401" dur="350"/>
                                  <p:tgtEl>
                                    <p:spTgt spid="12"/>
                                  </p:tgtEl>
                                </p:cBhvr>
                              </p:animEffect>
                              <p:animEffect transition="in" filter="fade">
                                <p:cBhvr>
                                  <p:cTn id="50402" dur="350"/>
                                  <p:tgtEl>
                                    <p:spTgt spid="13"/>
                                  </p:tgtEl>
                                </p:cBhvr>
                              </p:animEffect>
                              <p:animEffect transition="in" filter="fade">
                                <p:cBhvr>
                                  <p:cTn id="50403" dur="350"/>
                                  <p:tgtEl>
                                    <p:spTgt spid="14"/>
                                  </p:tgtEl>
                                </p:cBhvr>
                              </p:animEffect>
                            </p:childTnLst>
                          </p:cTn>
                        </p:par>
                      </p:childTnLst>
                    </p:cTn>
                  </p:par>
                  <p:par>
                    <p:cTn id="50500" fill="hold">
                      <p:stCondLst>
                        <p:cond delay="1000"/>
                      </p:stCondLst>
                      <p:childTnLst>
                        <p:par>
                          <p:cTn id="50503" presetID="10" presetClass="entr" presetSubtype="0" fill="hold" grpId="5" nodeType="withEffect">
                            <p:stCondLst>
                              <p:cond delay="0"/>
                            </p:stCondLst>
                            <p:childTnLst>
                              <p:animEffect transition="in" filter="fade">
                                <p:cBhvr>
                                  <p:cTn id="50501" dur="350"/>
                                  <p:tgtEl>
                                    <p:spTgt spid="50"/>
                                  </p:tgtEl>
                                </p:cBhvr>
                              </p:animEffect>
                              <p:animEffect transition="in" filter="fade">
                                <p:cBhvr>
                                  <p:cTn id="50502" dur="350"/>
                                  <p:tgtEl>
                                    <p:spTgt spid="51"/>
                                  </p:tgtEl>
                                </p:cBhvr>
                              </p:animEffect>
                            </p:childTnLst>
                          </p:cTn>
                        </p:par>
                      </p:childTnLst>
                    </p:cTn>
                  </p:par>
                  <p:par>
                    <p:cTn id="50600" fill="hold">
                      <p:stCondLst>
                        <p:cond delay="1100"/>
                      </p:stCondLst>
                      <p:childTnLst>
                        <p:par>
                          <p:cTn id="50603" presetID="10" presetClass="entr" presetSubtype="0" fill="hold" grpId="6" nodeType="withEffect">
                            <p:stCondLst>
                              <p:cond delay="0"/>
                            </p:stCondLst>
                            <p:childTnLst>
                              <p:animEffect transition="in" filter="fade">
                                <p:cBhvr>
                                  <p:cTn id="50601" dur="350"/>
                                  <p:tgtEl>
                                    <p:spTgt spid="52"/>
                                  </p:tgtEl>
                                </p:cBhvr>
                              </p:animEffect>
                              <p:animEffect transition="in" filter="fade">
                                <p:cBhvr>
                                  <p:cTn id="50602" dur="350"/>
                                  <p:tgtEl>
                                    <p:spTgt spid="53"/>
                                  </p:tgtEl>
                                </p:cBhvr>
                              </p:animEffect>
                            </p:childTnLst>
                          </p:cTn>
                        </p:par>
                      </p:childTnLst>
                    </p:cTn>
                  </p:par>
                  <p:par>
                    <p:cTn id="50700" fill="hold">
                      <p:stCondLst>
                        <p:cond delay="1200"/>
                      </p:stCondLst>
                      <p:childTnLst>
                        <p:par>
                          <p:cTn id="50703" presetID="10" presetClass="entr" presetSubtype="0" fill="hold" grpId="7" nodeType="withEffect">
                            <p:stCondLst>
                              <p:cond delay="0"/>
                            </p:stCondLst>
                            <p:childTnLst>
                              <p:animEffect transition="in" filter="fade">
                                <p:cBhvr>
                                  <p:cTn id="50701" dur="350"/>
                                  <p:tgtEl>
                                    <p:spTgt spid="54"/>
                                  </p:tgtEl>
                                </p:cBhvr>
                              </p:animEffect>
                              <p:animEffect transition="in" filter="fade">
                                <p:cBhvr>
                                  <p:cTn id="50702" dur="350"/>
                                  <p:tgtEl>
                                    <p:spTgt spid="5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1" animBg="1"/>
      <p:bldP spid="4" grpId="1" animBg="1"/>
      <p:bldP spid="5" grpId="1" animBg="1"/>
      <p:bldP spid="9" grpId="1" animBg="1"/>
      <p:bldP spid="10" grpId="1" animBg="1"/>
      <p:bldP spid="11" grpId="1" animBg="1"/>
      <p:bldP spid="15" grpId="2" animBg="1"/>
      <p:bldP spid="17" grpId="3" animBg="1"/>
      <p:bldP spid="19" grpId="3" animBg="1"/>
      <p:bldP spid="21" grpId="3" animBg="1"/>
      <p:bldP spid="23" grpId="3" animBg="1"/>
      <p:bldP spid="25" grpId="3" animBg="1"/>
      <p:bldP spid="16" grpId="3" animBg="1"/>
      <p:bldP spid="18" grpId="3" animBg="1"/>
      <p:bldP spid="20" grpId="3" animBg="1"/>
      <p:bldP spid="22" grpId="3" animBg="1"/>
      <p:bldP spid="24" grpId="3" animBg="1"/>
      <p:bldP spid="28" grpId="3" animBg="1"/>
      <p:bldP spid="29" grpId="3" animBg="1"/>
      <p:bldP spid="26" grpId="3" animBg="1"/>
      <p:bldP spid="27" grpId="3" animBg="1"/>
      <p:bldP spid="32" grpId="3" animBg="1"/>
      <p:bldP spid="33" grpId="3" animBg="1"/>
      <p:bldP spid="30" grpId="3" animBg="1"/>
      <p:bldP spid="31" grpId="3" animBg="1"/>
      <p:bldP spid="36" grpId="3" animBg="1"/>
      <p:bldP spid="37" grpId="3" animBg="1"/>
      <p:bldP spid="34" grpId="3" animBg="1"/>
      <p:bldP spid="35" grpId="3" animBg="1"/>
      <p:bldP spid="40" grpId="3" animBg="1"/>
      <p:bldP spid="41" grpId="3" animBg="1"/>
      <p:bldP spid="38" grpId="3" animBg="1"/>
      <p:bldP spid="39" grpId="3" animBg="1"/>
      <p:bldP spid="44" grpId="3" animBg="1"/>
      <p:bldP spid="45" grpId="3" animBg="1"/>
      <p:bldP spid="42" grpId="3" animBg="1"/>
      <p:bldP spid="43" grpId="3" animBg="1"/>
      <p:bldP spid="48" grpId="3" animBg="1"/>
      <p:bldP spid="49" grpId="3" animBg="1"/>
      <p:bldP spid="46" grpId="3" animBg="1"/>
      <p:bldP spid="47" grpId="3" animBg="1"/>
      <p:bldP spid="12" grpId="4" animBg="1"/>
      <p:bldP spid="13" grpId="4" animBg="1"/>
      <p:bldP spid="14" grpId="4" animBg="1"/>
      <p:bldP spid="50" grpId="5" animBg="1"/>
      <p:bldP spid="51" grpId="5" animBg="1"/>
      <p:bldP spid="52" grpId="6" animBg="1"/>
      <p:bldP spid="53" grpId="6" animBg="1"/>
      <p:bldP spid="54" grpId="7" animBg="1"/>
      <p:bldP spid="55" grpId="7"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0E8"/>
          </a:solidFill>
          <a:ln w="12700">
            <a:solidFill>
              <a:srgbClr val="F2F0E8"/>
            </a:solidFill>
            <a:prstDash val="solid"/>
          </a:ln>
        </p:spPr>
        <p:txBody>
          <a:bodyPr/>
          <a:lstStyle/>
          <a:p>
            <a:endParaRPr lang="en-US"/>
          </a:p>
        </p:txBody>
      </p:sp>
      <p:sp>
        <p:nvSpPr>
          <p:cNvPr id="3" name="Shape 1"/>
          <p:cNvSpPr/>
          <p:nvPr/>
        </p:nvSpPr>
        <p:spPr>
          <a:xfrm>
            <a:off x="0" y="0"/>
            <a:ext cx="64008" cy="5143500"/>
          </a:xfrm>
          <a:prstGeom prst="rect">
            <a:avLst/>
          </a:prstGeom>
          <a:solidFill>
            <a:srgbClr val="6E5200"/>
          </a:solidFill>
          <a:ln w="12700">
            <a:solidFill>
              <a:srgbClr val="6E5200"/>
            </a:solidFill>
            <a:prstDash val="solid"/>
          </a:ln>
        </p:spPr>
        <p:txBody>
          <a:bodyPr/>
          <a:lstStyle/>
          <a:p>
            <a:endParaRPr lang="en-US"/>
          </a:p>
        </p:txBody>
      </p:sp>
      <p:sp>
        <p:nvSpPr>
          <p:cNvPr id="4" name="Shape 2"/>
          <p:cNvSpPr/>
          <p:nvPr/>
        </p:nvSpPr>
        <p:spPr>
          <a:xfrm>
            <a:off x="-91440" y="1463040"/>
            <a:ext cx="2926080" cy="2926080"/>
          </a:xfrm>
          <a:prstGeom prst="ellipse">
            <a:avLst/>
          </a:prstGeom>
          <a:solidFill>
            <a:srgbClr val="6E5200">
              <a:alpha val="7000"/>
            </a:srgbClr>
          </a:solidFill>
          <a:ln w="12700">
            <a:solidFill>
              <a:srgbClr val="F7F5F0"/>
            </a:solidFill>
            <a:prstDash val="solid"/>
          </a:ln>
        </p:spPr>
        <p:txBody>
          <a:bodyPr/>
          <a:lstStyle/>
          <a:p>
            <a:endParaRPr lang="en-US"/>
          </a:p>
        </p:txBody>
      </p:sp>
      <p:sp>
        <p:nvSpPr>
          <p:cNvPr id="5" name="Shape 3"/>
          <p:cNvSpPr/>
          <p:nvPr/>
        </p:nvSpPr>
        <p:spPr>
          <a:xfrm>
            <a:off x="640080" y="2194560"/>
            <a:ext cx="1463040" cy="1463040"/>
          </a:xfrm>
          <a:prstGeom prst="ellipse">
            <a:avLst/>
          </a:prstGeom>
          <a:solidFill>
            <a:srgbClr val="6E5200">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6E5200"/>
                </a:solidFill>
                <a:latin typeface="Calibri" pitchFamily="34" charset="0"/>
                <a:ea typeface="Calibri" pitchFamily="34" charset="-122"/>
                <a:cs typeface="Calibri" pitchFamily="34" charset="-120"/>
              </a:rPr>
              <a:t>SUMMARISATION RESULTS</a:t>
            </a:r>
            <a:endParaRPr lang="en-US" sz="900" dirty="0"/>
          </a:p>
        </p:txBody>
      </p:sp>
      <p:sp>
        <p:nvSpPr>
          <p:cNvPr id="7" name="Text 5"/>
          <p:cNvSpPr/>
          <p:nvPr/>
        </p:nvSpPr>
        <p:spPr>
          <a:xfrm>
            <a:off x="457200" y="402336"/>
            <a:ext cx="7315200" cy="256032"/>
          </a:xfrm>
          <a:prstGeom prst="rect">
            <a:avLst/>
          </a:prstGeom>
          <a:noFill/>
          <a:ln/>
        </p:spPr>
        <p:txBody>
          <a:bodyPr wrap="square" rtlCol="0" anchor="ctr"/>
          <a:lstStyle/>
          <a:p>
            <a:pPr marL="0" indent="0">
              <a:buNone/>
            </a:pPr>
            <a:r>
              <a:rPr lang="en-US" sz="1400" dirty="0">
                <a:solidFill>
                  <a:srgbClr val="6E6760"/>
                </a:solidFill>
                <a:latin typeface="Calibri" pitchFamily="34" charset="0"/>
                <a:ea typeface="Calibri" pitchFamily="34" charset="-122"/>
                <a:cs typeface="Calibri" pitchFamily="34" charset="-120"/>
              </a:rPr>
              <a:t>CNN/DailyMail  ·  n = 300  ·  ROUGE-L + BERTScore</a:t>
            </a:r>
            <a:endParaRPr lang="en-US" sz="1400" dirty="0"/>
          </a:p>
        </p:txBody>
      </p:sp>
      <p:sp>
        <p:nvSpPr>
          <p:cNvPr id="8" name="Shape 6"/>
          <p:cNvSpPr/>
          <p:nvPr/>
        </p:nvSpPr>
        <p:spPr>
          <a:xfrm>
            <a:off x="292608" y="804672"/>
            <a:ext cx="2377440" cy="1371600"/>
          </a:xfrm>
          <a:prstGeom prst="roundRect">
            <a:avLst>
              <a:gd name="adj" fmla="val 6667"/>
            </a:avLst>
          </a:prstGeom>
          <a:solidFill>
            <a:srgbClr val="EDEAE3"/>
          </a:solidFill>
          <a:ln w="12700">
            <a:solidFill>
              <a:srgbClr val="6E5200"/>
            </a:solidFill>
            <a:prstDash val="solid"/>
          </a:ln>
        </p:spPr>
        <p:txBody>
          <a:bodyPr/>
          <a:lstStyle/>
          <a:p>
            <a:endParaRPr lang="en-US"/>
          </a:p>
        </p:txBody>
      </p:sp>
      <p:sp>
        <p:nvSpPr>
          <p:cNvPr id="9" name="Shape 7"/>
          <p:cNvSpPr/>
          <p:nvPr/>
        </p:nvSpPr>
        <p:spPr>
          <a:xfrm>
            <a:off x="292608" y="804672"/>
            <a:ext cx="2377440" cy="41148"/>
          </a:xfrm>
          <a:prstGeom prst="rect">
            <a:avLst/>
          </a:prstGeom>
          <a:solidFill>
            <a:srgbClr val="6E5200"/>
          </a:solidFill>
          <a:ln w="12700">
            <a:solidFill>
              <a:srgbClr val="6E5200"/>
            </a:solidFill>
            <a:prstDash val="solid"/>
          </a:ln>
        </p:spPr>
        <p:txBody>
          <a:bodyPr/>
          <a:lstStyle/>
          <a:p>
            <a:endParaRPr lang="en-US"/>
          </a:p>
        </p:txBody>
      </p:sp>
      <p:sp>
        <p:nvSpPr>
          <p:cNvPr id="10" name="Text 8"/>
          <p:cNvSpPr/>
          <p:nvPr/>
        </p:nvSpPr>
        <p:spPr>
          <a:xfrm>
            <a:off x="365760" y="932688"/>
            <a:ext cx="2231136" cy="713232"/>
          </a:xfrm>
          <a:prstGeom prst="rect">
            <a:avLst/>
          </a:prstGeom>
          <a:noFill/>
          <a:ln/>
        </p:spPr>
        <p:txBody>
          <a:bodyPr wrap="square" rtlCol="0" anchor="ctr"/>
          <a:lstStyle/>
          <a:p>
            <a:pPr marL="0" indent="0" algn="ctr">
              <a:buNone/>
            </a:pPr>
            <a:r>
              <a:rPr lang="en-US" sz="3600" b="1" dirty="0">
                <a:solidFill>
                  <a:srgbClr val="6E5200"/>
                </a:solidFill>
                <a:latin typeface="Calibri" pitchFamily="34" charset="0"/>
                <a:ea typeface="Calibri" pitchFamily="34" charset="-122"/>
                <a:cs typeface="Calibri" pitchFamily="34" charset="-120"/>
              </a:rPr>
              <a:t>24.0%</a:t>
            </a:r>
            <a:endParaRPr lang="en-US" sz="3600" dirty="0"/>
          </a:p>
        </p:txBody>
      </p:sp>
      <p:sp>
        <p:nvSpPr>
          <p:cNvPr id="11" name="Text 9"/>
          <p:cNvSpPr/>
          <p:nvPr/>
        </p:nvSpPr>
        <p:spPr>
          <a:xfrm>
            <a:off x="365760" y="1682496"/>
            <a:ext cx="2231136" cy="411480"/>
          </a:xfrm>
          <a:prstGeom prst="rect">
            <a:avLst/>
          </a:prstGeom>
          <a:noFill/>
          <a:ln/>
        </p:spPr>
        <p:txBody>
          <a:bodyPr wrap="square" rtlCol="0" anchor="ctr"/>
          <a:lstStyle/>
          <a:p>
            <a:pPr marL="0" indent="0" algn="ctr">
              <a:buNone/>
            </a:pPr>
            <a:r>
              <a:rPr lang="en-US" sz="900" dirty="0">
                <a:solidFill>
                  <a:srgbClr val="6E6760"/>
                </a:solidFill>
                <a:latin typeface="Calibri" pitchFamily="34" charset="0"/>
                <a:ea typeface="Calibri" pitchFamily="34" charset="-122"/>
                <a:cs typeface="Calibri" pitchFamily="34" charset="-120"/>
              </a:rPr>
              <a:t>ROUGE-L · Zero-Shot</a:t>
            </a:r>
            <a:endParaRPr lang="en-US" sz="900" dirty="0"/>
          </a:p>
          <a:p>
            <a:pPr marL="0" indent="0" algn="ctr">
              <a:buNone/>
            </a:pPr>
            <a:r>
              <a:rPr lang="en-US" sz="900" dirty="0">
                <a:solidFill>
                  <a:srgbClr val="6E6760"/>
                </a:solidFill>
                <a:latin typeface="Calibri" pitchFamily="34" charset="0"/>
                <a:ea typeface="Calibri" pitchFamily="34" charset="-122"/>
                <a:cs typeface="Calibri" pitchFamily="34" charset="-120"/>
              </a:rPr>
              <a:t>p&lt;0.001 · d=0.56 (medium)</a:t>
            </a:r>
            <a:endParaRPr lang="en-US" sz="900" dirty="0"/>
          </a:p>
        </p:txBody>
      </p:sp>
      <p:sp>
        <p:nvSpPr>
          <p:cNvPr id="12" name="Shape 10"/>
          <p:cNvSpPr/>
          <p:nvPr/>
        </p:nvSpPr>
        <p:spPr>
          <a:xfrm>
            <a:off x="292608" y="2304288"/>
            <a:ext cx="2377440" cy="1371600"/>
          </a:xfrm>
          <a:prstGeom prst="roundRect">
            <a:avLst>
              <a:gd name="adj" fmla="val 6667"/>
            </a:avLst>
          </a:prstGeom>
          <a:solidFill>
            <a:srgbClr val="EDEAE3"/>
          </a:solidFill>
          <a:ln w="12700">
            <a:solidFill>
              <a:srgbClr val="245E3E"/>
            </a:solidFill>
            <a:prstDash val="solid"/>
          </a:ln>
        </p:spPr>
        <p:txBody>
          <a:bodyPr/>
          <a:lstStyle/>
          <a:p>
            <a:endParaRPr lang="en-US"/>
          </a:p>
        </p:txBody>
      </p:sp>
      <p:sp>
        <p:nvSpPr>
          <p:cNvPr id="13" name="Shape 11"/>
          <p:cNvSpPr/>
          <p:nvPr/>
        </p:nvSpPr>
        <p:spPr>
          <a:xfrm>
            <a:off x="292608" y="2304288"/>
            <a:ext cx="2377440" cy="41148"/>
          </a:xfrm>
          <a:prstGeom prst="rect">
            <a:avLst/>
          </a:prstGeom>
          <a:solidFill>
            <a:srgbClr val="245E3E"/>
          </a:solidFill>
          <a:ln w="12700">
            <a:solidFill>
              <a:srgbClr val="245E3E"/>
            </a:solidFill>
            <a:prstDash val="solid"/>
          </a:ln>
        </p:spPr>
        <p:txBody>
          <a:bodyPr/>
          <a:lstStyle/>
          <a:p>
            <a:endParaRPr lang="en-US"/>
          </a:p>
        </p:txBody>
      </p:sp>
      <p:sp>
        <p:nvSpPr>
          <p:cNvPr id="14" name="Text 12"/>
          <p:cNvSpPr/>
          <p:nvPr/>
        </p:nvSpPr>
        <p:spPr>
          <a:xfrm>
            <a:off x="457200" y="2432304"/>
            <a:ext cx="2057400" cy="201168"/>
          </a:xfrm>
          <a:prstGeom prst="rect">
            <a:avLst/>
          </a:prstGeom>
          <a:noFill/>
          <a:ln/>
        </p:spPr>
        <p:txBody>
          <a:bodyPr wrap="square" rtlCol="0" anchor="ctr"/>
          <a:lstStyle/>
          <a:p>
            <a:pPr marL="0" indent="0">
              <a:buNone/>
            </a:pPr>
            <a:r>
              <a:rPr lang="en-US" sz="900" b="1" dirty="0">
                <a:solidFill>
                  <a:srgbClr val="245E3E"/>
                </a:solidFill>
                <a:latin typeface="Calibri" pitchFamily="34" charset="0"/>
                <a:ea typeface="Calibri" pitchFamily="34" charset="-122"/>
                <a:cs typeface="Calibri" pitchFamily="34" charset="-120"/>
              </a:rPr>
              <a:t>BERTScore F1</a:t>
            </a:r>
            <a:endParaRPr lang="en-US" sz="900" dirty="0"/>
          </a:p>
        </p:txBody>
      </p:sp>
      <p:sp>
        <p:nvSpPr>
          <p:cNvPr id="15" name="Text 13"/>
          <p:cNvSpPr/>
          <p:nvPr/>
        </p:nvSpPr>
        <p:spPr>
          <a:xfrm>
            <a:off x="457200" y="2651760"/>
            <a:ext cx="2057400" cy="457200"/>
          </a:xfrm>
          <a:prstGeom prst="rect">
            <a:avLst/>
          </a:prstGeom>
          <a:noFill/>
          <a:ln/>
        </p:spPr>
        <p:txBody>
          <a:bodyPr wrap="square" rtlCol="0" anchor="ctr"/>
          <a:lstStyle/>
          <a:p>
            <a:pPr marL="0" indent="0" algn="ctr">
              <a:buNone/>
            </a:pPr>
            <a:r>
              <a:rPr lang="en-US" sz="3000" b="1" dirty="0">
                <a:solidFill>
                  <a:srgbClr val="3D7A58"/>
                </a:solidFill>
                <a:latin typeface="Calibri" pitchFamily="34" charset="0"/>
                <a:ea typeface="Calibri" pitchFamily="34" charset="-122"/>
                <a:cs typeface="Calibri" pitchFamily="34" charset="-120"/>
              </a:rPr>
              <a:t>0.81–0.82</a:t>
            </a:r>
            <a:endParaRPr lang="en-US" sz="3000" dirty="0"/>
          </a:p>
        </p:txBody>
      </p:sp>
      <p:sp>
        <p:nvSpPr>
          <p:cNvPr id="16" name="Text 14"/>
          <p:cNvSpPr/>
          <p:nvPr/>
        </p:nvSpPr>
        <p:spPr>
          <a:xfrm>
            <a:off x="457200" y="3145536"/>
            <a:ext cx="2057400" cy="365760"/>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All techniques -near identical</a:t>
            </a:r>
            <a:endParaRPr lang="en-US" sz="900" dirty="0"/>
          </a:p>
        </p:txBody>
      </p:sp>
      <p:sp>
        <p:nvSpPr>
          <p:cNvPr id="17" name="Shape 15"/>
          <p:cNvSpPr/>
          <p:nvPr/>
        </p:nvSpPr>
        <p:spPr>
          <a:xfrm>
            <a:off x="2816352" y="804672"/>
            <a:ext cx="6080760" cy="2743200"/>
          </a:xfrm>
          <a:prstGeom prst="roundRect">
            <a:avLst>
              <a:gd name="adj" fmla="val 2667"/>
            </a:avLst>
          </a:prstGeom>
          <a:solidFill>
            <a:srgbClr val="EDEAE3"/>
          </a:solidFill>
          <a:ln w="12700">
            <a:solidFill>
              <a:srgbClr val="CFCABC"/>
            </a:solidFill>
            <a:prstDash val="solid"/>
          </a:ln>
        </p:spPr>
        <p:txBody>
          <a:bodyPr/>
          <a:lstStyle/>
          <a:p>
            <a:endParaRPr lang="en-US"/>
          </a:p>
        </p:txBody>
      </p:sp>
      <p:sp>
        <p:nvSpPr>
          <p:cNvPr id="18" name="Shape 16"/>
          <p:cNvSpPr/>
          <p:nvPr/>
        </p:nvSpPr>
        <p:spPr>
          <a:xfrm>
            <a:off x="3145536" y="3145536"/>
            <a:ext cx="5641848" cy="7315"/>
          </a:xfrm>
          <a:prstGeom prst="rect">
            <a:avLst/>
          </a:prstGeom>
          <a:solidFill>
            <a:srgbClr val="CFCABC"/>
          </a:solidFill>
          <a:ln w="12700">
            <a:solidFill>
              <a:srgbClr val="CFCABC"/>
            </a:solidFill>
            <a:prstDash val="solid"/>
          </a:ln>
        </p:spPr>
        <p:txBody>
          <a:bodyPr/>
          <a:lstStyle/>
          <a:p>
            <a:endParaRPr lang="en-US"/>
          </a:p>
        </p:txBody>
      </p:sp>
      <p:sp>
        <p:nvSpPr>
          <p:cNvPr id="19" name="Text 17"/>
          <p:cNvSpPr/>
          <p:nvPr/>
        </p:nvSpPr>
        <p:spPr>
          <a:xfrm>
            <a:off x="2816352" y="3054096"/>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0</a:t>
            </a:r>
            <a:endParaRPr lang="en-US" sz="750" dirty="0"/>
          </a:p>
        </p:txBody>
      </p:sp>
      <p:sp>
        <p:nvSpPr>
          <p:cNvPr id="20" name="Shape 18"/>
          <p:cNvSpPr/>
          <p:nvPr/>
        </p:nvSpPr>
        <p:spPr>
          <a:xfrm>
            <a:off x="3145536" y="2801112"/>
            <a:ext cx="5641848" cy="7315"/>
          </a:xfrm>
          <a:prstGeom prst="rect">
            <a:avLst/>
          </a:prstGeom>
          <a:solidFill>
            <a:srgbClr val="CFCABC"/>
          </a:solidFill>
          <a:ln w="12700">
            <a:solidFill>
              <a:srgbClr val="CFCABC"/>
            </a:solidFill>
            <a:prstDash val="solid"/>
          </a:ln>
        </p:spPr>
        <p:txBody>
          <a:bodyPr/>
          <a:lstStyle/>
          <a:p>
            <a:endParaRPr lang="en-US"/>
          </a:p>
        </p:txBody>
      </p:sp>
      <p:sp>
        <p:nvSpPr>
          <p:cNvPr id="21" name="Text 19"/>
          <p:cNvSpPr/>
          <p:nvPr/>
        </p:nvSpPr>
        <p:spPr>
          <a:xfrm>
            <a:off x="2816352" y="2709672"/>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5</a:t>
            </a:r>
            <a:endParaRPr lang="en-US" sz="750" dirty="0"/>
          </a:p>
        </p:txBody>
      </p:sp>
      <p:sp>
        <p:nvSpPr>
          <p:cNvPr id="22" name="Shape 20"/>
          <p:cNvSpPr/>
          <p:nvPr/>
        </p:nvSpPr>
        <p:spPr>
          <a:xfrm>
            <a:off x="3145536" y="2456688"/>
            <a:ext cx="5641848" cy="7315"/>
          </a:xfrm>
          <a:prstGeom prst="rect">
            <a:avLst/>
          </a:prstGeom>
          <a:solidFill>
            <a:srgbClr val="CFCABC"/>
          </a:solidFill>
          <a:ln w="12700">
            <a:solidFill>
              <a:srgbClr val="CFCABC"/>
            </a:solidFill>
            <a:prstDash val="solid"/>
          </a:ln>
        </p:spPr>
        <p:txBody>
          <a:bodyPr/>
          <a:lstStyle/>
          <a:p>
            <a:endParaRPr lang="en-US"/>
          </a:p>
        </p:txBody>
      </p:sp>
      <p:sp>
        <p:nvSpPr>
          <p:cNvPr id="23" name="Text 21"/>
          <p:cNvSpPr/>
          <p:nvPr/>
        </p:nvSpPr>
        <p:spPr>
          <a:xfrm>
            <a:off x="2816352" y="2365248"/>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10</a:t>
            </a:r>
            <a:endParaRPr lang="en-US" sz="750" dirty="0"/>
          </a:p>
        </p:txBody>
      </p:sp>
      <p:sp>
        <p:nvSpPr>
          <p:cNvPr id="24" name="Shape 22"/>
          <p:cNvSpPr/>
          <p:nvPr/>
        </p:nvSpPr>
        <p:spPr>
          <a:xfrm>
            <a:off x="3145536" y="2112264"/>
            <a:ext cx="5641848" cy="7315"/>
          </a:xfrm>
          <a:prstGeom prst="rect">
            <a:avLst/>
          </a:prstGeom>
          <a:solidFill>
            <a:srgbClr val="CFCABC"/>
          </a:solidFill>
          <a:ln w="12700">
            <a:solidFill>
              <a:srgbClr val="CFCABC"/>
            </a:solidFill>
            <a:prstDash val="solid"/>
          </a:ln>
        </p:spPr>
        <p:txBody>
          <a:bodyPr/>
          <a:lstStyle/>
          <a:p>
            <a:endParaRPr lang="en-US"/>
          </a:p>
        </p:txBody>
      </p:sp>
      <p:sp>
        <p:nvSpPr>
          <p:cNvPr id="25" name="Text 23"/>
          <p:cNvSpPr/>
          <p:nvPr/>
        </p:nvSpPr>
        <p:spPr>
          <a:xfrm>
            <a:off x="2816352" y="2020824"/>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15</a:t>
            </a:r>
            <a:endParaRPr lang="en-US" sz="750" dirty="0"/>
          </a:p>
        </p:txBody>
      </p:sp>
      <p:sp>
        <p:nvSpPr>
          <p:cNvPr id="26" name="Shape 24"/>
          <p:cNvSpPr/>
          <p:nvPr/>
        </p:nvSpPr>
        <p:spPr>
          <a:xfrm>
            <a:off x="3145536" y="1767840"/>
            <a:ext cx="5641848" cy="7315"/>
          </a:xfrm>
          <a:prstGeom prst="rect">
            <a:avLst/>
          </a:prstGeom>
          <a:solidFill>
            <a:srgbClr val="CFCABC"/>
          </a:solidFill>
          <a:ln w="12700">
            <a:solidFill>
              <a:srgbClr val="CFCABC"/>
            </a:solidFill>
            <a:prstDash val="solid"/>
          </a:ln>
        </p:spPr>
        <p:txBody>
          <a:bodyPr/>
          <a:lstStyle/>
          <a:p>
            <a:endParaRPr lang="en-US"/>
          </a:p>
        </p:txBody>
      </p:sp>
      <p:sp>
        <p:nvSpPr>
          <p:cNvPr id="27" name="Text 25"/>
          <p:cNvSpPr/>
          <p:nvPr/>
        </p:nvSpPr>
        <p:spPr>
          <a:xfrm>
            <a:off x="2816352" y="1676400"/>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20</a:t>
            </a:r>
            <a:endParaRPr lang="en-US" sz="750" dirty="0"/>
          </a:p>
        </p:txBody>
      </p:sp>
      <p:sp>
        <p:nvSpPr>
          <p:cNvPr id="28" name="Shape 26"/>
          <p:cNvSpPr/>
          <p:nvPr/>
        </p:nvSpPr>
        <p:spPr>
          <a:xfrm>
            <a:off x="3145536" y="1423416"/>
            <a:ext cx="5641848" cy="7315"/>
          </a:xfrm>
          <a:prstGeom prst="rect">
            <a:avLst/>
          </a:prstGeom>
          <a:solidFill>
            <a:srgbClr val="CFCABC"/>
          </a:solidFill>
          <a:ln w="12700">
            <a:solidFill>
              <a:srgbClr val="CFCABC"/>
            </a:solidFill>
            <a:prstDash val="solid"/>
          </a:ln>
        </p:spPr>
        <p:txBody>
          <a:bodyPr/>
          <a:lstStyle/>
          <a:p>
            <a:endParaRPr lang="en-US"/>
          </a:p>
        </p:txBody>
      </p:sp>
      <p:sp>
        <p:nvSpPr>
          <p:cNvPr id="29" name="Text 27"/>
          <p:cNvSpPr/>
          <p:nvPr/>
        </p:nvSpPr>
        <p:spPr>
          <a:xfrm>
            <a:off x="2816352" y="1331976"/>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25</a:t>
            </a:r>
            <a:endParaRPr lang="en-US" sz="750" dirty="0"/>
          </a:p>
        </p:txBody>
      </p:sp>
      <p:sp>
        <p:nvSpPr>
          <p:cNvPr id="30" name="Shape 28"/>
          <p:cNvSpPr/>
          <p:nvPr/>
        </p:nvSpPr>
        <p:spPr>
          <a:xfrm>
            <a:off x="3145536" y="1078992"/>
            <a:ext cx="5641848" cy="7315"/>
          </a:xfrm>
          <a:prstGeom prst="rect">
            <a:avLst/>
          </a:prstGeom>
          <a:solidFill>
            <a:srgbClr val="CFCABC"/>
          </a:solidFill>
          <a:ln w="12700">
            <a:solidFill>
              <a:srgbClr val="CFCABC"/>
            </a:solidFill>
            <a:prstDash val="solid"/>
          </a:ln>
        </p:spPr>
        <p:txBody>
          <a:bodyPr/>
          <a:lstStyle/>
          <a:p>
            <a:endParaRPr lang="en-US"/>
          </a:p>
        </p:txBody>
      </p:sp>
      <p:sp>
        <p:nvSpPr>
          <p:cNvPr id="31" name="Text 29"/>
          <p:cNvSpPr/>
          <p:nvPr/>
        </p:nvSpPr>
        <p:spPr>
          <a:xfrm>
            <a:off x="2816352" y="987552"/>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30</a:t>
            </a:r>
            <a:endParaRPr lang="en-US" sz="750" dirty="0"/>
          </a:p>
        </p:txBody>
      </p:sp>
      <p:sp>
        <p:nvSpPr>
          <p:cNvPr id="32" name="Shape 30"/>
          <p:cNvSpPr/>
          <p:nvPr/>
        </p:nvSpPr>
        <p:spPr>
          <a:xfrm>
            <a:off x="3333598" y="1492301"/>
            <a:ext cx="564185" cy="1653235"/>
          </a:xfrm>
          <a:prstGeom prst="roundRect">
            <a:avLst>
              <a:gd name="adj" fmla="val 7293"/>
            </a:avLst>
          </a:prstGeom>
          <a:solidFill>
            <a:srgbClr val="1A3560"/>
          </a:solidFill>
          <a:ln w="12700">
            <a:solidFill>
              <a:srgbClr val="1A3560"/>
            </a:solidFill>
            <a:prstDash val="solid"/>
          </a:ln>
        </p:spPr>
        <p:txBody>
          <a:bodyPr/>
          <a:lstStyle/>
          <a:p>
            <a:endParaRPr lang="en-US"/>
          </a:p>
        </p:txBody>
      </p:sp>
      <p:sp>
        <p:nvSpPr>
          <p:cNvPr id="33" name="Shape 31"/>
          <p:cNvSpPr/>
          <p:nvPr/>
        </p:nvSpPr>
        <p:spPr>
          <a:xfrm>
            <a:off x="3390016" y="1492301"/>
            <a:ext cx="451348" cy="91440"/>
          </a:xfrm>
          <a:prstGeom prst="roundRect">
            <a:avLst>
              <a:gd name="adj" fmla="val 40000"/>
            </a:avLst>
          </a:prstGeom>
          <a:solidFill>
            <a:srgbClr val="FFFFFF">
              <a:alpha val="12000"/>
            </a:srgbClr>
          </a:solidFill>
          <a:ln w="12700">
            <a:solidFill>
              <a:srgbClr val="1A3560"/>
            </a:solidFill>
            <a:prstDash val="solid"/>
          </a:ln>
        </p:spPr>
        <p:txBody>
          <a:bodyPr/>
          <a:lstStyle/>
          <a:p>
            <a:endParaRPr lang="en-US"/>
          </a:p>
        </p:txBody>
      </p:sp>
      <p:sp>
        <p:nvSpPr>
          <p:cNvPr id="34" name="Text 32"/>
          <p:cNvSpPr/>
          <p:nvPr/>
        </p:nvSpPr>
        <p:spPr>
          <a:xfrm>
            <a:off x="3242158" y="1272845"/>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24</a:t>
            </a:r>
            <a:endParaRPr lang="en-US" sz="950" dirty="0"/>
          </a:p>
        </p:txBody>
      </p:sp>
      <p:sp>
        <p:nvSpPr>
          <p:cNvPr id="35" name="Text 33"/>
          <p:cNvSpPr/>
          <p:nvPr/>
        </p:nvSpPr>
        <p:spPr>
          <a:xfrm>
            <a:off x="3242158"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Zero-Shot</a:t>
            </a:r>
            <a:endParaRPr lang="en-US" sz="850" dirty="0"/>
          </a:p>
        </p:txBody>
      </p:sp>
      <p:sp>
        <p:nvSpPr>
          <p:cNvPr id="40" name="Shape 38"/>
          <p:cNvSpPr/>
          <p:nvPr/>
        </p:nvSpPr>
        <p:spPr>
          <a:xfrm>
            <a:off x="4273906" y="1574963"/>
            <a:ext cx="564185" cy="1570573"/>
          </a:xfrm>
          <a:prstGeom prst="roundRect">
            <a:avLst>
              <a:gd name="adj" fmla="val 7293"/>
            </a:avLst>
          </a:prstGeom>
          <a:solidFill>
            <a:srgbClr val="4A6C9A"/>
          </a:solidFill>
          <a:ln w="12700">
            <a:solidFill>
              <a:srgbClr val="4A6C9A"/>
            </a:solidFill>
            <a:prstDash val="solid"/>
          </a:ln>
        </p:spPr>
        <p:txBody>
          <a:bodyPr/>
          <a:lstStyle/>
          <a:p>
            <a:endParaRPr lang="en-US"/>
          </a:p>
        </p:txBody>
      </p:sp>
      <p:sp>
        <p:nvSpPr>
          <p:cNvPr id="41" name="Shape 39"/>
          <p:cNvSpPr/>
          <p:nvPr/>
        </p:nvSpPr>
        <p:spPr>
          <a:xfrm>
            <a:off x="4330324" y="1574963"/>
            <a:ext cx="451348" cy="91440"/>
          </a:xfrm>
          <a:prstGeom prst="roundRect">
            <a:avLst>
              <a:gd name="adj" fmla="val 40000"/>
            </a:avLst>
          </a:prstGeom>
          <a:solidFill>
            <a:srgbClr val="FFFFFF">
              <a:alpha val="12000"/>
            </a:srgbClr>
          </a:solidFill>
          <a:ln w="12700">
            <a:solidFill>
              <a:srgbClr val="4A6C9A"/>
            </a:solidFill>
            <a:prstDash val="solid"/>
          </a:ln>
        </p:spPr>
        <p:txBody>
          <a:bodyPr/>
          <a:lstStyle/>
          <a:p>
            <a:endParaRPr lang="en-US"/>
          </a:p>
        </p:txBody>
      </p:sp>
      <p:sp>
        <p:nvSpPr>
          <p:cNvPr id="42" name="Text 40"/>
          <p:cNvSpPr/>
          <p:nvPr/>
        </p:nvSpPr>
        <p:spPr>
          <a:xfrm>
            <a:off x="4182466" y="1355507"/>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22.7</a:t>
            </a:r>
            <a:endParaRPr lang="en-US" sz="950" dirty="0"/>
          </a:p>
        </p:txBody>
      </p:sp>
      <p:sp>
        <p:nvSpPr>
          <p:cNvPr id="43" name="Text 41"/>
          <p:cNvSpPr/>
          <p:nvPr/>
        </p:nvSpPr>
        <p:spPr>
          <a:xfrm>
            <a:off x="4182466"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4-Shot</a:t>
            </a:r>
            <a:endParaRPr lang="en-US" sz="850" dirty="0"/>
          </a:p>
        </p:txBody>
      </p:sp>
      <p:sp>
        <p:nvSpPr>
          <p:cNvPr id="44" name="Shape 42"/>
          <p:cNvSpPr/>
          <p:nvPr/>
        </p:nvSpPr>
        <p:spPr>
          <a:xfrm>
            <a:off x="5214214" y="1595628"/>
            <a:ext cx="564185" cy="1549908"/>
          </a:xfrm>
          <a:prstGeom prst="roundRect">
            <a:avLst>
              <a:gd name="adj" fmla="val 7293"/>
            </a:avLst>
          </a:prstGeom>
          <a:solidFill>
            <a:srgbClr val="5E7EAA"/>
          </a:solidFill>
          <a:ln w="12700">
            <a:solidFill>
              <a:srgbClr val="5E7EAA"/>
            </a:solidFill>
            <a:prstDash val="solid"/>
          </a:ln>
        </p:spPr>
        <p:txBody>
          <a:bodyPr/>
          <a:lstStyle/>
          <a:p>
            <a:endParaRPr lang="en-US"/>
          </a:p>
        </p:txBody>
      </p:sp>
      <p:sp>
        <p:nvSpPr>
          <p:cNvPr id="45" name="Shape 43"/>
          <p:cNvSpPr/>
          <p:nvPr/>
        </p:nvSpPr>
        <p:spPr>
          <a:xfrm>
            <a:off x="5270632" y="1595628"/>
            <a:ext cx="451348" cy="91440"/>
          </a:xfrm>
          <a:prstGeom prst="roundRect">
            <a:avLst>
              <a:gd name="adj" fmla="val 40000"/>
            </a:avLst>
          </a:prstGeom>
          <a:solidFill>
            <a:srgbClr val="FFFFFF">
              <a:alpha val="12000"/>
            </a:srgbClr>
          </a:solidFill>
          <a:ln w="12700">
            <a:solidFill>
              <a:srgbClr val="5E7EAA"/>
            </a:solidFill>
            <a:prstDash val="solid"/>
          </a:ln>
        </p:spPr>
        <p:txBody>
          <a:bodyPr/>
          <a:lstStyle/>
          <a:p>
            <a:endParaRPr lang="en-US"/>
          </a:p>
        </p:txBody>
      </p:sp>
      <p:sp>
        <p:nvSpPr>
          <p:cNvPr id="46" name="Text 44"/>
          <p:cNvSpPr/>
          <p:nvPr/>
        </p:nvSpPr>
        <p:spPr>
          <a:xfrm>
            <a:off x="5122774" y="1376172"/>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23.0</a:t>
            </a:r>
            <a:endParaRPr lang="en-US" sz="950" dirty="0"/>
          </a:p>
        </p:txBody>
      </p:sp>
      <p:sp>
        <p:nvSpPr>
          <p:cNvPr id="47" name="Text 45"/>
          <p:cNvSpPr/>
          <p:nvPr/>
        </p:nvSpPr>
        <p:spPr>
          <a:xfrm>
            <a:off x="5122774"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8-Shot</a:t>
            </a:r>
            <a:endParaRPr lang="en-US" sz="850" dirty="0"/>
          </a:p>
        </p:txBody>
      </p:sp>
      <p:sp>
        <p:nvSpPr>
          <p:cNvPr id="48" name="Shape 46"/>
          <p:cNvSpPr/>
          <p:nvPr/>
        </p:nvSpPr>
        <p:spPr>
          <a:xfrm>
            <a:off x="6154522" y="1747175"/>
            <a:ext cx="564185" cy="1398361"/>
          </a:xfrm>
          <a:prstGeom prst="roundRect">
            <a:avLst>
              <a:gd name="adj" fmla="val 7293"/>
            </a:avLst>
          </a:prstGeom>
          <a:solidFill>
            <a:srgbClr val="D8D4CC"/>
          </a:solidFill>
          <a:ln w="12700">
            <a:solidFill>
              <a:srgbClr val="D8D4CC"/>
            </a:solidFill>
            <a:prstDash val="solid"/>
          </a:ln>
        </p:spPr>
        <p:txBody>
          <a:bodyPr/>
          <a:lstStyle/>
          <a:p>
            <a:endParaRPr lang="en-US"/>
          </a:p>
        </p:txBody>
      </p:sp>
      <p:sp>
        <p:nvSpPr>
          <p:cNvPr id="49" name="Shape 47"/>
          <p:cNvSpPr/>
          <p:nvPr/>
        </p:nvSpPr>
        <p:spPr>
          <a:xfrm>
            <a:off x="6210940" y="1747175"/>
            <a:ext cx="451348" cy="91440"/>
          </a:xfrm>
          <a:prstGeom prst="roundRect">
            <a:avLst>
              <a:gd name="adj" fmla="val 40000"/>
            </a:avLst>
          </a:prstGeom>
          <a:solidFill>
            <a:srgbClr val="FFFFFF">
              <a:alpha val="12000"/>
            </a:srgbClr>
          </a:solidFill>
          <a:ln w="12700">
            <a:solidFill>
              <a:srgbClr val="D8D4CC"/>
            </a:solidFill>
            <a:prstDash val="solid"/>
          </a:ln>
        </p:spPr>
        <p:txBody>
          <a:bodyPr/>
          <a:lstStyle/>
          <a:p>
            <a:endParaRPr lang="en-US"/>
          </a:p>
        </p:txBody>
      </p:sp>
      <p:sp>
        <p:nvSpPr>
          <p:cNvPr id="50" name="Text 48"/>
          <p:cNvSpPr/>
          <p:nvPr/>
        </p:nvSpPr>
        <p:spPr>
          <a:xfrm>
            <a:off x="6063082" y="1527719"/>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20.3</a:t>
            </a:r>
            <a:endParaRPr lang="en-US" sz="950" dirty="0"/>
          </a:p>
        </p:txBody>
      </p:sp>
      <p:sp>
        <p:nvSpPr>
          <p:cNvPr id="51" name="Text 49"/>
          <p:cNvSpPr/>
          <p:nvPr/>
        </p:nvSpPr>
        <p:spPr>
          <a:xfrm>
            <a:off x="6063082"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CoT</a:t>
            </a:r>
            <a:endParaRPr lang="en-US" sz="850" dirty="0"/>
          </a:p>
        </p:txBody>
      </p:sp>
      <p:sp>
        <p:nvSpPr>
          <p:cNvPr id="52" name="Shape 50"/>
          <p:cNvSpPr/>
          <p:nvPr/>
        </p:nvSpPr>
        <p:spPr>
          <a:xfrm>
            <a:off x="7094830" y="1685178"/>
            <a:ext cx="564185" cy="1460358"/>
          </a:xfrm>
          <a:prstGeom prst="roundRect">
            <a:avLst>
              <a:gd name="adj" fmla="val 7293"/>
            </a:avLst>
          </a:prstGeom>
          <a:solidFill>
            <a:srgbClr val="C4C0B6"/>
          </a:solidFill>
          <a:ln w="12700">
            <a:solidFill>
              <a:srgbClr val="C4C0B6"/>
            </a:solidFill>
            <a:prstDash val="solid"/>
          </a:ln>
        </p:spPr>
        <p:txBody>
          <a:bodyPr/>
          <a:lstStyle/>
          <a:p>
            <a:endParaRPr lang="en-US"/>
          </a:p>
        </p:txBody>
      </p:sp>
      <p:sp>
        <p:nvSpPr>
          <p:cNvPr id="53" name="Shape 51"/>
          <p:cNvSpPr/>
          <p:nvPr/>
        </p:nvSpPr>
        <p:spPr>
          <a:xfrm>
            <a:off x="7151248" y="1685178"/>
            <a:ext cx="451348" cy="91440"/>
          </a:xfrm>
          <a:prstGeom prst="roundRect">
            <a:avLst>
              <a:gd name="adj" fmla="val 40000"/>
            </a:avLst>
          </a:prstGeom>
          <a:solidFill>
            <a:srgbClr val="FFFFFF">
              <a:alpha val="12000"/>
            </a:srgbClr>
          </a:solidFill>
          <a:ln w="12700">
            <a:solidFill>
              <a:srgbClr val="C4C0B6"/>
            </a:solidFill>
            <a:prstDash val="solid"/>
          </a:ln>
        </p:spPr>
        <p:txBody>
          <a:bodyPr/>
          <a:lstStyle/>
          <a:p>
            <a:endParaRPr lang="en-US"/>
          </a:p>
        </p:txBody>
      </p:sp>
      <p:sp>
        <p:nvSpPr>
          <p:cNvPr id="54" name="Text 52"/>
          <p:cNvSpPr/>
          <p:nvPr/>
        </p:nvSpPr>
        <p:spPr>
          <a:xfrm>
            <a:off x="7003390" y="1465722"/>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20.5</a:t>
            </a:r>
            <a:endParaRPr lang="en-US" sz="950" dirty="0"/>
          </a:p>
        </p:txBody>
      </p:sp>
      <p:sp>
        <p:nvSpPr>
          <p:cNvPr id="55" name="Text 53"/>
          <p:cNvSpPr/>
          <p:nvPr/>
        </p:nvSpPr>
        <p:spPr>
          <a:xfrm>
            <a:off x="7003390"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ZS-CoT</a:t>
            </a:r>
            <a:endParaRPr lang="en-US" sz="850" dirty="0"/>
          </a:p>
        </p:txBody>
      </p:sp>
      <p:sp>
        <p:nvSpPr>
          <p:cNvPr id="56" name="Shape 54"/>
          <p:cNvSpPr/>
          <p:nvPr/>
        </p:nvSpPr>
        <p:spPr>
          <a:xfrm>
            <a:off x="292608" y="3840480"/>
            <a:ext cx="8558784" cy="292608"/>
          </a:xfrm>
          <a:prstGeom prst="roundRect">
            <a:avLst>
              <a:gd name="adj" fmla="val 18750"/>
            </a:avLst>
          </a:prstGeom>
          <a:solidFill>
            <a:srgbClr val="6E5200">
              <a:alpha val="12000"/>
            </a:srgbClr>
          </a:solidFill>
          <a:ln w="12700">
            <a:solidFill>
              <a:srgbClr val="6E5200"/>
            </a:solidFill>
            <a:prstDash val="solid"/>
          </a:ln>
        </p:spPr>
        <p:txBody>
          <a:bodyPr/>
          <a:lstStyle/>
          <a:p>
            <a:endParaRPr lang="en-US"/>
          </a:p>
        </p:txBody>
      </p:sp>
      <p:sp>
        <p:nvSpPr>
          <p:cNvPr id="57" name="Text 55"/>
          <p:cNvSpPr/>
          <p:nvPr/>
        </p:nvSpPr>
        <p:spPr>
          <a:xfrm>
            <a:off x="457200" y="3867912"/>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ROUGE-L: Zero-Shot beats CoT by 3.7pp -p&lt;0.001, medium effect size (d=0.56)</a:t>
            </a:r>
            <a:endParaRPr lang="en-US" sz="1000" dirty="0"/>
          </a:p>
        </p:txBody>
      </p:sp>
      <p:sp>
        <p:nvSpPr>
          <p:cNvPr id="58" name="Shape 56"/>
          <p:cNvSpPr/>
          <p:nvPr/>
        </p:nvSpPr>
        <p:spPr>
          <a:xfrm>
            <a:off x="292608" y="4206240"/>
            <a:ext cx="8558784" cy="292608"/>
          </a:xfrm>
          <a:prstGeom prst="roundRect">
            <a:avLst>
              <a:gd name="adj" fmla="val 18750"/>
            </a:avLst>
          </a:prstGeom>
          <a:solidFill>
            <a:srgbClr val="245E3E">
              <a:alpha val="12000"/>
            </a:srgbClr>
          </a:solidFill>
          <a:ln w="12700">
            <a:solidFill>
              <a:srgbClr val="245E3E"/>
            </a:solidFill>
            <a:prstDash val="solid"/>
          </a:ln>
        </p:spPr>
        <p:txBody>
          <a:bodyPr/>
          <a:lstStyle/>
          <a:p>
            <a:endParaRPr lang="en-US"/>
          </a:p>
        </p:txBody>
      </p:sp>
      <p:sp>
        <p:nvSpPr>
          <p:cNvPr id="59" name="Text 57"/>
          <p:cNvSpPr/>
          <p:nvPr/>
        </p:nvSpPr>
        <p:spPr>
          <a:xfrm>
            <a:off x="457200" y="4233672"/>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BERTScore: all four techniques within 0.01 -same semantic content, different surface form</a:t>
            </a:r>
            <a:endParaRPr lang="en-US" sz="1000" dirty="0"/>
          </a:p>
        </p:txBody>
      </p:sp>
      <p:sp>
        <p:nvSpPr>
          <p:cNvPr id="60" name="Shape 58"/>
          <p:cNvSpPr/>
          <p:nvPr/>
        </p:nvSpPr>
        <p:spPr>
          <a:xfrm>
            <a:off x="292608" y="4572000"/>
            <a:ext cx="8558784" cy="292608"/>
          </a:xfrm>
          <a:prstGeom prst="roundRect">
            <a:avLst>
              <a:gd name="adj" fmla="val 18750"/>
            </a:avLst>
          </a:prstGeom>
          <a:solidFill>
            <a:srgbClr val="7A3020">
              <a:alpha val="12000"/>
            </a:srgbClr>
          </a:solidFill>
          <a:ln w="12700">
            <a:solidFill>
              <a:srgbClr val="7A3020"/>
            </a:solidFill>
            <a:prstDash val="solid"/>
          </a:ln>
        </p:spPr>
        <p:txBody>
          <a:bodyPr/>
          <a:lstStyle/>
          <a:p>
            <a:endParaRPr lang="en-US"/>
          </a:p>
        </p:txBody>
      </p:sp>
      <p:sp>
        <p:nvSpPr>
          <p:cNvPr id="61" name="Text 59"/>
          <p:cNvSpPr/>
          <p:nvPr/>
        </p:nvSpPr>
        <p:spPr>
          <a:xfrm>
            <a:off x="457200" y="4599432"/>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Metric artefact: using only ROUGE-L gives a misleading picture. Always pair with BERTScore.</a:t>
            </a:r>
            <a:endParaRPr lang="en-US" sz="10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3" presetID="10" presetClass="entr" presetSubtype="0" fill="hold" grpId="0" nodeType="clickEffect">
                            <p:stCondLst>
                              <p:cond delay="0"/>
                            </p:stCondLst>
                            <p:childTnLst>
                              <p:animEffect transition="in" filter="fade">
                                <p:cBhvr>
                                  <p:cTn id="50001" dur="350"/>
                                  <p:tgtEl>
                                    <p:spTgt spid="6"/>
                                  </p:tgtEl>
                                </p:cBhvr>
                              </p:animEffect>
                              <p:animEffect transition="in" filter="fade">
                                <p:cBhvr>
                                  <p:cTn id="50002" dur="350"/>
                                  <p:tgtEl>
                                    <p:spTgt spid="7"/>
                                  </p:tgtEl>
                                </p:cBhvr>
                              </p:animEffect>
                            </p:childTnLst>
                          </p:cTn>
                        </p:par>
                      </p:childTnLst>
                    </p:cTn>
                  </p:par>
                  <p:par>
                    <p:cTn id="50100" fill="hold">
                      <p:stCondLst>
                        <p:cond delay="600"/>
                      </p:stCondLst>
                      <p:childTnLst>
                        <p:par>
                          <p:cTn id="50105" presetID="10" presetClass="entr" presetSubtype="0" fill="hold" grpId="1" nodeType="withEffect">
                            <p:stCondLst>
                              <p:cond delay="0"/>
                            </p:stCondLst>
                            <p:childTnLst>
                              <p:animEffect transition="in" filter="fade">
                                <p:cBhvr>
                                  <p:cTn id="50101" dur="550"/>
                                  <p:tgtEl>
                                    <p:spTgt spid="8"/>
                                  </p:tgtEl>
                                </p:cBhvr>
                              </p:animEffect>
                              <p:animEffect transition="in" filter="fade">
                                <p:cBhvr>
                                  <p:cTn id="50102" dur="550"/>
                                  <p:tgtEl>
                                    <p:spTgt spid="9"/>
                                  </p:tgtEl>
                                </p:cBhvr>
                              </p:animEffect>
                              <p:animEffect transition="in" filter="fade">
                                <p:cBhvr>
                                  <p:cTn id="50103" dur="550"/>
                                  <p:tgtEl>
                                    <p:spTgt spid="10"/>
                                  </p:tgtEl>
                                </p:cBhvr>
                              </p:animEffect>
                              <p:animEffect transition="in" filter="fade">
                                <p:cBhvr>
                                  <p:cTn id="50104" dur="550"/>
                                  <p:tgtEl>
                                    <p:spTgt spid="11"/>
                                  </p:tgtEl>
                                </p:cBhvr>
                              </p:animEffect>
                            </p:childTnLst>
                          </p:cTn>
                        </p:par>
                      </p:childTnLst>
                    </p:cTn>
                  </p:par>
                  <p:par>
                    <p:cTn id="50200" fill="hold">
                      <p:stCondLst>
                        <p:cond delay="700"/>
                      </p:stCondLst>
                      <p:childTnLst>
                        <p:par>
                          <p:cTn id="50202" presetID="10" presetClass="entr" presetSubtype="0" fill="hold" grpId="2" nodeType="withEffect">
                            <p:stCondLst>
                              <p:cond delay="0"/>
                            </p:stCondLst>
                            <p:childTnLst>
                              <p:animEffect transition="in" filter="fade">
                                <p:cBhvr>
                                  <p:cTn id="50201" dur="350"/>
                                  <p:tgtEl>
                                    <p:spTgt spid="17"/>
                                  </p:tgtEl>
                                </p:cBhvr>
                              </p:animEffect>
                            </p:childTnLst>
                          </p:cTn>
                        </p:par>
                      </p:childTnLst>
                    </p:cTn>
                  </p:par>
                  <p:par>
                    <p:cTn id="50300" fill="hold">
                      <p:stCondLst>
                        <p:cond delay="800"/>
                      </p:stCondLst>
                      <p:childTnLst>
                        <p:par>
                          <p:cTn id="50335" presetID="35" presetClass="entr" presetSubtype="2" fill="hold" grpId="3" nodeType="withEffect">
                            <p:stCondLst>
                              <p:cond delay="0"/>
                            </p:stCondLst>
                            <p:childTnLst>
                              <p:animEffect transition="in" filter="wipe(up)">
                                <p:cBhvr>
                                  <p:cTn id="50301" dur="450"/>
                                  <p:tgtEl>
                                    <p:spTgt spid="19"/>
                                  </p:tgtEl>
                                </p:cBhvr>
                              </p:animEffect>
                              <p:animEffect transition="in" filter="wipe(up)">
                                <p:cBhvr>
                                  <p:cTn id="50302" dur="450"/>
                                  <p:tgtEl>
                                    <p:spTgt spid="21"/>
                                  </p:tgtEl>
                                </p:cBhvr>
                              </p:animEffect>
                              <p:animEffect transition="in" filter="wipe(up)">
                                <p:cBhvr>
                                  <p:cTn id="50303" dur="450"/>
                                  <p:tgtEl>
                                    <p:spTgt spid="23"/>
                                  </p:tgtEl>
                                </p:cBhvr>
                              </p:animEffect>
                              <p:animEffect transition="in" filter="wipe(up)">
                                <p:cBhvr>
                                  <p:cTn id="50304" dur="450"/>
                                  <p:tgtEl>
                                    <p:spTgt spid="25"/>
                                  </p:tgtEl>
                                </p:cBhvr>
                              </p:animEffect>
                              <p:animEffect transition="in" filter="wipe(up)">
                                <p:cBhvr>
                                  <p:cTn id="50305" dur="450"/>
                                  <p:tgtEl>
                                    <p:spTgt spid="27"/>
                                  </p:tgtEl>
                                </p:cBhvr>
                              </p:animEffect>
                              <p:animEffect transition="in" filter="wipe(up)">
                                <p:cBhvr>
                                  <p:cTn id="50306" dur="450"/>
                                  <p:tgtEl>
                                    <p:spTgt spid="29"/>
                                  </p:tgtEl>
                                </p:cBhvr>
                              </p:animEffect>
                              <p:animEffect transition="in" filter="wipe(up)">
                                <p:cBhvr>
                                  <p:cTn id="50307" dur="450"/>
                                  <p:tgtEl>
                                    <p:spTgt spid="31"/>
                                  </p:tgtEl>
                                </p:cBhvr>
                              </p:animEffect>
                              <p:animEffect transition="in" filter="wipe(up)">
                                <p:cBhvr>
                                  <p:cTn id="50308" dur="450"/>
                                  <p:tgtEl>
                                    <p:spTgt spid="18"/>
                                  </p:tgtEl>
                                </p:cBhvr>
                              </p:animEffect>
                              <p:animEffect transition="in" filter="wipe(up)">
                                <p:cBhvr>
                                  <p:cTn id="50309" dur="450"/>
                                  <p:tgtEl>
                                    <p:spTgt spid="20"/>
                                  </p:tgtEl>
                                </p:cBhvr>
                              </p:animEffect>
                              <p:animEffect transition="in" filter="wipe(up)">
                                <p:cBhvr>
                                  <p:cTn id="50310" dur="450"/>
                                  <p:tgtEl>
                                    <p:spTgt spid="22"/>
                                  </p:tgtEl>
                                </p:cBhvr>
                              </p:animEffect>
                              <p:animEffect transition="in" filter="wipe(up)">
                                <p:cBhvr>
                                  <p:cTn id="50311" dur="450"/>
                                  <p:tgtEl>
                                    <p:spTgt spid="24"/>
                                  </p:tgtEl>
                                </p:cBhvr>
                              </p:animEffect>
                              <p:animEffect transition="in" filter="wipe(up)">
                                <p:cBhvr>
                                  <p:cTn id="50312" dur="450"/>
                                  <p:tgtEl>
                                    <p:spTgt spid="26"/>
                                  </p:tgtEl>
                                </p:cBhvr>
                              </p:animEffect>
                              <p:animEffect transition="in" filter="wipe(up)">
                                <p:cBhvr>
                                  <p:cTn id="50313" dur="450"/>
                                  <p:tgtEl>
                                    <p:spTgt spid="28"/>
                                  </p:tgtEl>
                                </p:cBhvr>
                              </p:animEffect>
                              <p:animEffect transition="in" filter="wipe(up)">
                                <p:cBhvr>
                                  <p:cTn id="50314" dur="450"/>
                                  <p:tgtEl>
                                    <p:spTgt spid="30"/>
                                  </p:tgtEl>
                                </p:cBhvr>
                              </p:animEffect>
                              <p:animEffect transition="in" filter="wipe(up)">
                                <p:cBhvr>
                                  <p:cTn id="50315" dur="450"/>
                                  <p:tgtEl>
                                    <p:spTgt spid="34"/>
                                  </p:tgtEl>
                                </p:cBhvr>
                              </p:animEffect>
                              <p:animEffect transition="in" filter="wipe(up)">
                                <p:cBhvr>
                                  <p:cTn id="50316" dur="450"/>
                                  <p:tgtEl>
                                    <p:spTgt spid="35"/>
                                  </p:tgtEl>
                                </p:cBhvr>
                              </p:animEffect>
                              <p:animEffect transition="in" filter="wipe(up)">
                                <p:cBhvr>
                                  <p:cTn id="50317" dur="450"/>
                                  <p:tgtEl>
                                    <p:spTgt spid="32"/>
                                  </p:tgtEl>
                                </p:cBhvr>
                              </p:animEffect>
                              <p:animEffect transition="in" filter="wipe(up)">
                                <p:cBhvr>
                                  <p:cTn id="50318" dur="450"/>
                                  <p:tgtEl>
                                    <p:spTgt spid="33"/>
                                  </p:tgtEl>
                                </p:cBhvr>
                              </p:animEffect>
                              <p:animEffect transition="in" filter="wipe(up)">
                                <p:cBhvr>
                                  <p:cTn id="50319" dur="450"/>
                                  <p:tgtEl>
                                    <p:spTgt spid="42"/>
                                  </p:tgtEl>
                                </p:cBhvr>
                              </p:animEffect>
                              <p:animEffect transition="in" filter="wipe(up)">
                                <p:cBhvr>
                                  <p:cTn id="50320" dur="450"/>
                                  <p:tgtEl>
                                    <p:spTgt spid="43"/>
                                  </p:tgtEl>
                                </p:cBhvr>
                              </p:animEffect>
                              <p:animEffect transition="in" filter="wipe(up)">
                                <p:cBhvr>
                                  <p:cTn id="50321" dur="450"/>
                                  <p:tgtEl>
                                    <p:spTgt spid="40"/>
                                  </p:tgtEl>
                                </p:cBhvr>
                              </p:animEffect>
                              <p:animEffect transition="in" filter="wipe(up)">
                                <p:cBhvr>
                                  <p:cTn id="50322" dur="450"/>
                                  <p:tgtEl>
                                    <p:spTgt spid="41"/>
                                  </p:tgtEl>
                                </p:cBhvr>
                              </p:animEffect>
                              <p:animEffect transition="in" filter="wipe(up)">
                                <p:cBhvr>
                                  <p:cTn id="50323" dur="450"/>
                                  <p:tgtEl>
                                    <p:spTgt spid="46"/>
                                  </p:tgtEl>
                                </p:cBhvr>
                              </p:animEffect>
                              <p:animEffect transition="in" filter="wipe(up)">
                                <p:cBhvr>
                                  <p:cTn id="50324" dur="450"/>
                                  <p:tgtEl>
                                    <p:spTgt spid="47"/>
                                  </p:tgtEl>
                                </p:cBhvr>
                              </p:animEffect>
                              <p:animEffect transition="in" filter="wipe(up)">
                                <p:cBhvr>
                                  <p:cTn id="50325" dur="450"/>
                                  <p:tgtEl>
                                    <p:spTgt spid="44"/>
                                  </p:tgtEl>
                                </p:cBhvr>
                              </p:animEffect>
                              <p:animEffect transition="in" filter="wipe(up)">
                                <p:cBhvr>
                                  <p:cTn id="50326" dur="450"/>
                                  <p:tgtEl>
                                    <p:spTgt spid="45"/>
                                  </p:tgtEl>
                                </p:cBhvr>
                              </p:animEffect>
                              <p:animEffect transition="in" filter="wipe(up)">
                                <p:cBhvr>
                                  <p:cTn id="50327" dur="450"/>
                                  <p:tgtEl>
                                    <p:spTgt spid="50"/>
                                  </p:tgtEl>
                                </p:cBhvr>
                              </p:animEffect>
                              <p:animEffect transition="in" filter="wipe(up)">
                                <p:cBhvr>
                                  <p:cTn id="50328" dur="450"/>
                                  <p:tgtEl>
                                    <p:spTgt spid="51"/>
                                  </p:tgtEl>
                                </p:cBhvr>
                              </p:animEffect>
                              <p:animEffect transition="in" filter="wipe(up)">
                                <p:cBhvr>
                                  <p:cTn id="50329" dur="450"/>
                                  <p:tgtEl>
                                    <p:spTgt spid="48"/>
                                  </p:tgtEl>
                                </p:cBhvr>
                              </p:animEffect>
                              <p:animEffect transition="in" filter="wipe(up)">
                                <p:cBhvr>
                                  <p:cTn id="50330" dur="450"/>
                                  <p:tgtEl>
                                    <p:spTgt spid="49"/>
                                  </p:tgtEl>
                                </p:cBhvr>
                              </p:animEffect>
                              <p:animEffect transition="in" filter="wipe(up)">
                                <p:cBhvr>
                                  <p:cTn id="50331" dur="450"/>
                                  <p:tgtEl>
                                    <p:spTgt spid="54"/>
                                  </p:tgtEl>
                                </p:cBhvr>
                              </p:animEffect>
                              <p:animEffect transition="in" filter="wipe(up)">
                                <p:cBhvr>
                                  <p:cTn id="50332" dur="450"/>
                                  <p:tgtEl>
                                    <p:spTgt spid="55"/>
                                  </p:tgtEl>
                                </p:cBhvr>
                              </p:animEffect>
                              <p:animEffect transition="in" filter="wipe(up)">
                                <p:cBhvr>
                                  <p:cTn id="50333" dur="450"/>
                                  <p:tgtEl>
                                    <p:spTgt spid="52"/>
                                  </p:tgtEl>
                                </p:cBhvr>
                              </p:animEffect>
                              <p:animEffect transition="in" filter="wipe(up)">
                                <p:cBhvr>
                                  <p:cTn id="50334" dur="450"/>
                                  <p:tgtEl>
                                    <p:spTgt spid="53"/>
                                  </p:tgtEl>
                                </p:cBhvr>
                              </p:animEffect>
                            </p:childTnLst>
                          </p:cTn>
                        </p:par>
                      </p:childTnLst>
                    </p:cTn>
                  </p:par>
                  <p:par>
                    <p:cTn id="50400" fill="hold">
                      <p:stCondLst>
                        <p:cond delay="1050"/>
                      </p:stCondLst>
                      <p:childTnLst>
                        <p:par>
                          <p:cTn id="50408" presetID="10" presetClass="entr" presetSubtype="0" fill="hold" grpId="4" nodeType="withEffect">
                            <p:stCondLst>
                              <p:cond delay="0"/>
                            </p:stCondLst>
                            <p:childTnLst>
                              <p:animEffect transition="in" filter="fade">
                                <p:cBhvr>
                                  <p:cTn id="50401" dur="550"/>
                                  <p:tgtEl>
                                    <p:spTgt spid="12"/>
                                  </p:tgtEl>
                                </p:cBhvr>
                              </p:animEffect>
                              <p:animEffect transition="in" filter="fade">
                                <p:cBhvr>
                                  <p:cTn id="50402" dur="550"/>
                                  <p:tgtEl>
                                    <p:spTgt spid="4"/>
                                  </p:tgtEl>
                                </p:cBhvr>
                              </p:animEffect>
                              <p:animEffect transition="in" filter="fade">
                                <p:cBhvr>
                                  <p:cTn id="50403" dur="550"/>
                                  <p:tgtEl>
                                    <p:spTgt spid="5"/>
                                  </p:tgtEl>
                                </p:cBhvr>
                              </p:animEffect>
                              <p:animEffect transition="in" filter="fade">
                                <p:cBhvr>
                                  <p:cTn id="50404" dur="550"/>
                                  <p:tgtEl>
                                    <p:spTgt spid="13"/>
                                  </p:tgtEl>
                                </p:cBhvr>
                              </p:animEffect>
                              <p:animEffect transition="in" filter="fade">
                                <p:cBhvr>
                                  <p:cTn id="50405" dur="550"/>
                                  <p:tgtEl>
                                    <p:spTgt spid="14"/>
                                  </p:tgtEl>
                                </p:cBhvr>
                              </p:animEffect>
                              <p:animEffect transition="in" filter="fade">
                                <p:cBhvr>
                                  <p:cTn id="50406" dur="550"/>
                                  <p:tgtEl>
                                    <p:spTgt spid="15"/>
                                  </p:tgtEl>
                                </p:cBhvr>
                              </p:animEffect>
                              <p:animEffect transition="in" filter="fade">
                                <p:cBhvr>
                                  <p:cTn id="50407" dur="550"/>
                                  <p:tgtEl>
                                    <p:spTgt spid="16"/>
                                  </p:tgtEl>
                                </p:cBhvr>
                              </p:animEffect>
                            </p:childTnLst>
                          </p:cTn>
                        </p:par>
                      </p:childTnLst>
                    </p:cTn>
                  </p:par>
                  <p:par>
                    <p:cTn id="50500" fill="hold">
                      <p:stCondLst>
                        <p:cond delay="1150"/>
                      </p:stCondLst>
                      <p:childTnLst>
                        <p:par>
                          <p:cTn id="50503" presetID="10" presetClass="entr" presetSubtype="0" fill="hold" grpId="5" nodeType="withEffect">
                            <p:stCondLst>
                              <p:cond delay="0"/>
                            </p:stCondLst>
                            <p:childTnLst>
                              <p:animEffect transition="in" filter="fade">
                                <p:cBhvr>
                                  <p:cTn id="50501" dur="350"/>
                                  <p:tgtEl>
                                    <p:spTgt spid="56"/>
                                  </p:tgtEl>
                                </p:cBhvr>
                              </p:animEffect>
                              <p:animEffect transition="in" filter="fade">
                                <p:cBhvr>
                                  <p:cTn id="50502" dur="350"/>
                                  <p:tgtEl>
                                    <p:spTgt spid="57"/>
                                  </p:tgtEl>
                                </p:cBhvr>
                              </p:animEffect>
                            </p:childTnLst>
                          </p:cTn>
                        </p:par>
                      </p:childTnLst>
                    </p:cTn>
                  </p:par>
                  <p:par>
                    <p:cTn id="50600" fill="hold">
                      <p:stCondLst>
                        <p:cond delay="1250"/>
                      </p:stCondLst>
                      <p:childTnLst>
                        <p:par>
                          <p:cTn id="50603" presetID="10" presetClass="entr" presetSubtype="0" fill="hold" grpId="6" nodeType="withEffect">
                            <p:stCondLst>
                              <p:cond delay="0"/>
                            </p:stCondLst>
                            <p:childTnLst>
                              <p:animEffect transition="in" filter="fade">
                                <p:cBhvr>
                                  <p:cTn id="50601" dur="350"/>
                                  <p:tgtEl>
                                    <p:spTgt spid="58"/>
                                  </p:tgtEl>
                                </p:cBhvr>
                              </p:animEffect>
                              <p:animEffect transition="in" filter="fade">
                                <p:cBhvr>
                                  <p:cTn id="50602" dur="350"/>
                                  <p:tgtEl>
                                    <p:spTgt spid="59"/>
                                  </p:tgtEl>
                                </p:cBhvr>
                              </p:animEffect>
                            </p:childTnLst>
                          </p:cTn>
                        </p:par>
                      </p:childTnLst>
                    </p:cTn>
                  </p:par>
                  <p:par>
                    <p:cTn id="50700" fill="hold">
                      <p:stCondLst>
                        <p:cond delay="1350"/>
                      </p:stCondLst>
                      <p:childTnLst>
                        <p:par>
                          <p:cTn id="50703" presetID="10" presetClass="entr" presetSubtype="0" fill="hold" grpId="7" nodeType="withEffect">
                            <p:stCondLst>
                              <p:cond delay="0"/>
                            </p:stCondLst>
                            <p:childTnLst>
                              <p:animEffect transition="in" filter="fade">
                                <p:cBhvr>
                                  <p:cTn id="50701" dur="350"/>
                                  <p:tgtEl>
                                    <p:spTgt spid="60"/>
                                  </p:tgtEl>
                                </p:cBhvr>
                              </p:animEffect>
                              <p:animEffect transition="in" filter="fade">
                                <p:cBhvr>
                                  <p:cTn id="50702" dur="350"/>
                                  <p:tgtEl>
                                    <p:spTgt spid="6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1" animBg="1"/>
      <p:bldP spid="9" grpId="1" animBg="1"/>
      <p:bldP spid="10" grpId="1" animBg="1"/>
      <p:bldP spid="11" grpId="1" animBg="1"/>
      <p:bldP spid="17" grpId="2" animBg="1"/>
      <p:bldP spid="19" grpId="3" animBg="1"/>
      <p:bldP spid="21" grpId="3" animBg="1"/>
      <p:bldP spid="23" grpId="3" animBg="1"/>
      <p:bldP spid="25" grpId="3" animBg="1"/>
      <p:bldP spid="27" grpId="3" animBg="1"/>
      <p:bldP spid="29" grpId="3" animBg="1"/>
      <p:bldP spid="31" grpId="3" animBg="1"/>
      <p:bldP spid="18" grpId="3" animBg="1"/>
      <p:bldP spid="20" grpId="3" animBg="1"/>
      <p:bldP spid="22" grpId="3" animBg="1"/>
      <p:bldP spid="24" grpId="3" animBg="1"/>
      <p:bldP spid="26" grpId="3" animBg="1"/>
      <p:bldP spid="28" grpId="3" animBg="1"/>
      <p:bldP spid="30" grpId="3" animBg="1"/>
      <p:bldP spid="34" grpId="3" animBg="1"/>
      <p:bldP spid="35" grpId="3" animBg="1"/>
      <p:bldP spid="32" grpId="3" animBg="1"/>
      <p:bldP spid="33" grpId="3" animBg="1"/>
      <p:bldP spid="42" grpId="3" animBg="1"/>
      <p:bldP spid="43" grpId="3" animBg="1"/>
      <p:bldP spid="40" grpId="3" animBg="1"/>
      <p:bldP spid="41" grpId="3" animBg="1"/>
      <p:bldP spid="46" grpId="3" animBg="1"/>
      <p:bldP spid="47" grpId="3" animBg="1"/>
      <p:bldP spid="44" grpId="3" animBg="1"/>
      <p:bldP spid="45" grpId="3" animBg="1"/>
      <p:bldP spid="50" grpId="3" animBg="1"/>
      <p:bldP spid="51" grpId="3" animBg="1"/>
      <p:bldP spid="48" grpId="3" animBg="1"/>
      <p:bldP spid="49" grpId="3" animBg="1"/>
      <p:bldP spid="54" grpId="3" animBg="1"/>
      <p:bldP spid="55" grpId="3" animBg="1"/>
      <p:bldP spid="52" grpId="3" animBg="1"/>
      <p:bldP spid="53" grpId="3" animBg="1"/>
      <p:bldP spid="12" grpId="4" animBg="1"/>
      <p:bldP spid="4" grpId="4" animBg="1"/>
      <p:bldP spid="5" grpId="4" animBg="1"/>
      <p:bldP spid="13" grpId="4" animBg="1"/>
      <p:bldP spid="14" grpId="4" animBg="1"/>
      <p:bldP spid="15" grpId="4" animBg="1"/>
      <p:bldP spid="16" grpId="4" animBg="1"/>
      <p:bldP spid="56" grpId="5" animBg="1"/>
      <p:bldP spid="57" grpId="5" animBg="1"/>
      <p:bldP spid="58" grpId="6" animBg="1"/>
      <p:bldP spid="59" grpId="6" animBg="1"/>
      <p:bldP spid="60" grpId="7" animBg="1"/>
      <p:bldP spid="61" grpId="7"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0E8"/>
          </a:solidFill>
          <a:ln w="12700">
            <a:solidFill>
              <a:srgbClr val="F2F0E8"/>
            </a:solidFill>
            <a:prstDash val="solid"/>
          </a:ln>
        </p:spPr>
        <p:txBody>
          <a:bodyPr/>
          <a:lstStyle/>
          <a:p>
            <a:endParaRPr lang="en-US"/>
          </a:p>
        </p:txBody>
      </p:sp>
      <p:sp>
        <p:nvSpPr>
          <p:cNvPr id="3" name="Shape 1"/>
          <p:cNvSpPr/>
          <p:nvPr/>
        </p:nvSpPr>
        <p:spPr>
          <a:xfrm>
            <a:off x="0" y="0"/>
            <a:ext cx="64008" cy="5143500"/>
          </a:xfrm>
          <a:prstGeom prst="rect">
            <a:avLst/>
          </a:prstGeom>
          <a:solidFill>
            <a:srgbClr val="7A3020"/>
          </a:solidFill>
          <a:ln w="12700">
            <a:solidFill>
              <a:srgbClr val="7A3020"/>
            </a:solidFill>
            <a:prstDash val="solid"/>
          </a:ln>
        </p:spPr>
        <p:txBody>
          <a:bodyPr/>
          <a:lstStyle/>
          <a:p>
            <a:endParaRPr lang="en-US"/>
          </a:p>
        </p:txBody>
      </p:sp>
      <p:sp>
        <p:nvSpPr>
          <p:cNvPr id="4" name="Shape 2"/>
          <p:cNvSpPr/>
          <p:nvPr/>
        </p:nvSpPr>
        <p:spPr>
          <a:xfrm>
            <a:off x="-91440" y="1463040"/>
            <a:ext cx="2926080" cy="2926080"/>
          </a:xfrm>
          <a:prstGeom prst="ellipse">
            <a:avLst/>
          </a:prstGeom>
          <a:solidFill>
            <a:srgbClr val="7A3020">
              <a:alpha val="7000"/>
            </a:srgbClr>
          </a:solidFill>
          <a:ln w="12700">
            <a:solidFill>
              <a:srgbClr val="F7F5F0"/>
            </a:solidFill>
            <a:prstDash val="solid"/>
          </a:ln>
        </p:spPr>
        <p:txBody>
          <a:bodyPr/>
          <a:lstStyle/>
          <a:p>
            <a:endParaRPr lang="en-US"/>
          </a:p>
        </p:txBody>
      </p:sp>
      <p:sp>
        <p:nvSpPr>
          <p:cNvPr id="5" name="Shape 3"/>
          <p:cNvSpPr/>
          <p:nvPr/>
        </p:nvSpPr>
        <p:spPr>
          <a:xfrm>
            <a:off x="640080" y="2194560"/>
            <a:ext cx="1463040" cy="1463040"/>
          </a:xfrm>
          <a:prstGeom prst="ellipse">
            <a:avLst/>
          </a:prstGeom>
          <a:solidFill>
            <a:srgbClr val="7A3020">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7A3020"/>
                </a:solidFill>
                <a:latin typeface="Calibri" pitchFamily="34" charset="0"/>
                <a:ea typeface="Calibri" pitchFamily="34" charset="-122"/>
                <a:cs typeface="Calibri" pitchFamily="34" charset="-120"/>
              </a:rPr>
              <a:t>REASONING RESULTS</a:t>
            </a:r>
            <a:endParaRPr lang="en-US" sz="900" dirty="0"/>
          </a:p>
        </p:txBody>
      </p:sp>
      <p:sp>
        <p:nvSpPr>
          <p:cNvPr id="7" name="Text 5"/>
          <p:cNvSpPr/>
          <p:nvPr/>
        </p:nvSpPr>
        <p:spPr>
          <a:xfrm>
            <a:off x="457200" y="402336"/>
            <a:ext cx="7315200" cy="256032"/>
          </a:xfrm>
          <a:prstGeom prst="rect">
            <a:avLst/>
          </a:prstGeom>
          <a:noFill/>
          <a:ln/>
        </p:spPr>
        <p:txBody>
          <a:bodyPr wrap="square" rtlCol="0" anchor="ctr"/>
          <a:lstStyle/>
          <a:p>
            <a:pPr marL="0" indent="0">
              <a:buNone/>
            </a:pPr>
            <a:r>
              <a:rPr lang="en-US" sz="1400" dirty="0">
                <a:solidFill>
                  <a:srgbClr val="6E6760"/>
                </a:solidFill>
                <a:latin typeface="Calibri" pitchFamily="34" charset="0"/>
                <a:ea typeface="Calibri" pitchFamily="34" charset="-122"/>
                <a:cs typeface="Calibri" pitchFamily="34" charset="-120"/>
              </a:rPr>
              <a:t>GSM8K  ·  n = 1,319  ·  Exact Match on Final Answer</a:t>
            </a:r>
            <a:endParaRPr lang="en-US" sz="1400" dirty="0"/>
          </a:p>
        </p:txBody>
      </p:sp>
      <p:sp>
        <p:nvSpPr>
          <p:cNvPr id="8" name="Shape 6"/>
          <p:cNvSpPr/>
          <p:nvPr/>
        </p:nvSpPr>
        <p:spPr>
          <a:xfrm>
            <a:off x="292608" y="804672"/>
            <a:ext cx="2377440" cy="2011680"/>
          </a:xfrm>
          <a:prstGeom prst="roundRect">
            <a:avLst>
              <a:gd name="adj" fmla="val 4545"/>
            </a:avLst>
          </a:prstGeom>
          <a:solidFill>
            <a:srgbClr val="EDEAE3"/>
          </a:solidFill>
          <a:ln w="12700">
            <a:solidFill>
              <a:srgbClr val="7A3020"/>
            </a:solidFill>
            <a:prstDash val="solid"/>
          </a:ln>
        </p:spPr>
        <p:txBody>
          <a:bodyPr/>
          <a:lstStyle/>
          <a:p>
            <a:endParaRPr lang="en-US"/>
          </a:p>
        </p:txBody>
      </p:sp>
      <p:sp>
        <p:nvSpPr>
          <p:cNvPr id="9" name="Shape 7"/>
          <p:cNvSpPr/>
          <p:nvPr/>
        </p:nvSpPr>
        <p:spPr>
          <a:xfrm>
            <a:off x="292608" y="804672"/>
            <a:ext cx="2377440" cy="41148"/>
          </a:xfrm>
          <a:prstGeom prst="rect">
            <a:avLst/>
          </a:prstGeom>
          <a:solidFill>
            <a:srgbClr val="7A3020"/>
          </a:solidFill>
          <a:ln w="12700">
            <a:solidFill>
              <a:srgbClr val="7A3020"/>
            </a:solidFill>
            <a:prstDash val="solid"/>
          </a:ln>
        </p:spPr>
        <p:txBody>
          <a:bodyPr/>
          <a:lstStyle/>
          <a:p>
            <a:endParaRPr lang="en-US"/>
          </a:p>
        </p:txBody>
      </p:sp>
      <p:sp>
        <p:nvSpPr>
          <p:cNvPr id="10" name="Text 8"/>
          <p:cNvSpPr/>
          <p:nvPr/>
        </p:nvSpPr>
        <p:spPr>
          <a:xfrm>
            <a:off x="365760" y="932688"/>
            <a:ext cx="2231136" cy="1046074"/>
          </a:xfrm>
          <a:prstGeom prst="rect">
            <a:avLst/>
          </a:prstGeom>
          <a:noFill/>
          <a:ln/>
        </p:spPr>
        <p:txBody>
          <a:bodyPr wrap="square" rtlCol="0" anchor="ctr"/>
          <a:lstStyle/>
          <a:p>
            <a:pPr marL="0" indent="0" algn="ctr">
              <a:buNone/>
            </a:pPr>
            <a:r>
              <a:rPr lang="en-US" sz="4800" b="1" dirty="0">
                <a:solidFill>
                  <a:srgbClr val="7A3020"/>
                </a:solidFill>
                <a:latin typeface="Calibri" pitchFamily="34" charset="0"/>
                <a:ea typeface="Calibri" pitchFamily="34" charset="-122"/>
                <a:cs typeface="Calibri" pitchFamily="34" charset="-120"/>
              </a:rPr>
              <a:t>90.5%</a:t>
            </a:r>
            <a:endParaRPr lang="en-US" sz="4800" dirty="0"/>
          </a:p>
        </p:txBody>
      </p:sp>
      <p:sp>
        <p:nvSpPr>
          <p:cNvPr id="11" name="Text 9"/>
          <p:cNvSpPr/>
          <p:nvPr/>
        </p:nvSpPr>
        <p:spPr>
          <a:xfrm>
            <a:off x="365760" y="2092147"/>
            <a:ext cx="2231136" cy="603504"/>
          </a:xfrm>
          <a:prstGeom prst="rect">
            <a:avLst/>
          </a:prstGeom>
          <a:noFill/>
          <a:ln/>
        </p:spPr>
        <p:txBody>
          <a:bodyPr wrap="square" rtlCol="0" anchor="ctr"/>
          <a:lstStyle/>
          <a:p>
            <a:pPr marL="0" indent="0" algn="ctr">
              <a:buNone/>
            </a:pPr>
            <a:r>
              <a:rPr lang="en-US" sz="900" dirty="0">
                <a:solidFill>
                  <a:srgbClr val="6E6760"/>
                </a:solidFill>
                <a:latin typeface="Calibri" pitchFamily="34" charset="0"/>
                <a:ea typeface="Calibri" pitchFamily="34" charset="-122"/>
                <a:cs typeface="Calibri" pitchFamily="34" charset="-120"/>
              </a:rPr>
              <a:t>Chain-of-Thought</a:t>
            </a:r>
            <a:endParaRPr lang="en-US" sz="900" dirty="0"/>
          </a:p>
          <a:p>
            <a:pPr marL="0" indent="0" algn="ctr">
              <a:buNone/>
            </a:pPr>
            <a:r>
              <a:rPr lang="en-US" sz="900" dirty="0">
                <a:solidFill>
                  <a:srgbClr val="6E6760"/>
                </a:solidFill>
                <a:latin typeface="Calibri" pitchFamily="34" charset="0"/>
                <a:ea typeface="Calibri" pitchFamily="34" charset="-122"/>
                <a:cs typeface="Calibri" pitchFamily="34" charset="-120"/>
              </a:rPr>
              <a:t>p&lt;0.001 · d=0.68 (medium)</a:t>
            </a:r>
            <a:endParaRPr lang="en-US" sz="900" dirty="0"/>
          </a:p>
          <a:p>
            <a:pPr marL="0" indent="0" algn="ctr">
              <a:buNone/>
            </a:pPr>
            <a:r>
              <a:rPr lang="en-US" sz="900" dirty="0">
                <a:solidFill>
                  <a:srgbClr val="6E6760"/>
                </a:solidFill>
                <a:latin typeface="Calibri" pitchFamily="34" charset="0"/>
                <a:ea typeface="Calibri" pitchFamily="34" charset="-122"/>
                <a:cs typeface="Calibri" pitchFamily="34" charset="-120"/>
              </a:rPr>
              <a:t>+27pp over Zero-Shot</a:t>
            </a:r>
            <a:endParaRPr lang="en-US" sz="900" dirty="0"/>
          </a:p>
        </p:txBody>
      </p:sp>
      <p:sp>
        <p:nvSpPr>
          <p:cNvPr id="12" name="Shape 10"/>
          <p:cNvSpPr/>
          <p:nvPr/>
        </p:nvSpPr>
        <p:spPr>
          <a:xfrm>
            <a:off x="292608" y="2944368"/>
            <a:ext cx="2377440" cy="822960"/>
          </a:xfrm>
          <a:prstGeom prst="roundRect">
            <a:avLst>
              <a:gd name="adj" fmla="val 11111"/>
            </a:avLst>
          </a:prstGeom>
          <a:solidFill>
            <a:srgbClr val="EDEAE3"/>
          </a:solidFill>
          <a:ln w="12700">
            <a:solidFill>
              <a:srgbClr val="4C3275"/>
            </a:solidFill>
            <a:prstDash val="solid"/>
          </a:ln>
        </p:spPr>
        <p:txBody>
          <a:bodyPr/>
          <a:lstStyle/>
          <a:p>
            <a:endParaRPr lang="en-US"/>
          </a:p>
        </p:txBody>
      </p:sp>
      <p:sp>
        <p:nvSpPr>
          <p:cNvPr id="13" name="Shape 11"/>
          <p:cNvSpPr/>
          <p:nvPr/>
        </p:nvSpPr>
        <p:spPr>
          <a:xfrm>
            <a:off x="292608" y="2944368"/>
            <a:ext cx="2377440" cy="41148"/>
          </a:xfrm>
          <a:prstGeom prst="rect">
            <a:avLst/>
          </a:prstGeom>
          <a:solidFill>
            <a:srgbClr val="4C3275"/>
          </a:solidFill>
          <a:ln w="12700">
            <a:solidFill>
              <a:srgbClr val="4C3275"/>
            </a:solidFill>
            <a:prstDash val="solid"/>
          </a:ln>
        </p:spPr>
        <p:txBody>
          <a:bodyPr/>
          <a:lstStyle/>
          <a:p>
            <a:endParaRPr lang="en-US"/>
          </a:p>
        </p:txBody>
      </p:sp>
      <p:sp>
        <p:nvSpPr>
          <p:cNvPr id="14" name="Text 12"/>
          <p:cNvSpPr/>
          <p:nvPr/>
        </p:nvSpPr>
        <p:spPr>
          <a:xfrm>
            <a:off x="457200" y="3054096"/>
            <a:ext cx="2057400" cy="201168"/>
          </a:xfrm>
          <a:prstGeom prst="rect">
            <a:avLst/>
          </a:prstGeom>
          <a:noFill/>
          <a:ln/>
        </p:spPr>
        <p:txBody>
          <a:bodyPr wrap="square" rtlCol="0" anchor="ctr"/>
          <a:lstStyle/>
          <a:p>
            <a:pPr marL="0" indent="0">
              <a:buNone/>
            </a:pPr>
            <a:r>
              <a:rPr lang="en-US" sz="900" dirty="0">
                <a:solidFill>
                  <a:srgbClr val="4C3275"/>
                </a:solidFill>
                <a:latin typeface="Calibri" pitchFamily="34" charset="0"/>
                <a:ea typeface="Calibri" pitchFamily="34" charset="-122"/>
                <a:cs typeface="Calibri" pitchFamily="34" charset="-120"/>
              </a:rPr>
              <a:t>Zero-Shot CoT</a:t>
            </a:r>
            <a:endParaRPr lang="en-US" sz="900" dirty="0"/>
          </a:p>
        </p:txBody>
      </p:sp>
      <p:sp>
        <p:nvSpPr>
          <p:cNvPr id="15" name="Text 13"/>
          <p:cNvSpPr/>
          <p:nvPr/>
        </p:nvSpPr>
        <p:spPr>
          <a:xfrm>
            <a:off x="457200" y="3255264"/>
            <a:ext cx="2057400" cy="438912"/>
          </a:xfrm>
          <a:prstGeom prst="rect">
            <a:avLst/>
          </a:prstGeom>
          <a:noFill/>
          <a:ln/>
        </p:spPr>
        <p:txBody>
          <a:bodyPr wrap="square" rtlCol="0" anchor="ctr"/>
          <a:lstStyle/>
          <a:p>
            <a:pPr marL="0" indent="0" algn="ctr">
              <a:buNone/>
            </a:pPr>
            <a:r>
              <a:rPr lang="en-US" sz="2800" b="1" dirty="0">
                <a:solidFill>
                  <a:srgbClr val="6E4E9A"/>
                </a:solidFill>
                <a:latin typeface="Calibri" pitchFamily="34" charset="0"/>
                <a:ea typeface="Calibri" pitchFamily="34" charset="-122"/>
                <a:cs typeface="Calibri" pitchFamily="34" charset="-120"/>
              </a:rPr>
              <a:t>82.8%</a:t>
            </a:r>
            <a:endParaRPr lang="en-US" sz="2800" dirty="0"/>
          </a:p>
        </p:txBody>
      </p:sp>
      <p:sp>
        <p:nvSpPr>
          <p:cNvPr id="16" name="Shape 14"/>
          <p:cNvSpPr/>
          <p:nvPr/>
        </p:nvSpPr>
        <p:spPr>
          <a:xfrm>
            <a:off x="2816352" y="804672"/>
            <a:ext cx="6080760" cy="2743200"/>
          </a:xfrm>
          <a:prstGeom prst="roundRect">
            <a:avLst>
              <a:gd name="adj" fmla="val 2667"/>
            </a:avLst>
          </a:prstGeom>
          <a:solidFill>
            <a:srgbClr val="EDEAE3"/>
          </a:solidFill>
          <a:ln w="12700">
            <a:solidFill>
              <a:srgbClr val="CFCABC"/>
            </a:solidFill>
            <a:prstDash val="solid"/>
          </a:ln>
        </p:spPr>
        <p:txBody>
          <a:bodyPr/>
          <a:lstStyle/>
          <a:p>
            <a:endParaRPr lang="en-US"/>
          </a:p>
        </p:txBody>
      </p:sp>
      <p:sp>
        <p:nvSpPr>
          <p:cNvPr id="17" name="Shape 15"/>
          <p:cNvSpPr/>
          <p:nvPr/>
        </p:nvSpPr>
        <p:spPr>
          <a:xfrm>
            <a:off x="3145536" y="3145536"/>
            <a:ext cx="5641848" cy="7315"/>
          </a:xfrm>
          <a:prstGeom prst="rect">
            <a:avLst/>
          </a:prstGeom>
          <a:solidFill>
            <a:srgbClr val="CFCABC"/>
          </a:solidFill>
          <a:ln w="12700">
            <a:solidFill>
              <a:srgbClr val="CFCABC"/>
            </a:solidFill>
            <a:prstDash val="solid"/>
          </a:ln>
        </p:spPr>
        <p:txBody>
          <a:bodyPr/>
          <a:lstStyle/>
          <a:p>
            <a:endParaRPr lang="en-US"/>
          </a:p>
        </p:txBody>
      </p:sp>
      <p:sp>
        <p:nvSpPr>
          <p:cNvPr id="18" name="Text 16"/>
          <p:cNvSpPr/>
          <p:nvPr/>
        </p:nvSpPr>
        <p:spPr>
          <a:xfrm>
            <a:off x="2816352" y="3054096"/>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0</a:t>
            </a:r>
            <a:endParaRPr lang="en-US" sz="750" dirty="0"/>
          </a:p>
        </p:txBody>
      </p:sp>
      <p:sp>
        <p:nvSpPr>
          <p:cNvPr id="19" name="Shape 17"/>
          <p:cNvSpPr/>
          <p:nvPr/>
        </p:nvSpPr>
        <p:spPr>
          <a:xfrm>
            <a:off x="3145536" y="2732227"/>
            <a:ext cx="5641848" cy="7315"/>
          </a:xfrm>
          <a:prstGeom prst="rect">
            <a:avLst/>
          </a:prstGeom>
          <a:solidFill>
            <a:srgbClr val="CFCABC"/>
          </a:solidFill>
          <a:ln w="12700">
            <a:solidFill>
              <a:srgbClr val="CFCABC"/>
            </a:solidFill>
            <a:prstDash val="solid"/>
          </a:ln>
        </p:spPr>
        <p:txBody>
          <a:bodyPr/>
          <a:lstStyle/>
          <a:p>
            <a:endParaRPr lang="en-US"/>
          </a:p>
        </p:txBody>
      </p:sp>
      <p:sp>
        <p:nvSpPr>
          <p:cNvPr id="20" name="Text 18"/>
          <p:cNvSpPr/>
          <p:nvPr/>
        </p:nvSpPr>
        <p:spPr>
          <a:xfrm>
            <a:off x="2816352" y="2640787"/>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20</a:t>
            </a:r>
            <a:endParaRPr lang="en-US" sz="750" dirty="0"/>
          </a:p>
        </p:txBody>
      </p:sp>
      <p:sp>
        <p:nvSpPr>
          <p:cNvPr id="21" name="Shape 19"/>
          <p:cNvSpPr/>
          <p:nvPr/>
        </p:nvSpPr>
        <p:spPr>
          <a:xfrm>
            <a:off x="3145536" y="2318918"/>
            <a:ext cx="5641848" cy="7315"/>
          </a:xfrm>
          <a:prstGeom prst="rect">
            <a:avLst/>
          </a:prstGeom>
          <a:solidFill>
            <a:srgbClr val="CFCABC"/>
          </a:solidFill>
          <a:ln w="12700">
            <a:solidFill>
              <a:srgbClr val="CFCABC"/>
            </a:solidFill>
            <a:prstDash val="solid"/>
          </a:ln>
        </p:spPr>
        <p:txBody>
          <a:bodyPr/>
          <a:lstStyle/>
          <a:p>
            <a:endParaRPr lang="en-US"/>
          </a:p>
        </p:txBody>
      </p:sp>
      <p:sp>
        <p:nvSpPr>
          <p:cNvPr id="22" name="Text 20"/>
          <p:cNvSpPr/>
          <p:nvPr/>
        </p:nvSpPr>
        <p:spPr>
          <a:xfrm>
            <a:off x="2816352" y="2227478"/>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40</a:t>
            </a:r>
            <a:endParaRPr lang="en-US" sz="750" dirty="0"/>
          </a:p>
        </p:txBody>
      </p:sp>
      <p:sp>
        <p:nvSpPr>
          <p:cNvPr id="23" name="Shape 21"/>
          <p:cNvSpPr/>
          <p:nvPr/>
        </p:nvSpPr>
        <p:spPr>
          <a:xfrm>
            <a:off x="3145536" y="1905610"/>
            <a:ext cx="5641848" cy="7315"/>
          </a:xfrm>
          <a:prstGeom prst="rect">
            <a:avLst/>
          </a:prstGeom>
          <a:solidFill>
            <a:srgbClr val="CFCABC"/>
          </a:solidFill>
          <a:ln w="12700">
            <a:solidFill>
              <a:srgbClr val="CFCABC"/>
            </a:solidFill>
            <a:prstDash val="solid"/>
          </a:ln>
        </p:spPr>
        <p:txBody>
          <a:bodyPr/>
          <a:lstStyle/>
          <a:p>
            <a:endParaRPr lang="en-US"/>
          </a:p>
        </p:txBody>
      </p:sp>
      <p:sp>
        <p:nvSpPr>
          <p:cNvPr id="24" name="Text 22"/>
          <p:cNvSpPr/>
          <p:nvPr/>
        </p:nvSpPr>
        <p:spPr>
          <a:xfrm>
            <a:off x="2816352" y="1814170"/>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60</a:t>
            </a:r>
            <a:endParaRPr lang="en-US" sz="750" dirty="0"/>
          </a:p>
        </p:txBody>
      </p:sp>
      <p:sp>
        <p:nvSpPr>
          <p:cNvPr id="25" name="Shape 23"/>
          <p:cNvSpPr/>
          <p:nvPr/>
        </p:nvSpPr>
        <p:spPr>
          <a:xfrm>
            <a:off x="3145536" y="1492301"/>
            <a:ext cx="5641848" cy="7315"/>
          </a:xfrm>
          <a:prstGeom prst="rect">
            <a:avLst/>
          </a:prstGeom>
          <a:solidFill>
            <a:srgbClr val="CFCABC"/>
          </a:solidFill>
          <a:ln w="12700">
            <a:solidFill>
              <a:srgbClr val="CFCABC"/>
            </a:solidFill>
            <a:prstDash val="solid"/>
          </a:ln>
        </p:spPr>
        <p:txBody>
          <a:bodyPr/>
          <a:lstStyle/>
          <a:p>
            <a:endParaRPr lang="en-US"/>
          </a:p>
        </p:txBody>
      </p:sp>
      <p:sp>
        <p:nvSpPr>
          <p:cNvPr id="26" name="Text 24"/>
          <p:cNvSpPr/>
          <p:nvPr/>
        </p:nvSpPr>
        <p:spPr>
          <a:xfrm>
            <a:off x="2816352" y="1400861"/>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80</a:t>
            </a:r>
            <a:endParaRPr lang="en-US" sz="750" dirty="0"/>
          </a:p>
        </p:txBody>
      </p:sp>
      <p:sp>
        <p:nvSpPr>
          <p:cNvPr id="27" name="Shape 25"/>
          <p:cNvSpPr/>
          <p:nvPr/>
        </p:nvSpPr>
        <p:spPr>
          <a:xfrm>
            <a:off x="3145536" y="1078992"/>
            <a:ext cx="5641848" cy="7315"/>
          </a:xfrm>
          <a:prstGeom prst="rect">
            <a:avLst/>
          </a:prstGeom>
          <a:solidFill>
            <a:srgbClr val="CFCABC"/>
          </a:solidFill>
          <a:ln w="12700">
            <a:solidFill>
              <a:srgbClr val="CFCABC"/>
            </a:solidFill>
            <a:prstDash val="solid"/>
          </a:ln>
        </p:spPr>
        <p:txBody>
          <a:bodyPr/>
          <a:lstStyle/>
          <a:p>
            <a:endParaRPr lang="en-US"/>
          </a:p>
        </p:txBody>
      </p:sp>
      <p:sp>
        <p:nvSpPr>
          <p:cNvPr id="28" name="Text 26"/>
          <p:cNvSpPr/>
          <p:nvPr/>
        </p:nvSpPr>
        <p:spPr>
          <a:xfrm>
            <a:off x="2816352" y="987552"/>
            <a:ext cx="292608" cy="182880"/>
          </a:xfrm>
          <a:prstGeom prst="rect">
            <a:avLst/>
          </a:prstGeom>
          <a:noFill/>
          <a:ln/>
        </p:spPr>
        <p:txBody>
          <a:bodyPr wrap="square" rtlCol="0" anchor="ctr"/>
          <a:lstStyle/>
          <a:p>
            <a:pPr marL="0" indent="0" algn="r">
              <a:buNone/>
            </a:pPr>
            <a:r>
              <a:rPr lang="en-US" sz="750" dirty="0">
                <a:solidFill>
                  <a:srgbClr val="9A9590"/>
                </a:solidFill>
                <a:latin typeface="Calibri" pitchFamily="34" charset="0"/>
                <a:ea typeface="Calibri" pitchFamily="34" charset="-122"/>
                <a:cs typeface="Calibri" pitchFamily="34" charset="-120"/>
              </a:rPr>
              <a:t>100</a:t>
            </a:r>
            <a:endParaRPr lang="en-US" sz="750" dirty="0"/>
          </a:p>
        </p:txBody>
      </p:sp>
      <p:sp>
        <p:nvSpPr>
          <p:cNvPr id="29" name="Shape 27"/>
          <p:cNvSpPr/>
          <p:nvPr/>
        </p:nvSpPr>
        <p:spPr>
          <a:xfrm>
            <a:off x="3333598" y="1835347"/>
            <a:ext cx="564185" cy="1310189"/>
          </a:xfrm>
          <a:prstGeom prst="roundRect">
            <a:avLst>
              <a:gd name="adj" fmla="val 7293"/>
            </a:avLst>
          </a:prstGeom>
          <a:solidFill>
            <a:srgbClr val="4A6C9A"/>
          </a:solidFill>
          <a:ln w="12700">
            <a:solidFill>
              <a:srgbClr val="4A6C9A"/>
            </a:solidFill>
            <a:prstDash val="solid"/>
          </a:ln>
        </p:spPr>
        <p:txBody>
          <a:bodyPr/>
          <a:lstStyle/>
          <a:p>
            <a:endParaRPr lang="en-US"/>
          </a:p>
        </p:txBody>
      </p:sp>
      <p:sp>
        <p:nvSpPr>
          <p:cNvPr id="30" name="Shape 28"/>
          <p:cNvSpPr/>
          <p:nvPr/>
        </p:nvSpPr>
        <p:spPr>
          <a:xfrm>
            <a:off x="3390016" y="1835347"/>
            <a:ext cx="451348" cy="91440"/>
          </a:xfrm>
          <a:prstGeom prst="roundRect">
            <a:avLst>
              <a:gd name="adj" fmla="val 40000"/>
            </a:avLst>
          </a:prstGeom>
          <a:solidFill>
            <a:srgbClr val="FFFFFF">
              <a:alpha val="12000"/>
            </a:srgbClr>
          </a:solidFill>
          <a:ln w="12700">
            <a:solidFill>
              <a:srgbClr val="4A6C9A"/>
            </a:solidFill>
            <a:prstDash val="solid"/>
          </a:ln>
        </p:spPr>
        <p:txBody>
          <a:bodyPr/>
          <a:lstStyle/>
          <a:p>
            <a:endParaRPr lang="en-US"/>
          </a:p>
        </p:txBody>
      </p:sp>
      <p:sp>
        <p:nvSpPr>
          <p:cNvPr id="31" name="Text 29"/>
          <p:cNvSpPr/>
          <p:nvPr/>
        </p:nvSpPr>
        <p:spPr>
          <a:xfrm>
            <a:off x="3242158" y="1615891"/>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63.4</a:t>
            </a:r>
            <a:endParaRPr lang="en-US" sz="950" dirty="0"/>
          </a:p>
        </p:txBody>
      </p:sp>
      <p:sp>
        <p:nvSpPr>
          <p:cNvPr id="32" name="Text 30"/>
          <p:cNvSpPr/>
          <p:nvPr/>
        </p:nvSpPr>
        <p:spPr>
          <a:xfrm>
            <a:off x="3242158"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Zero-Shot</a:t>
            </a:r>
            <a:endParaRPr lang="en-US" sz="850" dirty="0"/>
          </a:p>
        </p:txBody>
      </p:sp>
      <p:sp>
        <p:nvSpPr>
          <p:cNvPr id="33" name="Shape 31"/>
          <p:cNvSpPr/>
          <p:nvPr/>
        </p:nvSpPr>
        <p:spPr>
          <a:xfrm>
            <a:off x="4273906" y="1967606"/>
            <a:ext cx="564185" cy="1177930"/>
          </a:xfrm>
          <a:prstGeom prst="roundRect">
            <a:avLst>
              <a:gd name="adj" fmla="val 7293"/>
            </a:avLst>
          </a:prstGeom>
          <a:solidFill>
            <a:srgbClr val="D8D4CC"/>
          </a:solidFill>
          <a:ln w="12700">
            <a:solidFill>
              <a:srgbClr val="D8D4CC"/>
            </a:solidFill>
            <a:prstDash val="solid"/>
          </a:ln>
        </p:spPr>
        <p:txBody>
          <a:bodyPr/>
          <a:lstStyle/>
          <a:p>
            <a:endParaRPr lang="en-US"/>
          </a:p>
        </p:txBody>
      </p:sp>
      <p:sp>
        <p:nvSpPr>
          <p:cNvPr id="34" name="Shape 32"/>
          <p:cNvSpPr/>
          <p:nvPr/>
        </p:nvSpPr>
        <p:spPr>
          <a:xfrm>
            <a:off x="4330324" y="1967606"/>
            <a:ext cx="451348" cy="91440"/>
          </a:xfrm>
          <a:prstGeom prst="roundRect">
            <a:avLst>
              <a:gd name="adj" fmla="val 40000"/>
            </a:avLst>
          </a:prstGeom>
          <a:solidFill>
            <a:srgbClr val="FFFFFF">
              <a:alpha val="12000"/>
            </a:srgbClr>
          </a:solidFill>
          <a:ln w="12700">
            <a:solidFill>
              <a:srgbClr val="D8D4CC"/>
            </a:solidFill>
            <a:prstDash val="solid"/>
          </a:ln>
        </p:spPr>
        <p:txBody>
          <a:bodyPr/>
          <a:lstStyle/>
          <a:p>
            <a:endParaRPr lang="en-US"/>
          </a:p>
        </p:txBody>
      </p:sp>
      <p:sp>
        <p:nvSpPr>
          <p:cNvPr id="35" name="Text 33"/>
          <p:cNvSpPr/>
          <p:nvPr/>
        </p:nvSpPr>
        <p:spPr>
          <a:xfrm>
            <a:off x="4182466" y="1748150"/>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54.4</a:t>
            </a:r>
            <a:endParaRPr lang="en-US" sz="950" dirty="0"/>
          </a:p>
        </p:txBody>
      </p:sp>
      <p:sp>
        <p:nvSpPr>
          <p:cNvPr id="36" name="Text 34"/>
          <p:cNvSpPr/>
          <p:nvPr/>
        </p:nvSpPr>
        <p:spPr>
          <a:xfrm>
            <a:off x="4182466"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2-Shot</a:t>
            </a:r>
            <a:endParaRPr lang="en-US" sz="850" dirty="0"/>
          </a:p>
        </p:txBody>
      </p:sp>
      <p:sp>
        <p:nvSpPr>
          <p:cNvPr id="37" name="Shape 35"/>
          <p:cNvSpPr/>
          <p:nvPr/>
        </p:nvSpPr>
        <p:spPr>
          <a:xfrm>
            <a:off x="5214214" y="1967606"/>
            <a:ext cx="564185" cy="1177930"/>
          </a:xfrm>
          <a:prstGeom prst="roundRect">
            <a:avLst>
              <a:gd name="adj" fmla="val 7293"/>
            </a:avLst>
          </a:prstGeom>
          <a:solidFill>
            <a:srgbClr val="D8D4CC"/>
          </a:solidFill>
          <a:ln w="12700">
            <a:solidFill>
              <a:srgbClr val="D8D4CC"/>
            </a:solidFill>
            <a:prstDash val="solid"/>
          </a:ln>
        </p:spPr>
        <p:txBody>
          <a:bodyPr/>
          <a:lstStyle/>
          <a:p>
            <a:endParaRPr lang="en-US"/>
          </a:p>
        </p:txBody>
      </p:sp>
      <p:sp>
        <p:nvSpPr>
          <p:cNvPr id="38" name="Shape 36"/>
          <p:cNvSpPr/>
          <p:nvPr/>
        </p:nvSpPr>
        <p:spPr>
          <a:xfrm>
            <a:off x="5270632" y="1967606"/>
            <a:ext cx="451348" cy="91440"/>
          </a:xfrm>
          <a:prstGeom prst="roundRect">
            <a:avLst>
              <a:gd name="adj" fmla="val 40000"/>
            </a:avLst>
          </a:prstGeom>
          <a:solidFill>
            <a:srgbClr val="FFFFFF">
              <a:alpha val="12000"/>
            </a:srgbClr>
          </a:solidFill>
          <a:ln w="12700">
            <a:solidFill>
              <a:srgbClr val="D8D4CC"/>
            </a:solidFill>
            <a:prstDash val="solid"/>
          </a:ln>
        </p:spPr>
        <p:txBody>
          <a:bodyPr/>
          <a:lstStyle/>
          <a:p>
            <a:endParaRPr lang="en-US"/>
          </a:p>
        </p:txBody>
      </p:sp>
      <p:sp>
        <p:nvSpPr>
          <p:cNvPr id="39" name="Text 37"/>
          <p:cNvSpPr/>
          <p:nvPr/>
        </p:nvSpPr>
        <p:spPr>
          <a:xfrm>
            <a:off x="5122774" y="1748150"/>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57</a:t>
            </a:r>
            <a:endParaRPr lang="en-US" sz="950" dirty="0"/>
          </a:p>
        </p:txBody>
      </p:sp>
      <p:sp>
        <p:nvSpPr>
          <p:cNvPr id="40" name="Text 38"/>
          <p:cNvSpPr/>
          <p:nvPr/>
        </p:nvSpPr>
        <p:spPr>
          <a:xfrm>
            <a:off x="5122774"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4-Shot</a:t>
            </a:r>
            <a:endParaRPr lang="en-US" sz="850" dirty="0"/>
          </a:p>
        </p:txBody>
      </p:sp>
      <p:sp>
        <p:nvSpPr>
          <p:cNvPr id="41" name="Shape 39"/>
          <p:cNvSpPr/>
          <p:nvPr/>
        </p:nvSpPr>
        <p:spPr>
          <a:xfrm>
            <a:off x="6154522" y="1946940"/>
            <a:ext cx="564185" cy="1198596"/>
          </a:xfrm>
          <a:prstGeom prst="roundRect">
            <a:avLst>
              <a:gd name="adj" fmla="val 7293"/>
            </a:avLst>
          </a:prstGeom>
          <a:solidFill>
            <a:srgbClr val="C4C0B6"/>
          </a:solidFill>
          <a:ln w="12700">
            <a:solidFill>
              <a:srgbClr val="C4C0B6"/>
            </a:solidFill>
            <a:prstDash val="solid"/>
          </a:ln>
        </p:spPr>
        <p:txBody>
          <a:bodyPr/>
          <a:lstStyle/>
          <a:p>
            <a:endParaRPr lang="en-US"/>
          </a:p>
        </p:txBody>
      </p:sp>
      <p:sp>
        <p:nvSpPr>
          <p:cNvPr id="42" name="Shape 40"/>
          <p:cNvSpPr/>
          <p:nvPr/>
        </p:nvSpPr>
        <p:spPr>
          <a:xfrm>
            <a:off x="6210940" y="1946940"/>
            <a:ext cx="451348" cy="91440"/>
          </a:xfrm>
          <a:prstGeom prst="roundRect">
            <a:avLst>
              <a:gd name="adj" fmla="val 40000"/>
            </a:avLst>
          </a:prstGeom>
          <a:solidFill>
            <a:srgbClr val="FFFFFF">
              <a:alpha val="12000"/>
            </a:srgbClr>
          </a:solidFill>
          <a:ln w="12700">
            <a:solidFill>
              <a:srgbClr val="C4C0B6"/>
            </a:solidFill>
            <a:prstDash val="solid"/>
          </a:ln>
        </p:spPr>
        <p:txBody>
          <a:bodyPr/>
          <a:lstStyle/>
          <a:p>
            <a:endParaRPr lang="en-US"/>
          </a:p>
        </p:txBody>
      </p:sp>
      <p:sp>
        <p:nvSpPr>
          <p:cNvPr id="43" name="Text 41"/>
          <p:cNvSpPr/>
          <p:nvPr/>
        </p:nvSpPr>
        <p:spPr>
          <a:xfrm>
            <a:off x="6063082" y="1727484"/>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61.7</a:t>
            </a:r>
            <a:endParaRPr lang="en-US" sz="950" dirty="0"/>
          </a:p>
        </p:txBody>
      </p:sp>
      <p:sp>
        <p:nvSpPr>
          <p:cNvPr id="44" name="Text 42"/>
          <p:cNvSpPr/>
          <p:nvPr/>
        </p:nvSpPr>
        <p:spPr>
          <a:xfrm>
            <a:off x="6063082"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8-Shot</a:t>
            </a:r>
            <a:endParaRPr lang="en-US" sz="850" dirty="0"/>
          </a:p>
        </p:txBody>
      </p:sp>
      <p:sp>
        <p:nvSpPr>
          <p:cNvPr id="45" name="Shape 43"/>
          <p:cNvSpPr/>
          <p:nvPr/>
        </p:nvSpPr>
        <p:spPr>
          <a:xfrm>
            <a:off x="7094830" y="1275314"/>
            <a:ext cx="564185" cy="1870222"/>
          </a:xfrm>
          <a:prstGeom prst="roundRect">
            <a:avLst>
              <a:gd name="adj" fmla="val 7293"/>
            </a:avLst>
          </a:prstGeom>
          <a:solidFill>
            <a:srgbClr val="1A3560"/>
          </a:solidFill>
          <a:ln w="12700">
            <a:solidFill>
              <a:srgbClr val="1A3560"/>
            </a:solidFill>
            <a:prstDash val="solid"/>
          </a:ln>
        </p:spPr>
        <p:txBody>
          <a:bodyPr/>
          <a:lstStyle/>
          <a:p>
            <a:endParaRPr lang="en-US"/>
          </a:p>
        </p:txBody>
      </p:sp>
      <p:sp>
        <p:nvSpPr>
          <p:cNvPr id="46" name="Shape 44"/>
          <p:cNvSpPr/>
          <p:nvPr/>
        </p:nvSpPr>
        <p:spPr>
          <a:xfrm>
            <a:off x="7151248" y="1275314"/>
            <a:ext cx="451348" cy="91440"/>
          </a:xfrm>
          <a:prstGeom prst="roundRect">
            <a:avLst>
              <a:gd name="adj" fmla="val 40000"/>
            </a:avLst>
          </a:prstGeom>
          <a:solidFill>
            <a:srgbClr val="FFFFFF">
              <a:alpha val="12000"/>
            </a:srgbClr>
          </a:solidFill>
          <a:ln w="12700">
            <a:solidFill>
              <a:srgbClr val="1A3560"/>
            </a:solidFill>
            <a:prstDash val="solid"/>
          </a:ln>
        </p:spPr>
        <p:txBody>
          <a:bodyPr/>
          <a:lstStyle/>
          <a:p>
            <a:endParaRPr lang="en-US"/>
          </a:p>
        </p:txBody>
      </p:sp>
      <p:sp>
        <p:nvSpPr>
          <p:cNvPr id="47" name="Text 45"/>
          <p:cNvSpPr/>
          <p:nvPr/>
        </p:nvSpPr>
        <p:spPr>
          <a:xfrm>
            <a:off x="7003390" y="1055858"/>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90.5</a:t>
            </a:r>
            <a:endParaRPr lang="en-US" sz="950" dirty="0"/>
          </a:p>
        </p:txBody>
      </p:sp>
      <p:sp>
        <p:nvSpPr>
          <p:cNvPr id="48" name="Text 46"/>
          <p:cNvSpPr/>
          <p:nvPr/>
        </p:nvSpPr>
        <p:spPr>
          <a:xfrm>
            <a:off x="7003390"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CoT</a:t>
            </a:r>
            <a:endParaRPr lang="en-US" sz="850" dirty="0"/>
          </a:p>
        </p:txBody>
      </p:sp>
      <p:sp>
        <p:nvSpPr>
          <p:cNvPr id="49" name="Shape 47"/>
          <p:cNvSpPr/>
          <p:nvPr/>
        </p:nvSpPr>
        <p:spPr>
          <a:xfrm>
            <a:off x="8035138" y="1434438"/>
            <a:ext cx="564185" cy="1711098"/>
          </a:xfrm>
          <a:prstGeom prst="roundRect">
            <a:avLst>
              <a:gd name="adj" fmla="val 7293"/>
            </a:avLst>
          </a:prstGeom>
          <a:solidFill>
            <a:srgbClr val="2E5280"/>
          </a:solidFill>
          <a:ln w="12700">
            <a:solidFill>
              <a:srgbClr val="2E5280"/>
            </a:solidFill>
            <a:prstDash val="solid"/>
          </a:ln>
        </p:spPr>
        <p:txBody>
          <a:bodyPr/>
          <a:lstStyle/>
          <a:p>
            <a:endParaRPr lang="en-US"/>
          </a:p>
        </p:txBody>
      </p:sp>
      <p:sp>
        <p:nvSpPr>
          <p:cNvPr id="50" name="Shape 48"/>
          <p:cNvSpPr/>
          <p:nvPr/>
        </p:nvSpPr>
        <p:spPr>
          <a:xfrm>
            <a:off x="8091556" y="1434438"/>
            <a:ext cx="451348" cy="91440"/>
          </a:xfrm>
          <a:prstGeom prst="roundRect">
            <a:avLst>
              <a:gd name="adj" fmla="val 40000"/>
            </a:avLst>
          </a:prstGeom>
          <a:solidFill>
            <a:srgbClr val="FFFFFF">
              <a:alpha val="12000"/>
            </a:srgbClr>
          </a:solidFill>
          <a:ln w="12700">
            <a:solidFill>
              <a:srgbClr val="2E5280"/>
            </a:solidFill>
            <a:prstDash val="solid"/>
          </a:ln>
        </p:spPr>
        <p:txBody>
          <a:bodyPr/>
          <a:lstStyle/>
          <a:p>
            <a:endParaRPr lang="en-US"/>
          </a:p>
        </p:txBody>
      </p:sp>
      <p:sp>
        <p:nvSpPr>
          <p:cNvPr id="51" name="Text 49"/>
          <p:cNvSpPr/>
          <p:nvPr/>
        </p:nvSpPr>
        <p:spPr>
          <a:xfrm>
            <a:off x="7943698" y="1214982"/>
            <a:ext cx="747065" cy="201168"/>
          </a:xfrm>
          <a:prstGeom prst="rect">
            <a:avLst/>
          </a:prstGeom>
          <a:noFill/>
          <a:ln/>
        </p:spPr>
        <p:txBody>
          <a:bodyPr wrap="square" rtlCol="0" anchor="ctr"/>
          <a:lstStyle/>
          <a:p>
            <a:pPr marL="0" indent="0" algn="ctr">
              <a:buNone/>
            </a:pPr>
            <a:r>
              <a:rPr lang="en-US" sz="950" b="1" dirty="0">
                <a:solidFill>
                  <a:srgbClr val="1A1814"/>
                </a:solidFill>
                <a:latin typeface="Calibri" pitchFamily="34" charset="0"/>
                <a:ea typeface="Calibri" pitchFamily="34" charset="-122"/>
                <a:cs typeface="Calibri" pitchFamily="34" charset="-120"/>
              </a:rPr>
              <a:t>82.8</a:t>
            </a:r>
            <a:endParaRPr lang="en-US" sz="950" dirty="0"/>
          </a:p>
        </p:txBody>
      </p:sp>
      <p:sp>
        <p:nvSpPr>
          <p:cNvPr id="52" name="Text 50"/>
          <p:cNvSpPr/>
          <p:nvPr/>
        </p:nvSpPr>
        <p:spPr>
          <a:xfrm>
            <a:off x="7943698" y="3191256"/>
            <a:ext cx="747065" cy="310896"/>
          </a:xfrm>
          <a:prstGeom prst="rect">
            <a:avLst/>
          </a:prstGeom>
          <a:noFill/>
          <a:ln/>
        </p:spPr>
        <p:txBody>
          <a:bodyPr wrap="square" rtlCol="0" anchor="ctr"/>
          <a:lstStyle/>
          <a:p>
            <a:pPr marL="0" indent="0" algn="ctr">
              <a:buNone/>
            </a:pPr>
            <a:r>
              <a:rPr lang="en-US" sz="850" dirty="0">
                <a:solidFill>
                  <a:srgbClr val="6E6760"/>
                </a:solidFill>
                <a:latin typeface="Calibri" pitchFamily="34" charset="0"/>
                <a:ea typeface="Calibri" pitchFamily="34" charset="-122"/>
                <a:cs typeface="Calibri" pitchFamily="34" charset="-120"/>
              </a:rPr>
              <a:t>ZS-CoT</a:t>
            </a:r>
            <a:endParaRPr lang="en-US" sz="850" dirty="0"/>
          </a:p>
        </p:txBody>
      </p:sp>
      <p:sp>
        <p:nvSpPr>
          <p:cNvPr id="53" name="Shape 51"/>
          <p:cNvSpPr/>
          <p:nvPr/>
        </p:nvSpPr>
        <p:spPr>
          <a:xfrm>
            <a:off x="292608" y="3840480"/>
            <a:ext cx="8558784" cy="292608"/>
          </a:xfrm>
          <a:prstGeom prst="roundRect">
            <a:avLst>
              <a:gd name="adj" fmla="val 18750"/>
            </a:avLst>
          </a:prstGeom>
          <a:solidFill>
            <a:srgbClr val="7A3020">
              <a:alpha val="12000"/>
            </a:srgbClr>
          </a:solidFill>
          <a:ln w="12700">
            <a:solidFill>
              <a:srgbClr val="7A3020"/>
            </a:solidFill>
            <a:prstDash val="solid"/>
          </a:ln>
        </p:spPr>
        <p:txBody>
          <a:bodyPr/>
          <a:lstStyle/>
          <a:p>
            <a:endParaRPr lang="en-US"/>
          </a:p>
        </p:txBody>
      </p:sp>
      <p:sp>
        <p:nvSpPr>
          <p:cNvPr id="54" name="Text 52"/>
          <p:cNvSpPr/>
          <p:nvPr/>
        </p:nvSpPr>
        <p:spPr>
          <a:xfrm>
            <a:off x="457200" y="3867912"/>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CoT replicates Wei et al. 2022 on GSM8K -+27 percentage-point gain confirmed</a:t>
            </a:r>
            <a:endParaRPr lang="en-US" sz="1000" dirty="0"/>
          </a:p>
        </p:txBody>
      </p:sp>
      <p:sp>
        <p:nvSpPr>
          <p:cNvPr id="55" name="Shape 53"/>
          <p:cNvSpPr/>
          <p:nvPr/>
        </p:nvSpPr>
        <p:spPr>
          <a:xfrm>
            <a:off x="292608" y="4206240"/>
            <a:ext cx="8558784" cy="292608"/>
          </a:xfrm>
          <a:prstGeom prst="roundRect">
            <a:avLst>
              <a:gd name="adj" fmla="val 18750"/>
            </a:avLst>
          </a:prstGeom>
          <a:solidFill>
            <a:srgbClr val="6E5200">
              <a:alpha val="12000"/>
            </a:srgbClr>
          </a:solidFill>
          <a:ln w="12700">
            <a:solidFill>
              <a:srgbClr val="6E5200"/>
            </a:solidFill>
            <a:prstDash val="solid"/>
          </a:ln>
        </p:spPr>
        <p:txBody>
          <a:bodyPr/>
          <a:lstStyle/>
          <a:p>
            <a:endParaRPr lang="en-US"/>
          </a:p>
        </p:txBody>
      </p:sp>
      <p:sp>
        <p:nvSpPr>
          <p:cNvPr id="56" name="Text 54"/>
          <p:cNvSpPr/>
          <p:nvPr/>
        </p:nvSpPr>
        <p:spPr>
          <a:xfrm>
            <a:off x="457200" y="4233672"/>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Few-Shot without reasoning chain scores 57% -worse than Zero-Shot at 63.4%. Examples need the process, not just the answer.</a:t>
            </a:r>
            <a:endParaRPr lang="en-US" sz="1000" dirty="0"/>
          </a:p>
        </p:txBody>
      </p:sp>
      <p:sp>
        <p:nvSpPr>
          <p:cNvPr id="57" name="Shape 55"/>
          <p:cNvSpPr/>
          <p:nvPr/>
        </p:nvSpPr>
        <p:spPr>
          <a:xfrm>
            <a:off x="292608" y="4572000"/>
            <a:ext cx="8558784" cy="292608"/>
          </a:xfrm>
          <a:prstGeom prst="roundRect">
            <a:avLst>
              <a:gd name="adj" fmla="val 18750"/>
            </a:avLst>
          </a:prstGeom>
          <a:solidFill>
            <a:srgbClr val="245E3E">
              <a:alpha val="12000"/>
            </a:srgbClr>
          </a:solidFill>
          <a:ln w="12700">
            <a:solidFill>
              <a:srgbClr val="245E3E"/>
            </a:solidFill>
            <a:prstDash val="solid"/>
          </a:ln>
        </p:spPr>
        <p:txBody>
          <a:bodyPr/>
          <a:lstStyle/>
          <a:p>
            <a:endParaRPr lang="en-US"/>
          </a:p>
        </p:txBody>
      </p:sp>
      <p:sp>
        <p:nvSpPr>
          <p:cNvPr id="58" name="Text 56"/>
          <p:cNvSpPr/>
          <p:nvPr/>
        </p:nvSpPr>
        <p:spPr>
          <a:xfrm>
            <a:off x="457200" y="4599432"/>
            <a:ext cx="8330184" cy="237744"/>
          </a:xfrm>
          <a:prstGeom prst="rect">
            <a:avLst/>
          </a:prstGeom>
          <a:noFill/>
          <a:ln/>
        </p:spPr>
        <p:txBody>
          <a:bodyPr wrap="square" rtlCol="0" anchor="ctr"/>
          <a:lstStyle/>
          <a:p>
            <a:pPr marL="0" indent="0">
              <a:buNone/>
            </a:pPr>
            <a:r>
              <a:rPr lang="en-US" sz="1000" dirty="0">
                <a:solidFill>
                  <a:srgbClr val="1A1814"/>
                </a:solidFill>
                <a:latin typeface="Calibri" pitchFamily="34" charset="0"/>
                <a:ea typeface="Calibri" pitchFamily="34" charset="-122"/>
                <a:cs typeface="Calibri" pitchFamily="34" charset="-120"/>
              </a:rPr>
              <a:t>ZS-CoT (82.8%) = strong middle ground: near-CoT accuracy with no example curation needed</a:t>
            </a:r>
            <a:endParaRPr lang="en-US" sz="10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3" presetID="10" presetClass="entr" presetSubtype="0" fill="hold" grpId="0" nodeType="clickEffect">
                            <p:stCondLst>
                              <p:cond delay="0"/>
                            </p:stCondLst>
                            <p:childTnLst>
                              <p:animEffect transition="in" filter="fade">
                                <p:cBhvr>
                                  <p:cTn id="50001" dur="350"/>
                                  <p:tgtEl>
                                    <p:spTgt spid="6"/>
                                  </p:tgtEl>
                                </p:cBhvr>
                              </p:animEffect>
                              <p:animEffect transition="in" filter="fade">
                                <p:cBhvr>
                                  <p:cTn id="50002" dur="350"/>
                                  <p:tgtEl>
                                    <p:spTgt spid="7"/>
                                  </p:tgtEl>
                                </p:cBhvr>
                              </p:animEffect>
                            </p:childTnLst>
                          </p:cTn>
                        </p:par>
                      </p:childTnLst>
                    </p:cTn>
                  </p:par>
                  <p:par>
                    <p:cTn id="50100" fill="hold">
                      <p:stCondLst>
                        <p:cond delay="600"/>
                      </p:stCondLst>
                      <p:childTnLst>
                        <p:par>
                          <p:cTn id="50105" presetID="10" presetClass="entr" presetSubtype="0" fill="hold" grpId="1" nodeType="withEffect">
                            <p:stCondLst>
                              <p:cond delay="0"/>
                            </p:stCondLst>
                            <p:childTnLst>
                              <p:animEffect transition="in" filter="fade">
                                <p:cBhvr>
                                  <p:cTn id="50101" dur="550"/>
                                  <p:tgtEl>
                                    <p:spTgt spid="8"/>
                                  </p:tgtEl>
                                </p:cBhvr>
                              </p:animEffect>
                              <p:animEffect transition="in" filter="fade">
                                <p:cBhvr>
                                  <p:cTn id="50102" dur="550"/>
                                  <p:tgtEl>
                                    <p:spTgt spid="9"/>
                                  </p:tgtEl>
                                </p:cBhvr>
                              </p:animEffect>
                              <p:animEffect transition="in" filter="fade">
                                <p:cBhvr>
                                  <p:cTn id="50103" dur="550"/>
                                  <p:tgtEl>
                                    <p:spTgt spid="10"/>
                                  </p:tgtEl>
                                </p:cBhvr>
                              </p:animEffect>
                              <p:animEffect transition="in" filter="fade">
                                <p:cBhvr>
                                  <p:cTn id="50104" dur="550"/>
                                  <p:tgtEl>
                                    <p:spTgt spid="11"/>
                                  </p:tgtEl>
                                </p:cBhvr>
                              </p:animEffect>
                            </p:childTnLst>
                          </p:cTn>
                        </p:par>
                      </p:childTnLst>
                    </p:cTn>
                  </p:par>
                  <p:par>
                    <p:cTn id="50200" fill="hold">
                      <p:stCondLst>
                        <p:cond delay="700"/>
                      </p:stCondLst>
                      <p:childTnLst>
                        <p:par>
                          <p:cTn id="50202" presetID="10" presetClass="entr" presetSubtype="0" fill="hold" grpId="2" nodeType="withEffect">
                            <p:stCondLst>
                              <p:cond delay="0"/>
                            </p:stCondLst>
                            <p:childTnLst>
                              <p:animEffect transition="in" filter="fade">
                                <p:cBhvr>
                                  <p:cTn id="50201" dur="350"/>
                                  <p:tgtEl>
                                    <p:spTgt spid="16"/>
                                  </p:tgtEl>
                                </p:cBhvr>
                              </p:animEffect>
                            </p:childTnLst>
                          </p:cTn>
                        </p:par>
                      </p:childTnLst>
                    </p:cTn>
                  </p:par>
                  <p:par>
                    <p:cTn id="50300" fill="hold">
                      <p:stCondLst>
                        <p:cond delay="800"/>
                      </p:stCondLst>
                      <p:childTnLst>
                        <p:par>
                          <p:cTn id="50337" presetID="35" presetClass="entr" presetSubtype="2" fill="hold" grpId="3" nodeType="withEffect">
                            <p:stCondLst>
                              <p:cond delay="0"/>
                            </p:stCondLst>
                            <p:childTnLst>
                              <p:animEffect transition="in" filter="wipe(up)">
                                <p:cBhvr>
                                  <p:cTn id="50301" dur="450"/>
                                  <p:tgtEl>
                                    <p:spTgt spid="18"/>
                                  </p:tgtEl>
                                </p:cBhvr>
                              </p:animEffect>
                              <p:animEffect transition="in" filter="wipe(up)">
                                <p:cBhvr>
                                  <p:cTn id="50302" dur="450"/>
                                  <p:tgtEl>
                                    <p:spTgt spid="20"/>
                                  </p:tgtEl>
                                </p:cBhvr>
                              </p:animEffect>
                              <p:animEffect transition="in" filter="wipe(up)">
                                <p:cBhvr>
                                  <p:cTn id="50303" dur="450"/>
                                  <p:tgtEl>
                                    <p:spTgt spid="22"/>
                                  </p:tgtEl>
                                </p:cBhvr>
                              </p:animEffect>
                              <p:animEffect transition="in" filter="wipe(up)">
                                <p:cBhvr>
                                  <p:cTn id="50304" dur="450"/>
                                  <p:tgtEl>
                                    <p:spTgt spid="24"/>
                                  </p:tgtEl>
                                </p:cBhvr>
                              </p:animEffect>
                              <p:animEffect transition="in" filter="wipe(up)">
                                <p:cBhvr>
                                  <p:cTn id="50305" dur="450"/>
                                  <p:tgtEl>
                                    <p:spTgt spid="26"/>
                                  </p:tgtEl>
                                </p:cBhvr>
                              </p:animEffect>
                              <p:animEffect transition="in" filter="wipe(up)">
                                <p:cBhvr>
                                  <p:cTn id="50306" dur="450"/>
                                  <p:tgtEl>
                                    <p:spTgt spid="28"/>
                                  </p:tgtEl>
                                </p:cBhvr>
                              </p:animEffect>
                              <p:animEffect transition="in" filter="wipe(up)">
                                <p:cBhvr>
                                  <p:cTn id="50307" dur="450"/>
                                  <p:tgtEl>
                                    <p:spTgt spid="17"/>
                                  </p:tgtEl>
                                </p:cBhvr>
                              </p:animEffect>
                              <p:animEffect transition="in" filter="wipe(up)">
                                <p:cBhvr>
                                  <p:cTn id="50308" dur="450"/>
                                  <p:tgtEl>
                                    <p:spTgt spid="19"/>
                                  </p:tgtEl>
                                </p:cBhvr>
                              </p:animEffect>
                              <p:animEffect transition="in" filter="wipe(up)">
                                <p:cBhvr>
                                  <p:cTn id="50309" dur="450"/>
                                  <p:tgtEl>
                                    <p:spTgt spid="21"/>
                                  </p:tgtEl>
                                </p:cBhvr>
                              </p:animEffect>
                              <p:animEffect transition="in" filter="wipe(up)">
                                <p:cBhvr>
                                  <p:cTn id="50310" dur="450"/>
                                  <p:tgtEl>
                                    <p:spTgt spid="23"/>
                                  </p:tgtEl>
                                </p:cBhvr>
                              </p:animEffect>
                              <p:animEffect transition="in" filter="wipe(up)">
                                <p:cBhvr>
                                  <p:cTn id="50311" dur="450"/>
                                  <p:tgtEl>
                                    <p:spTgt spid="25"/>
                                  </p:tgtEl>
                                </p:cBhvr>
                              </p:animEffect>
                              <p:animEffect transition="in" filter="wipe(up)">
                                <p:cBhvr>
                                  <p:cTn id="50312" dur="450"/>
                                  <p:tgtEl>
                                    <p:spTgt spid="27"/>
                                  </p:tgtEl>
                                </p:cBhvr>
                              </p:animEffect>
                              <p:animEffect transition="in" filter="wipe(up)">
                                <p:cBhvr>
                                  <p:cTn id="50313" dur="450"/>
                                  <p:tgtEl>
                                    <p:spTgt spid="31"/>
                                  </p:tgtEl>
                                </p:cBhvr>
                              </p:animEffect>
                              <p:animEffect transition="in" filter="wipe(up)">
                                <p:cBhvr>
                                  <p:cTn id="50314" dur="450"/>
                                  <p:tgtEl>
                                    <p:spTgt spid="32"/>
                                  </p:tgtEl>
                                </p:cBhvr>
                              </p:animEffect>
                              <p:animEffect transition="in" filter="wipe(up)">
                                <p:cBhvr>
                                  <p:cTn id="50315" dur="450"/>
                                  <p:tgtEl>
                                    <p:spTgt spid="29"/>
                                  </p:tgtEl>
                                </p:cBhvr>
                              </p:animEffect>
                              <p:animEffect transition="in" filter="wipe(up)">
                                <p:cBhvr>
                                  <p:cTn id="50316" dur="450"/>
                                  <p:tgtEl>
                                    <p:spTgt spid="30"/>
                                  </p:tgtEl>
                                </p:cBhvr>
                              </p:animEffect>
                              <p:animEffect transition="in" filter="wipe(up)">
                                <p:cBhvr>
                                  <p:cTn id="50317" dur="450"/>
                                  <p:tgtEl>
                                    <p:spTgt spid="35"/>
                                  </p:tgtEl>
                                </p:cBhvr>
                              </p:animEffect>
                              <p:animEffect transition="in" filter="wipe(up)">
                                <p:cBhvr>
                                  <p:cTn id="50318" dur="450"/>
                                  <p:tgtEl>
                                    <p:spTgt spid="36"/>
                                  </p:tgtEl>
                                </p:cBhvr>
                              </p:animEffect>
                              <p:animEffect transition="in" filter="wipe(up)">
                                <p:cBhvr>
                                  <p:cTn id="50319" dur="450"/>
                                  <p:tgtEl>
                                    <p:spTgt spid="33"/>
                                  </p:tgtEl>
                                </p:cBhvr>
                              </p:animEffect>
                              <p:animEffect transition="in" filter="wipe(up)">
                                <p:cBhvr>
                                  <p:cTn id="50320" dur="450"/>
                                  <p:tgtEl>
                                    <p:spTgt spid="34"/>
                                  </p:tgtEl>
                                </p:cBhvr>
                              </p:animEffect>
                              <p:animEffect transition="in" filter="wipe(up)">
                                <p:cBhvr>
                                  <p:cTn id="50321" dur="450"/>
                                  <p:tgtEl>
                                    <p:spTgt spid="39"/>
                                  </p:tgtEl>
                                </p:cBhvr>
                              </p:animEffect>
                              <p:animEffect transition="in" filter="wipe(up)">
                                <p:cBhvr>
                                  <p:cTn id="50322" dur="450"/>
                                  <p:tgtEl>
                                    <p:spTgt spid="40"/>
                                  </p:tgtEl>
                                </p:cBhvr>
                              </p:animEffect>
                              <p:animEffect transition="in" filter="wipe(up)">
                                <p:cBhvr>
                                  <p:cTn id="50323" dur="450"/>
                                  <p:tgtEl>
                                    <p:spTgt spid="37"/>
                                  </p:tgtEl>
                                </p:cBhvr>
                              </p:animEffect>
                              <p:animEffect transition="in" filter="wipe(up)">
                                <p:cBhvr>
                                  <p:cTn id="50324" dur="450"/>
                                  <p:tgtEl>
                                    <p:spTgt spid="38"/>
                                  </p:tgtEl>
                                </p:cBhvr>
                              </p:animEffect>
                              <p:animEffect transition="in" filter="wipe(up)">
                                <p:cBhvr>
                                  <p:cTn id="50325" dur="450"/>
                                  <p:tgtEl>
                                    <p:spTgt spid="43"/>
                                  </p:tgtEl>
                                </p:cBhvr>
                              </p:animEffect>
                              <p:animEffect transition="in" filter="wipe(up)">
                                <p:cBhvr>
                                  <p:cTn id="50326" dur="450"/>
                                  <p:tgtEl>
                                    <p:spTgt spid="44"/>
                                  </p:tgtEl>
                                </p:cBhvr>
                              </p:animEffect>
                              <p:animEffect transition="in" filter="wipe(up)">
                                <p:cBhvr>
                                  <p:cTn id="50327" dur="450"/>
                                  <p:tgtEl>
                                    <p:spTgt spid="41"/>
                                  </p:tgtEl>
                                </p:cBhvr>
                              </p:animEffect>
                              <p:animEffect transition="in" filter="wipe(up)">
                                <p:cBhvr>
                                  <p:cTn id="50328" dur="450"/>
                                  <p:tgtEl>
                                    <p:spTgt spid="42"/>
                                  </p:tgtEl>
                                </p:cBhvr>
                              </p:animEffect>
                              <p:animEffect transition="in" filter="wipe(up)">
                                <p:cBhvr>
                                  <p:cTn id="50329" dur="450"/>
                                  <p:tgtEl>
                                    <p:spTgt spid="47"/>
                                  </p:tgtEl>
                                </p:cBhvr>
                              </p:animEffect>
                              <p:animEffect transition="in" filter="wipe(up)">
                                <p:cBhvr>
                                  <p:cTn id="50330" dur="450"/>
                                  <p:tgtEl>
                                    <p:spTgt spid="48"/>
                                  </p:tgtEl>
                                </p:cBhvr>
                              </p:animEffect>
                              <p:animEffect transition="in" filter="wipe(up)">
                                <p:cBhvr>
                                  <p:cTn id="50331" dur="450"/>
                                  <p:tgtEl>
                                    <p:spTgt spid="45"/>
                                  </p:tgtEl>
                                </p:cBhvr>
                              </p:animEffect>
                              <p:animEffect transition="in" filter="wipe(up)">
                                <p:cBhvr>
                                  <p:cTn id="50332" dur="450"/>
                                  <p:tgtEl>
                                    <p:spTgt spid="46"/>
                                  </p:tgtEl>
                                </p:cBhvr>
                              </p:animEffect>
                              <p:animEffect transition="in" filter="wipe(up)">
                                <p:cBhvr>
                                  <p:cTn id="50333" dur="450"/>
                                  <p:tgtEl>
                                    <p:spTgt spid="51"/>
                                  </p:tgtEl>
                                </p:cBhvr>
                              </p:animEffect>
                              <p:animEffect transition="in" filter="wipe(up)">
                                <p:cBhvr>
                                  <p:cTn id="50334" dur="450"/>
                                  <p:tgtEl>
                                    <p:spTgt spid="52"/>
                                  </p:tgtEl>
                                </p:cBhvr>
                              </p:animEffect>
                              <p:animEffect transition="in" filter="wipe(up)">
                                <p:cBhvr>
                                  <p:cTn id="50335" dur="450"/>
                                  <p:tgtEl>
                                    <p:spTgt spid="49"/>
                                  </p:tgtEl>
                                </p:cBhvr>
                              </p:animEffect>
                              <p:animEffect transition="in" filter="wipe(up)">
                                <p:cBhvr>
                                  <p:cTn id="50336" dur="450"/>
                                  <p:tgtEl>
                                    <p:spTgt spid="50"/>
                                  </p:tgtEl>
                                </p:cBhvr>
                              </p:animEffect>
                            </p:childTnLst>
                          </p:cTn>
                        </p:par>
                      </p:childTnLst>
                    </p:cTn>
                  </p:par>
                  <p:par>
                    <p:cTn id="50400" fill="hold">
                      <p:stCondLst>
                        <p:cond delay="900"/>
                      </p:stCondLst>
                      <p:childTnLst>
                        <p:par>
                          <p:cTn id="50403" presetID="10" presetClass="entr" presetSubtype="0" fill="hold" grpId="4" nodeType="withEffect">
                            <p:stCondLst>
                              <p:cond delay="0"/>
                            </p:stCondLst>
                            <p:childTnLst>
                              <p:animEffect transition="in" filter="fade">
                                <p:cBhvr>
                                  <p:cTn id="50401" dur="350"/>
                                  <p:tgtEl>
                                    <p:spTgt spid="4"/>
                                  </p:tgtEl>
                                </p:cBhvr>
                              </p:animEffect>
                              <p:animEffect transition="in" filter="fade">
                                <p:cBhvr>
                                  <p:cTn id="50402" dur="350"/>
                                  <p:tgtEl>
                                    <p:spTgt spid="5"/>
                                  </p:tgtEl>
                                </p:cBhvr>
                              </p:animEffect>
                            </p:childTnLst>
                          </p:cTn>
                        </p:par>
                      </p:childTnLst>
                    </p:cTn>
                  </p:par>
                  <p:par>
                    <p:cTn id="50500" fill="hold">
                      <p:stCondLst>
                        <p:cond delay="1000"/>
                      </p:stCondLst>
                      <p:childTnLst>
                        <p:par>
                          <p:cTn id="50505" presetID="10" presetClass="entr" presetSubtype="0" fill="hold" grpId="5" nodeType="withEffect">
                            <p:stCondLst>
                              <p:cond delay="0"/>
                            </p:stCondLst>
                            <p:childTnLst>
                              <p:animEffect transition="in" filter="fade">
                                <p:cBhvr>
                                  <p:cTn id="50501" dur="350"/>
                                  <p:tgtEl>
                                    <p:spTgt spid="12"/>
                                  </p:tgtEl>
                                </p:cBhvr>
                              </p:animEffect>
                              <p:animEffect transition="in" filter="fade">
                                <p:cBhvr>
                                  <p:cTn id="50502" dur="350"/>
                                  <p:tgtEl>
                                    <p:spTgt spid="13"/>
                                  </p:tgtEl>
                                </p:cBhvr>
                              </p:animEffect>
                              <p:animEffect transition="in" filter="fade">
                                <p:cBhvr>
                                  <p:cTn id="50503" dur="350"/>
                                  <p:tgtEl>
                                    <p:spTgt spid="14"/>
                                  </p:tgtEl>
                                </p:cBhvr>
                              </p:animEffect>
                              <p:animEffect transition="in" filter="fade">
                                <p:cBhvr>
                                  <p:cTn id="50504" dur="350"/>
                                  <p:tgtEl>
                                    <p:spTgt spid="15"/>
                                  </p:tgtEl>
                                </p:cBhvr>
                              </p:animEffect>
                            </p:childTnLst>
                          </p:cTn>
                        </p:par>
                      </p:childTnLst>
                    </p:cTn>
                  </p:par>
                  <p:par>
                    <p:cTn id="50600" fill="hold">
                      <p:stCondLst>
                        <p:cond delay="1100"/>
                      </p:stCondLst>
                      <p:childTnLst>
                        <p:par>
                          <p:cTn id="50603" presetID="10" presetClass="entr" presetSubtype="0" fill="hold" grpId="6" nodeType="withEffect">
                            <p:stCondLst>
                              <p:cond delay="0"/>
                            </p:stCondLst>
                            <p:childTnLst>
                              <p:animEffect transition="in" filter="fade">
                                <p:cBhvr>
                                  <p:cTn id="50601" dur="350"/>
                                  <p:tgtEl>
                                    <p:spTgt spid="53"/>
                                  </p:tgtEl>
                                </p:cBhvr>
                              </p:animEffect>
                              <p:animEffect transition="in" filter="fade">
                                <p:cBhvr>
                                  <p:cTn id="50602" dur="350"/>
                                  <p:tgtEl>
                                    <p:spTgt spid="54"/>
                                  </p:tgtEl>
                                </p:cBhvr>
                              </p:animEffect>
                            </p:childTnLst>
                          </p:cTn>
                        </p:par>
                      </p:childTnLst>
                    </p:cTn>
                  </p:par>
                  <p:par>
                    <p:cTn id="50700" fill="hold">
                      <p:stCondLst>
                        <p:cond delay="1200"/>
                      </p:stCondLst>
                      <p:childTnLst>
                        <p:par>
                          <p:cTn id="50703" presetID="10" presetClass="entr" presetSubtype="0" fill="hold" grpId="7" nodeType="withEffect">
                            <p:stCondLst>
                              <p:cond delay="0"/>
                            </p:stCondLst>
                            <p:childTnLst>
                              <p:animEffect transition="in" filter="fade">
                                <p:cBhvr>
                                  <p:cTn id="50701" dur="350"/>
                                  <p:tgtEl>
                                    <p:spTgt spid="55"/>
                                  </p:tgtEl>
                                </p:cBhvr>
                              </p:animEffect>
                              <p:animEffect transition="in" filter="fade">
                                <p:cBhvr>
                                  <p:cTn id="50702" dur="350"/>
                                  <p:tgtEl>
                                    <p:spTgt spid="56"/>
                                  </p:tgtEl>
                                </p:cBhvr>
                              </p:animEffect>
                            </p:childTnLst>
                          </p:cTn>
                        </p:par>
                      </p:childTnLst>
                    </p:cTn>
                  </p:par>
                  <p:par>
                    <p:cTn id="50800" fill="hold">
                      <p:stCondLst>
                        <p:cond delay="1300"/>
                      </p:stCondLst>
                      <p:childTnLst>
                        <p:par>
                          <p:cTn id="50803" presetID="10" presetClass="entr" presetSubtype="0" fill="hold" grpId="8" nodeType="withEffect">
                            <p:stCondLst>
                              <p:cond delay="0"/>
                            </p:stCondLst>
                            <p:childTnLst>
                              <p:animEffect transition="in" filter="fade">
                                <p:cBhvr>
                                  <p:cTn id="50801" dur="350"/>
                                  <p:tgtEl>
                                    <p:spTgt spid="57"/>
                                  </p:tgtEl>
                                </p:cBhvr>
                              </p:animEffect>
                              <p:animEffect transition="in" filter="fade">
                                <p:cBhvr>
                                  <p:cTn id="50802" dur="350"/>
                                  <p:tgtEl>
                                    <p:spTgt spid="5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1" animBg="1"/>
      <p:bldP spid="9" grpId="1" animBg="1"/>
      <p:bldP spid="10" grpId="1" animBg="1"/>
      <p:bldP spid="11" grpId="1" animBg="1"/>
      <p:bldP spid="16" grpId="2" animBg="1"/>
      <p:bldP spid="18" grpId="3" animBg="1"/>
      <p:bldP spid="20" grpId="3" animBg="1"/>
      <p:bldP spid="22" grpId="3" animBg="1"/>
      <p:bldP spid="24" grpId="3" animBg="1"/>
      <p:bldP spid="26" grpId="3" animBg="1"/>
      <p:bldP spid="28" grpId="3" animBg="1"/>
      <p:bldP spid="17" grpId="3" animBg="1"/>
      <p:bldP spid="19" grpId="3" animBg="1"/>
      <p:bldP spid="21" grpId="3" animBg="1"/>
      <p:bldP spid="23" grpId="3" animBg="1"/>
      <p:bldP spid="25" grpId="3" animBg="1"/>
      <p:bldP spid="27" grpId="3" animBg="1"/>
      <p:bldP spid="31" grpId="3" animBg="1"/>
      <p:bldP spid="32" grpId="3" animBg="1"/>
      <p:bldP spid="29" grpId="3" animBg="1"/>
      <p:bldP spid="30" grpId="3" animBg="1"/>
      <p:bldP spid="35" grpId="3" animBg="1"/>
      <p:bldP spid="36" grpId="3" animBg="1"/>
      <p:bldP spid="33" grpId="3" animBg="1"/>
      <p:bldP spid="34" grpId="3" animBg="1"/>
      <p:bldP spid="39" grpId="3" animBg="1"/>
      <p:bldP spid="40" grpId="3" animBg="1"/>
      <p:bldP spid="37" grpId="3" animBg="1"/>
      <p:bldP spid="38" grpId="3" animBg="1"/>
      <p:bldP spid="43" grpId="3" animBg="1"/>
      <p:bldP spid="44" grpId="3" animBg="1"/>
      <p:bldP spid="41" grpId="3" animBg="1"/>
      <p:bldP spid="42" grpId="3" animBg="1"/>
      <p:bldP spid="47" grpId="3" animBg="1"/>
      <p:bldP spid="48" grpId="3" animBg="1"/>
      <p:bldP spid="45" grpId="3" animBg="1"/>
      <p:bldP spid="46" grpId="3" animBg="1"/>
      <p:bldP spid="51" grpId="3" animBg="1"/>
      <p:bldP spid="52" grpId="3" animBg="1"/>
      <p:bldP spid="49" grpId="3" animBg="1"/>
      <p:bldP spid="50" grpId="3" animBg="1"/>
      <p:bldP spid="4" grpId="4" animBg="1"/>
      <p:bldP spid="5" grpId="4" animBg="1"/>
      <p:bldP spid="12" grpId="5" animBg="1"/>
      <p:bldP spid="13" grpId="5" animBg="1"/>
      <p:bldP spid="14" grpId="5" animBg="1"/>
      <p:bldP spid="15" grpId="5" animBg="1"/>
      <p:bldP spid="53" grpId="6" animBg="1"/>
      <p:bldP spid="54" grpId="6" animBg="1"/>
      <p:bldP spid="55" grpId="7" animBg="1"/>
      <p:bldP spid="56" grpId="7" animBg="1"/>
      <p:bldP spid="57" grpId="8" animBg="1"/>
      <p:bldP spid="58" grpId="8"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EDEAE3"/>
          </a:solidFill>
          <a:ln w="12700">
            <a:solidFill>
              <a:srgbClr val="EDEAE3"/>
            </a:solidFill>
            <a:prstDash val="solid"/>
          </a:ln>
        </p:spPr>
        <p:txBody>
          <a:bodyPr/>
          <a:lstStyle/>
          <a:p>
            <a:endParaRPr lang="en-US"/>
          </a:p>
        </p:txBody>
      </p:sp>
      <p:sp>
        <p:nvSpPr>
          <p:cNvPr id="3" name="Shape 1"/>
          <p:cNvSpPr/>
          <p:nvPr/>
        </p:nvSpPr>
        <p:spPr>
          <a:xfrm>
            <a:off x="4572000" y="0"/>
            <a:ext cx="4572000" cy="5143500"/>
          </a:xfrm>
          <a:prstGeom prst="rect">
            <a:avLst/>
          </a:prstGeom>
          <a:solidFill>
            <a:srgbClr val="F2F0E8"/>
          </a:solidFill>
          <a:ln w="12700">
            <a:solidFill>
              <a:srgbClr val="F2F0E8"/>
            </a:solidFill>
            <a:prstDash val="solid"/>
          </a:ln>
        </p:spPr>
        <p:txBody>
          <a:bodyPr/>
          <a:lstStyle/>
          <a:p>
            <a:endParaRPr lang="en-US"/>
          </a:p>
        </p:txBody>
      </p:sp>
      <p:sp>
        <p:nvSpPr>
          <p:cNvPr id="4" name="Shape 2"/>
          <p:cNvSpPr/>
          <p:nvPr/>
        </p:nvSpPr>
        <p:spPr>
          <a:xfrm>
            <a:off x="4544568" y="73152"/>
            <a:ext cx="27432" cy="5029200"/>
          </a:xfrm>
          <a:prstGeom prst="rect">
            <a:avLst/>
          </a:prstGeom>
          <a:solidFill>
            <a:srgbClr val="CFCABC"/>
          </a:solidFill>
          <a:ln w="12700">
            <a:solidFill>
              <a:srgbClr val="CFCABC"/>
            </a:solidFill>
            <a:prstDash val="solid"/>
          </a:ln>
        </p:spPr>
        <p:txBody>
          <a:bodyPr/>
          <a:lstStyle/>
          <a:p>
            <a:endParaRPr lang="en-US"/>
          </a:p>
        </p:txBody>
      </p:sp>
      <p:sp>
        <p:nvSpPr>
          <p:cNvPr id="5" name="Shape 3"/>
          <p:cNvSpPr/>
          <p:nvPr/>
        </p:nvSpPr>
        <p:spPr>
          <a:xfrm>
            <a:off x="914400" y="1554480"/>
            <a:ext cx="2743200" cy="2743200"/>
          </a:xfrm>
          <a:prstGeom prst="ellipse">
            <a:avLst/>
          </a:prstGeom>
          <a:solidFill>
            <a:srgbClr val="7A3020">
              <a:alpha val="7000"/>
            </a:srgbClr>
          </a:solidFill>
          <a:ln w="12700">
            <a:solidFill>
              <a:srgbClr val="F7F5F0"/>
            </a:solidFill>
            <a:prstDash val="solid"/>
          </a:ln>
        </p:spPr>
        <p:txBody>
          <a:bodyPr/>
          <a:lstStyle/>
          <a:p>
            <a:endParaRPr lang="en-US"/>
          </a:p>
        </p:txBody>
      </p:sp>
      <p:sp>
        <p:nvSpPr>
          <p:cNvPr id="6" name="Shape 4"/>
          <p:cNvSpPr/>
          <p:nvPr/>
        </p:nvSpPr>
        <p:spPr>
          <a:xfrm>
            <a:off x="1600200" y="2240280"/>
            <a:ext cx="1371600" cy="1371600"/>
          </a:xfrm>
          <a:prstGeom prst="ellipse">
            <a:avLst/>
          </a:prstGeom>
          <a:solidFill>
            <a:srgbClr val="7A3020">
              <a:alpha val="14000"/>
            </a:srgbClr>
          </a:solidFill>
          <a:ln w="12700">
            <a:solidFill>
              <a:srgbClr val="F7F5F0"/>
            </a:solidFill>
            <a:prstDash val="solid"/>
          </a:ln>
        </p:spPr>
        <p:txBody>
          <a:bodyPr/>
          <a:lstStyle/>
          <a:p>
            <a:endParaRPr lang="en-US"/>
          </a:p>
        </p:txBody>
      </p:sp>
      <p:sp>
        <p:nvSpPr>
          <p:cNvPr id="7" name="Shape 5"/>
          <p:cNvSpPr/>
          <p:nvPr/>
        </p:nvSpPr>
        <p:spPr>
          <a:xfrm>
            <a:off x="5486400" y="1554480"/>
            <a:ext cx="2743200" cy="2743200"/>
          </a:xfrm>
          <a:prstGeom prst="ellipse">
            <a:avLst/>
          </a:prstGeom>
          <a:solidFill>
            <a:srgbClr val="4C3275">
              <a:alpha val="7000"/>
            </a:srgbClr>
          </a:solidFill>
          <a:ln w="12700">
            <a:solidFill>
              <a:srgbClr val="F7F5F0"/>
            </a:solidFill>
            <a:prstDash val="solid"/>
          </a:ln>
        </p:spPr>
        <p:txBody>
          <a:bodyPr/>
          <a:lstStyle/>
          <a:p>
            <a:endParaRPr lang="en-US"/>
          </a:p>
        </p:txBody>
      </p:sp>
      <p:sp>
        <p:nvSpPr>
          <p:cNvPr id="8" name="Shape 6"/>
          <p:cNvSpPr/>
          <p:nvPr/>
        </p:nvSpPr>
        <p:spPr>
          <a:xfrm>
            <a:off x="6172200" y="2240280"/>
            <a:ext cx="1371600" cy="1371600"/>
          </a:xfrm>
          <a:prstGeom prst="ellipse">
            <a:avLst/>
          </a:prstGeom>
          <a:solidFill>
            <a:srgbClr val="4C3275">
              <a:alpha val="14000"/>
            </a:srgbClr>
          </a:solidFill>
          <a:ln w="12700">
            <a:solidFill>
              <a:srgbClr val="F7F5F0"/>
            </a:solidFill>
            <a:prstDash val="solid"/>
          </a:ln>
        </p:spPr>
        <p:txBody>
          <a:bodyPr/>
          <a:lstStyle/>
          <a:p>
            <a:endParaRPr lang="en-US"/>
          </a:p>
        </p:txBody>
      </p:sp>
      <p:sp>
        <p:nvSpPr>
          <p:cNvPr id="9" name="Text 7"/>
          <p:cNvSpPr/>
          <p:nvPr/>
        </p:nvSpPr>
        <p:spPr>
          <a:xfrm>
            <a:off x="320040" y="164592"/>
            <a:ext cx="8229600" cy="201168"/>
          </a:xfrm>
          <a:prstGeom prst="rect">
            <a:avLst/>
          </a:prstGeom>
          <a:noFill/>
          <a:ln/>
        </p:spPr>
        <p:txBody>
          <a:bodyPr wrap="square" rtlCol="0" anchor="ctr"/>
          <a:lstStyle/>
          <a:p>
            <a:pPr marL="0" indent="0">
              <a:buNone/>
            </a:pPr>
            <a:r>
              <a:rPr lang="en-US" sz="900" b="1" kern="0" spc="300" dirty="0">
                <a:solidFill>
                  <a:srgbClr val="7A3020"/>
                </a:solidFill>
                <a:latin typeface="Calibri" pitchFamily="34" charset="0"/>
                <a:ea typeface="Calibri" pitchFamily="34" charset="-122"/>
                <a:cs typeface="Calibri" pitchFamily="34" charset="-120"/>
              </a:rPr>
              <a:t>MODULE 05</a:t>
            </a:r>
            <a:endParaRPr lang="en-US" sz="900" dirty="0"/>
          </a:p>
        </p:txBody>
      </p:sp>
      <p:sp>
        <p:nvSpPr>
          <p:cNvPr id="10" name="Text 8"/>
          <p:cNvSpPr/>
          <p:nvPr/>
        </p:nvSpPr>
        <p:spPr>
          <a:xfrm>
            <a:off x="320040" y="365760"/>
            <a:ext cx="3977640" cy="731520"/>
          </a:xfrm>
          <a:prstGeom prst="rect">
            <a:avLst/>
          </a:prstGeom>
          <a:noFill/>
          <a:ln/>
        </p:spPr>
        <p:txBody>
          <a:bodyPr wrap="square" rtlCol="0" anchor="ctr"/>
          <a:lstStyle/>
          <a:p>
            <a:pPr marL="0" indent="0">
              <a:buNone/>
            </a:pPr>
            <a:r>
              <a:rPr lang="en-US" sz="2000" b="1" dirty="0">
                <a:solidFill>
                  <a:srgbClr val="1A1814"/>
                </a:solidFill>
                <a:latin typeface="Calibri" pitchFamily="34" charset="0"/>
                <a:ea typeface="Calibri" pitchFamily="34" charset="-122"/>
                <a:cs typeface="Calibri" pitchFamily="34" charset="-120"/>
              </a:rPr>
              <a:t>Reflexive Prompt</a:t>
            </a:r>
            <a:endParaRPr lang="en-US" sz="2000" dirty="0"/>
          </a:p>
          <a:p>
            <a:pPr marL="0" indent="0">
              <a:buNone/>
            </a:pPr>
            <a:r>
              <a:rPr lang="en-US" sz="2000" b="1" dirty="0">
                <a:solidFill>
                  <a:srgbClr val="1A1814"/>
                </a:solidFill>
                <a:latin typeface="Calibri" pitchFamily="34" charset="0"/>
                <a:ea typeface="Calibri" pitchFamily="34" charset="-122"/>
                <a:cs typeface="Calibri" pitchFamily="34" charset="-120"/>
              </a:rPr>
              <a:t>Optimizer (RPO)</a:t>
            </a:r>
            <a:endParaRPr lang="en-US" sz="2000" dirty="0"/>
          </a:p>
        </p:txBody>
      </p:sp>
      <p:sp>
        <p:nvSpPr>
          <p:cNvPr id="11" name="Shape 9"/>
          <p:cNvSpPr/>
          <p:nvPr/>
        </p:nvSpPr>
        <p:spPr>
          <a:xfrm>
            <a:off x="320040" y="1133856"/>
            <a:ext cx="1945843" cy="237744"/>
          </a:xfrm>
          <a:prstGeom prst="roundRect">
            <a:avLst>
              <a:gd name="adj" fmla="val 50000"/>
            </a:avLst>
          </a:prstGeom>
          <a:solidFill>
            <a:srgbClr val="7A3020">
              <a:alpha val="20000"/>
            </a:srgbClr>
          </a:solidFill>
          <a:ln w="12700">
            <a:solidFill>
              <a:srgbClr val="7A3020"/>
            </a:solidFill>
            <a:prstDash val="solid"/>
          </a:ln>
        </p:spPr>
        <p:txBody>
          <a:bodyPr/>
          <a:lstStyle/>
          <a:p>
            <a:endParaRPr lang="en-US"/>
          </a:p>
        </p:txBody>
      </p:sp>
      <p:sp>
        <p:nvSpPr>
          <p:cNvPr id="12" name="Text 10"/>
          <p:cNvSpPr/>
          <p:nvPr/>
        </p:nvSpPr>
        <p:spPr>
          <a:xfrm>
            <a:off x="320040" y="1133856"/>
            <a:ext cx="1945843" cy="237744"/>
          </a:xfrm>
          <a:prstGeom prst="rect">
            <a:avLst/>
          </a:prstGeom>
          <a:noFill/>
          <a:ln/>
        </p:spPr>
        <p:txBody>
          <a:bodyPr wrap="square" rtlCol="0" anchor="ctr"/>
          <a:lstStyle/>
          <a:p>
            <a:pPr marL="0" indent="0" algn="ctr">
              <a:buNone/>
            </a:pPr>
            <a:r>
              <a:rPr lang="en-US" sz="800" b="1" dirty="0">
                <a:solidFill>
                  <a:srgbClr val="7A3020"/>
                </a:solidFill>
                <a:latin typeface="Calibri" pitchFamily="34" charset="0"/>
                <a:ea typeface="Calibri" pitchFamily="34" charset="-122"/>
                <a:cs typeface="Calibri" pitchFamily="34" charset="-120"/>
              </a:rPr>
              <a:t>★  NOVEL CONTRIBUTION</a:t>
            </a:r>
            <a:endParaRPr lang="en-US" sz="800" dirty="0"/>
          </a:p>
        </p:txBody>
      </p:sp>
      <p:sp>
        <p:nvSpPr>
          <p:cNvPr id="13" name="Shape 11"/>
          <p:cNvSpPr/>
          <p:nvPr/>
        </p:nvSpPr>
        <p:spPr>
          <a:xfrm>
            <a:off x="292608" y="1481328"/>
            <a:ext cx="4005072" cy="713232"/>
          </a:xfrm>
          <a:prstGeom prst="roundRect">
            <a:avLst>
              <a:gd name="adj" fmla="val 11538"/>
            </a:avLst>
          </a:prstGeom>
          <a:solidFill>
            <a:srgbClr val="EDEAE3"/>
          </a:solidFill>
          <a:ln w="12700">
            <a:solidFill>
              <a:srgbClr val="7A3020"/>
            </a:solidFill>
            <a:prstDash val="solid"/>
          </a:ln>
        </p:spPr>
        <p:txBody>
          <a:bodyPr/>
          <a:lstStyle/>
          <a:p>
            <a:endParaRPr lang="en-US"/>
          </a:p>
        </p:txBody>
      </p:sp>
      <p:sp>
        <p:nvSpPr>
          <p:cNvPr id="14" name="Shape 12"/>
          <p:cNvSpPr/>
          <p:nvPr/>
        </p:nvSpPr>
        <p:spPr>
          <a:xfrm>
            <a:off x="420624" y="1618488"/>
            <a:ext cx="438912" cy="438912"/>
          </a:xfrm>
          <a:prstGeom prst="ellipse">
            <a:avLst/>
          </a:prstGeom>
          <a:solidFill>
            <a:srgbClr val="7A3020"/>
          </a:solidFill>
          <a:ln w="12700">
            <a:solidFill>
              <a:srgbClr val="7A3020"/>
            </a:solidFill>
            <a:prstDash val="solid"/>
          </a:ln>
        </p:spPr>
        <p:txBody>
          <a:bodyPr/>
          <a:lstStyle/>
          <a:p>
            <a:endParaRPr lang="en-US"/>
          </a:p>
        </p:txBody>
      </p:sp>
      <p:sp>
        <p:nvSpPr>
          <p:cNvPr id="15" name="Text 13"/>
          <p:cNvSpPr/>
          <p:nvPr/>
        </p:nvSpPr>
        <p:spPr>
          <a:xfrm>
            <a:off x="420624" y="1618488"/>
            <a:ext cx="438912" cy="438912"/>
          </a:xfrm>
          <a:prstGeom prst="rect">
            <a:avLst/>
          </a:prstGeom>
          <a:noFill/>
          <a:ln/>
        </p:spPr>
        <p:txBody>
          <a:bodyPr wrap="square" rtlCol="0" anchor="ctr"/>
          <a:lstStyle/>
          <a:p>
            <a:pPr marL="0" indent="0" algn="ctr">
              <a:buNone/>
            </a:pPr>
            <a:r>
              <a:rPr lang="en-US" sz="1400" b="1" dirty="0">
                <a:solidFill>
                  <a:srgbClr val="1A1814"/>
                </a:solidFill>
                <a:latin typeface="Calibri" pitchFamily="34" charset="0"/>
                <a:ea typeface="Calibri" pitchFamily="34" charset="-122"/>
                <a:cs typeface="Calibri" pitchFamily="34" charset="-120"/>
              </a:rPr>
              <a:t>1</a:t>
            </a:r>
            <a:endParaRPr lang="en-US" sz="1400" dirty="0"/>
          </a:p>
        </p:txBody>
      </p:sp>
      <p:sp>
        <p:nvSpPr>
          <p:cNvPr id="16" name="Text 14"/>
          <p:cNvSpPr/>
          <p:nvPr/>
        </p:nvSpPr>
        <p:spPr>
          <a:xfrm>
            <a:off x="969264" y="1572768"/>
            <a:ext cx="3200400" cy="219456"/>
          </a:xfrm>
          <a:prstGeom prst="rect">
            <a:avLst/>
          </a:prstGeom>
          <a:noFill/>
          <a:ln/>
        </p:spPr>
        <p:txBody>
          <a:bodyPr wrap="square" rtlCol="0" anchor="ctr"/>
          <a:lstStyle/>
          <a:p>
            <a:pPr marL="0" indent="0">
              <a:buNone/>
            </a:pPr>
            <a:r>
              <a:rPr lang="en-US" sz="1100" b="1" dirty="0">
                <a:solidFill>
                  <a:srgbClr val="7A3020"/>
                </a:solidFill>
                <a:latin typeface="Calibri" pitchFamily="34" charset="0"/>
                <a:ea typeface="Calibri" pitchFamily="34" charset="-122"/>
                <a:cs typeface="Calibri" pitchFamily="34" charset="-120"/>
              </a:rPr>
              <a:t>EVALUATE</a:t>
            </a:r>
            <a:endParaRPr lang="en-US" sz="1100" dirty="0"/>
          </a:p>
        </p:txBody>
      </p:sp>
      <p:sp>
        <p:nvSpPr>
          <p:cNvPr id="17" name="Text 15"/>
          <p:cNvSpPr/>
          <p:nvPr/>
        </p:nvSpPr>
        <p:spPr>
          <a:xfrm>
            <a:off x="969264" y="1810512"/>
            <a:ext cx="3200400" cy="274320"/>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Score current template on validation set</a:t>
            </a:r>
            <a:endParaRPr lang="en-US" sz="950" dirty="0"/>
          </a:p>
        </p:txBody>
      </p:sp>
      <p:sp>
        <p:nvSpPr>
          <p:cNvPr id="18" name="Text 16"/>
          <p:cNvSpPr/>
          <p:nvPr/>
        </p:nvSpPr>
        <p:spPr>
          <a:xfrm>
            <a:off x="548640" y="2203704"/>
            <a:ext cx="182880" cy="118872"/>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292608" y="2322576"/>
            <a:ext cx="4005072" cy="713232"/>
          </a:xfrm>
          <a:prstGeom prst="roundRect">
            <a:avLst>
              <a:gd name="adj" fmla="val 11538"/>
            </a:avLst>
          </a:prstGeom>
          <a:solidFill>
            <a:srgbClr val="EDEAE3"/>
          </a:solidFill>
          <a:ln w="12700">
            <a:solidFill>
              <a:srgbClr val="6E5200"/>
            </a:solidFill>
            <a:prstDash val="solid"/>
          </a:ln>
        </p:spPr>
        <p:txBody>
          <a:bodyPr/>
          <a:lstStyle/>
          <a:p>
            <a:endParaRPr lang="en-US"/>
          </a:p>
        </p:txBody>
      </p:sp>
      <p:sp>
        <p:nvSpPr>
          <p:cNvPr id="20" name="Shape 18"/>
          <p:cNvSpPr/>
          <p:nvPr/>
        </p:nvSpPr>
        <p:spPr>
          <a:xfrm>
            <a:off x="420624" y="2459736"/>
            <a:ext cx="438912" cy="438912"/>
          </a:xfrm>
          <a:prstGeom prst="ellipse">
            <a:avLst/>
          </a:prstGeom>
          <a:solidFill>
            <a:srgbClr val="6E5200"/>
          </a:solidFill>
          <a:ln w="12700">
            <a:solidFill>
              <a:srgbClr val="6E5200"/>
            </a:solidFill>
            <a:prstDash val="solid"/>
          </a:ln>
        </p:spPr>
        <p:txBody>
          <a:bodyPr/>
          <a:lstStyle/>
          <a:p>
            <a:endParaRPr lang="en-US"/>
          </a:p>
        </p:txBody>
      </p:sp>
      <p:sp>
        <p:nvSpPr>
          <p:cNvPr id="21" name="Text 19"/>
          <p:cNvSpPr/>
          <p:nvPr/>
        </p:nvSpPr>
        <p:spPr>
          <a:xfrm>
            <a:off x="420624" y="2459736"/>
            <a:ext cx="438912" cy="438912"/>
          </a:xfrm>
          <a:prstGeom prst="rect">
            <a:avLst/>
          </a:prstGeom>
          <a:noFill/>
          <a:ln/>
        </p:spPr>
        <p:txBody>
          <a:bodyPr wrap="square" rtlCol="0" anchor="ctr"/>
          <a:lstStyle/>
          <a:p>
            <a:pPr marL="0" indent="0" algn="ctr">
              <a:buNone/>
            </a:pPr>
            <a:r>
              <a:rPr lang="en-US" sz="1400" b="1" dirty="0">
                <a:solidFill>
                  <a:srgbClr val="1A1814"/>
                </a:solidFill>
                <a:latin typeface="Calibri" pitchFamily="34" charset="0"/>
                <a:ea typeface="Calibri" pitchFamily="34" charset="-122"/>
                <a:cs typeface="Calibri" pitchFamily="34" charset="-120"/>
              </a:rPr>
              <a:t>2</a:t>
            </a:r>
            <a:endParaRPr lang="en-US" sz="1400" dirty="0"/>
          </a:p>
        </p:txBody>
      </p:sp>
      <p:sp>
        <p:nvSpPr>
          <p:cNvPr id="22" name="Text 20"/>
          <p:cNvSpPr/>
          <p:nvPr/>
        </p:nvSpPr>
        <p:spPr>
          <a:xfrm>
            <a:off x="969264" y="2414016"/>
            <a:ext cx="3200400" cy="219456"/>
          </a:xfrm>
          <a:prstGeom prst="rect">
            <a:avLst/>
          </a:prstGeom>
          <a:noFill/>
          <a:ln/>
        </p:spPr>
        <p:txBody>
          <a:bodyPr wrap="square" rtlCol="0" anchor="ctr"/>
          <a:lstStyle/>
          <a:p>
            <a:pPr marL="0" indent="0">
              <a:buNone/>
            </a:pPr>
            <a:r>
              <a:rPr lang="en-US" sz="1100" b="1" dirty="0">
                <a:solidFill>
                  <a:srgbClr val="6E5200"/>
                </a:solidFill>
                <a:latin typeface="Calibri" pitchFamily="34" charset="0"/>
                <a:ea typeface="Calibri" pitchFamily="34" charset="-122"/>
                <a:cs typeface="Calibri" pitchFamily="34" charset="-120"/>
              </a:rPr>
              <a:t>REFLECT</a:t>
            </a:r>
            <a:endParaRPr lang="en-US" sz="1100" dirty="0"/>
          </a:p>
        </p:txBody>
      </p:sp>
      <p:sp>
        <p:nvSpPr>
          <p:cNvPr id="23" name="Text 21"/>
          <p:cNvSpPr/>
          <p:nvPr/>
        </p:nvSpPr>
        <p:spPr>
          <a:xfrm>
            <a:off x="969264" y="2651760"/>
            <a:ext cx="3200400" cy="274320"/>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LLM analyses failure cases, identifies gaps</a:t>
            </a:r>
            <a:endParaRPr lang="en-US" sz="950" dirty="0"/>
          </a:p>
        </p:txBody>
      </p:sp>
      <p:sp>
        <p:nvSpPr>
          <p:cNvPr id="24" name="Text 22"/>
          <p:cNvSpPr/>
          <p:nvPr/>
        </p:nvSpPr>
        <p:spPr>
          <a:xfrm>
            <a:off x="548640" y="3044952"/>
            <a:ext cx="182880" cy="118872"/>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25" name="Shape 23"/>
          <p:cNvSpPr/>
          <p:nvPr/>
        </p:nvSpPr>
        <p:spPr>
          <a:xfrm>
            <a:off x="292608" y="3163824"/>
            <a:ext cx="4005072" cy="713232"/>
          </a:xfrm>
          <a:prstGeom prst="roundRect">
            <a:avLst>
              <a:gd name="adj" fmla="val 11538"/>
            </a:avLst>
          </a:prstGeom>
          <a:solidFill>
            <a:srgbClr val="EDEAE3"/>
          </a:solidFill>
          <a:ln w="12700">
            <a:solidFill>
              <a:srgbClr val="245E3E"/>
            </a:solidFill>
            <a:prstDash val="solid"/>
          </a:ln>
        </p:spPr>
        <p:txBody>
          <a:bodyPr/>
          <a:lstStyle/>
          <a:p>
            <a:endParaRPr lang="en-US"/>
          </a:p>
        </p:txBody>
      </p:sp>
      <p:sp>
        <p:nvSpPr>
          <p:cNvPr id="26" name="Shape 24"/>
          <p:cNvSpPr/>
          <p:nvPr/>
        </p:nvSpPr>
        <p:spPr>
          <a:xfrm>
            <a:off x="420624" y="3300984"/>
            <a:ext cx="438912" cy="438912"/>
          </a:xfrm>
          <a:prstGeom prst="ellipse">
            <a:avLst/>
          </a:prstGeom>
          <a:solidFill>
            <a:srgbClr val="245E3E"/>
          </a:solidFill>
          <a:ln w="12700">
            <a:solidFill>
              <a:srgbClr val="245E3E"/>
            </a:solidFill>
            <a:prstDash val="solid"/>
          </a:ln>
        </p:spPr>
        <p:txBody>
          <a:bodyPr/>
          <a:lstStyle/>
          <a:p>
            <a:endParaRPr lang="en-US"/>
          </a:p>
        </p:txBody>
      </p:sp>
      <p:sp>
        <p:nvSpPr>
          <p:cNvPr id="27" name="Text 25"/>
          <p:cNvSpPr/>
          <p:nvPr/>
        </p:nvSpPr>
        <p:spPr>
          <a:xfrm>
            <a:off x="420624" y="3300984"/>
            <a:ext cx="438912" cy="438912"/>
          </a:xfrm>
          <a:prstGeom prst="rect">
            <a:avLst/>
          </a:prstGeom>
          <a:noFill/>
          <a:ln/>
        </p:spPr>
        <p:txBody>
          <a:bodyPr wrap="square" rtlCol="0" anchor="ctr"/>
          <a:lstStyle/>
          <a:p>
            <a:pPr marL="0" indent="0" algn="ctr">
              <a:buNone/>
            </a:pPr>
            <a:r>
              <a:rPr lang="en-US" sz="1400" b="1" dirty="0">
                <a:solidFill>
                  <a:srgbClr val="1A1814"/>
                </a:solidFill>
                <a:latin typeface="Calibri" pitchFamily="34" charset="0"/>
                <a:ea typeface="Calibri" pitchFamily="34" charset="-122"/>
                <a:cs typeface="Calibri" pitchFamily="34" charset="-120"/>
              </a:rPr>
              <a:t>3</a:t>
            </a:r>
            <a:endParaRPr lang="en-US" sz="1400" dirty="0"/>
          </a:p>
        </p:txBody>
      </p:sp>
      <p:sp>
        <p:nvSpPr>
          <p:cNvPr id="28" name="Text 26"/>
          <p:cNvSpPr/>
          <p:nvPr/>
        </p:nvSpPr>
        <p:spPr>
          <a:xfrm>
            <a:off x="969264" y="3255264"/>
            <a:ext cx="3200400" cy="219456"/>
          </a:xfrm>
          <a:prstGeom prst="rect">
            <a:avLst/>
          </a:prstGeom>
          <a:noFill/>
          <a:ln/>
        </p:spPr>
        <p:txBody>
          <a:bodyPr wrap="square" rtlCol="0" anchor="ctr"/>
          <a:lstStyle/>
          <a:p>
            <a:pPr marL="0" indent="0">
              <a:buNone/>
            </a:pPr>
            <a:r>
              <a:rPr lang="en-US" sz="1100" b="1" dirty="0">
                <a:solidFill>
                  <a:srgbClr val="245E3E"/>
                </a:solidFill>
                <a:latin typeface="Calibri" pitchFamily="34" charset="0"/>
                <a:ea typeface="Calibri" pitchFamily="34" charset="-122"/>
                <a:cs typeface="Calibri" pitchFamily="34" charset="-120"/>
              </a:rPr>
              <a:t>GENERATE</a:t>
            </a:r>
            <a:endParaRPr lang="en-US" sz="1100" dirty="0"/>
          </a:p>
        </p:txBody>
      </p:sp>
      <p:sp>
        <p:nvSpPr>
          <p:cNvPr id="29" name="Text 27"/>
          <p:cNvSpPr/>
          <p:nvPr/>
        </p:nvSpPr>
        <p:spPr>
          <a:xfrm>
            <a:off x="969264" y="3493008"/>
            <a:ext cx="3200400" cy="274320"/>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Diverse candidate templates from failures</a:t>
            </a:r>
            <a:endParaRPr lang="en-US" sz="950" dirty="0"/>
          </a:p>
        </p:txBody>
      </p:sp>
      <p:sp>
        <p:nvSpPr>
          <p:cNvPr id="30" name="Text 28"/>
          <p:cNvSpPr/>
          <p:nvPr/>
        </p:nvSpPr>
        <p:spPr>
          <a:xfrm>
            <a:off x="548640" y="3886200"/>
            <a:ext cx="182880" cy="118872"/>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31" name="Shape 29"/>
          <p:cNvSpPr/>
          <p:nvPr/>
        </p:nvSpPr>
        <p:spPr>
          <a:xfrm>
            <a:off x="292608" y="4005072"/>
            <a:ext cx="4005072" cy="713232"/>
          </a:xfrm>
          <a:prstGeom prst="roundRect">
            <a:avLst>
              <a:gd name="adj" fmla="val 11538"/>
            </a:avLst>
          </a:prstGeom>
          <a:solidFill>
            <a:srgbClr val="EDEAE3"/>
          </a:solidFill>
          <a:ln w="12700">
            <a:solidFill>
              <a:srgbClr val="2A4875"/>
            </a:solidFill>
            <a:prstDash val="solid"/>
          </a:ln>
        </p:spPr>
        <p:txBody>
          <a:bodyPr/>
          <a:lstStyle/>
          <a:p>
            <a:endParaRPr lang="en-US"/>
          </a:p>
        </p:txBody>
      </p:sp>
      <p:sp>
        <p:nvSpPr>
          <p:cNvPr id="32" name="Shape 30"/>
          <p:cNvSpPr/>
          <p:nvPr/>
        </p:nvSpPr>
        <p:spPr>
          <a:xfrm>
            <a:off x="420624" y="4142232"/>
            <a:ext cx="438912" cy="438912"/>
          </a:xfrm>
          <a:prstGeom prst="ellipse">
            <a:avLst/>
          </a:prstGeom>
          <a:solidFill>
            <a:srgbClr val="2A4875"/>
          </a:solidFill>
          <a:ln w="12700">
            <a:solidFill>
              <a:srgbClr val="2A4875"/>
            </a:solidFill>
            <a:prstDash val="solid"/>
          </a:ln>
        </p:spPr>
        <p:txBody>
          <a:bodyPr/>
          <a:lstStyle/>
          <a:p>
            <a:endParaRPr lang="en-US"/>
          </a:p>
        </p:txBody>
      </p:sp>
      <p:sp>
        <p:nvSpPr>
          <p:cNvPr id="33" name="Text 31"/>
          <p:cNvSpPr/>
          <p:nvPr/>
        </p:nvSpPr>
        <p:spPr>
          <a:xfrm>
            <a:off x="420624" y="4142232"/>
            <a:ext cx="438912" cy="438912"/>
          </a:xfrm>
          <a:prstGeom prst="rect">
            <a:avLst/>
          </a:prstGeom>
          <a:noFill/>
          <a:ln/>
        </p:spPr>
        <p:txBody>
          <a:bodyPr wrap="square" rtlCol="0" anchor="ctr"/>
          <a:lstStyle/>
          <a:p>
            <a:pPr marL="0" indent="0" algn="ctr">
              <a:buNone/>
            </a:pPr>
            <a:r>
              <a:rPr lang="en-US" sz="1400" b="1" dirty="0">
                <a:solidFill>
                  <a:srgbClr val="1A1814"/>
                </a:solidFill>
                <a:latin typeface="Calibri" pitchFamily="34" charset="0"/>
                <a:ea typeface="Calibri" pitchFamily="34" charset="-122"/>
                <a:cs typeface="Calibri" pitchFamily="34" charset="-120"/>
              </a:rPr>
              <a:t>4</a:t>
            </a:r>
            <a:endParaRPr lang="en-US" sz="1400" dirty="0"/>
          </a:p>
        </p:txBody>
      </p:sp>
      <p:sp>
        <p:nvSpPr>
          <p:cNvPr id="34" name="Text 32"/>
          <p:cNvSpPr/>
          <p:nvPr/>
        </p:nvSpPr>
        <p:spPr>
          <a:xfrm>
            <a:off x="969264" y="4096512"/>
            <a:ext cx="3200400" cy="219456"/>
          </a:xfrm>
          <a:prstGeom prst="rect">
            <a:avLst/>
          </a:prstGeom>
          <a:noFill/>
          <a:ln/>
        </p:spPr>
        <p:txBody>
          <a:bodyPr wrap="square" rtlCol="0" anchor="ctr"/>
          <a:lstStyle/>
          <a:p>
            <a:pPr marL="0" indent="0">
              <a:buNone/>
            </a:pPr>
            <a:r>
              <a:rPr lang="en-US" sz="1100" b="1" dirty="0">
                <a:solidFill>
                  <a:srgbClr val="2A4875"/>
                </a:solidFill>
                <a:latin typeface="Calibri" pitchFamily="34" charset="0"/>
                <a:ea typeface="Calibri" pitchFamily="34" charset="-122"/>
                <a:cs typeface="Calibri" pitchFamily="34" charset="-120"/>
              </a:rPr>
              <a:t>GATE ★</a:t>
            </a:r>
            <a:endParaRPr lang="en-US" sz="1100" dirty="0"/>
          </a:p>
        </p:txBody>
      </p:sp>
      <p:sp>
        <p:nvSpPr>
          <p:cNvPr id="35" name="Text 33"/>
          <p:cNvSpPr/>
          <p:nvPr/>
        </p:nvSpPr>
        <p:spPr>
          <a:xfrm>
            <a:off x="969264" y="4334256"/>
            <a:ext cx="3200400" cy="274320"/>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Bootstrap significance test -champion vs challenger</a:t>
            </a:r>
            <a:endParaRPr lang="en-US" sz="950" dirty="0"/>
          </a:p>
        </p:txBody>
      </p:sp>
      <p:sp>
        <p:nvSpPr>
          <p:cNvPr id="36" name="Text 34"/>
          <p:cNvSpPr/>
          <p:nvPr/>
        </p:nvSpPr>
        <p:spPr>
          <a:xfrm>
            <a:off x="292608" y="4864608"/>
            <a:ext cx="4005072" cy="201168"/>
          </a:xfrm>
          <a:prstGeom prst="rect">
            <a:avLst/>
          </a:prstGeom>
          <a:noFill/>
          <a:ln/>
        </p:spPr>
        <p:txBody>
          <a:bodyPr wrap="square" rtlCol="0" anchor="ctr"/>
          <a:lstStyle/>
          <a:p>
            <a:pPr marL="0" indent="0">
              <a:buNone/>
            </a:pPr>
            <a:r>
              <a:rPr lang="en-US" sz="800" i="1" dirty="0">
                <a:solidFill>
                  <a:srgbClr val="9A9590"/>
                </a:solidFill>
                <a:latin typeface="Calibri" pitchFamily="34" charset="0"/>
                <a:ea typeface="Calibri" pitchFamily="34" charset="-122"/>
                <a:cs typeface="Calibri" pitchFamily="34" charset="-120"/>
              </a:rPr>
              <a:t>Unlike APE/OPRO: bootstrap gate tests if improvement is statistically real -not just highest-scoring</a:t>
            </a:r>
            <a:endParaRPr lang="en-US" sz="800" dirty="0"/>
          </a:p>
        </p:txBody>
      </p:sp>
      <p:sp>
        <p:nvSpPr>
          <p:cNvPr id="37" name="Text 35"/>
          <p:cNvSpPr/>
          <p:nvPr/>
        </p:nvSpPr>
        <p:spPr>
          <a:xfrm>
            <a:off x="4736592" y="164592"/>
            <a:ext cx="8229600" cy="201168"/>
          </a:xfrm>
          <a:prstGeom prst="rect">
            <a:avLst/>
          </a:prstGeom>
          <a:noFill/>
          <a:ln/>
        </p:spPr>
        <p:txBody>
          <a:bodyPr wrap="square" rtlCol="0" anchor="ctr"/>
          <a:lstStyle/>
          <a:p>
            <a:pPr marL="0" indent="0">
              <a:buNone/>
            </a:pPr>
            <a:r>
              <a:rPr lang="en-US" sz="900" b="1" kern="0" spc="300" dirty="0">
                <a:solidFill>
                  <a:srgbClr val="4C3275"/>
                </a:solidFill>
                <a:latin typeface="Calibri" pitchFamily="34" charset="0"/>
                <a:ea typeface="Calibri" pitchFamily="34" charset="-122"/>
                <a:cs typeface="Calibri" pitchFamily="34" charset="-120"/>
              </a:rPr>
              <a:t>MODULE 06</a:t>
            </a:r>
            <a:endParaRPr lang="en-US" sz="900" dirty="0"/>
          </a:p>
        </p:txBody>
      </p:sp>
      <p:sp>
        <p:nvSpPr>
          <p:cNvPr id="38" name="Text 36"/>
          <p:cNvSpPr/>
          <p:nvPr/>
        </p:nvSpPr>
        <p:spPr>
          <a:xfrm>
            <a:off x="4736592" y="365760"/>
            <a:ext cx="4160520" cy="411480"/>
          </a:xfrm>
          <a:prstGeom prst="rect">
            <a:avLst/>
          </a:prstGeom>
          <a:noFill/>
          <a:ln/>
        </p:spPr>
        <p:txBody>
          <a:bodyPr wrap="square" rtlCol="0" anchor="ctr"/>
          <a:lstStyle/>
          <a:p>
            <a:pPr marL="0" indent="0">
              <a:buNone/>
            </a:pPr>
            <a:r>
              <a:rPr lang="en-US" sz="2000" b="1" dirty="0">
                <a:solidFill>
                  <a:srgbClr val="1A1814"/>
                </a:solidFill>
                <a:latin typeface="Calibri" pitchFamily="34" charset="0"/>
                <a:ea typeface="Calibri" pitchFamily="34" charset="-122"/>
                <a:cs typeface="Calibri" pitchFamily="34" charset="-120"/>
              </a:rPr>
              <a:t>Adaptive Cascade</a:t>
            </a:r>
            <a:endParaRPr lang="en-US" sz="2000" dirty="0"/>
          </a:p>
        </p:txBody>
      </p:sp>
      <p:sp>
        <p:nvSpPr>
          <p:cNvPr id="39" name="Shape 37"/>
          <p:cNvSpPr/>
          <p:nvPr/>
        </p:nvSpPr>
        <p:spPr>
          <a:xfrm>
            <a:off x="4736592" y="822960"/>
            <a:ext cx="1945843" cy="237744"/>
          </a:xfrm>
          <a:prstGeom prst="roundRect">
            <a:avLst>
              <a:gd name="adj" fmla="val 50000"/>
            </a:avLst>
          </a:prstGeom>
          <a:solidFill>
            <a:srgbClr val="4C3275">
              <a:alpha val="20000"/>
            </a:srgbClr>
          </a:solidFill>
          <a:ln w="12700">
            <a:solidFill>
              <a:srgbClr val="4C3275"/>
            </a:solidFill>
            <a:prstDash val="solid"/>
          </a:ln>
        </p:spPr>
        <p:txBody>
          <a:bodyPr/>
          <a:lstStyle/>
          <a:p>
            <a:endParaRPr lang="en-US"/>
          </a:p>
        </p:txBody>
      </p:sp>
      <p:sp>
        <p:nvSpPr>
          <p:cNvPr id="40" name="Text 38"/>
          <p:cNvSpPr/>
          <p:nvPr/>
        </p:nvSpPr>
        <p:spPr>
          <a:xfrm>
            <a:off x="4736592" y="822960"/>
            <a:ext cx="1945843" cy="237744"/>
          </a:xfrm>
          <a:prstGeom prst="rect">
            <a:avLst/>
          </a:prstGeom>
          <a:noFill/>
          <a:ln/>
        </p:spPr>
        <p:txBody>
          <a:bodyPr wrap="square" rtlCol="0" anchor="ctr"/>
          <a:lstStyle/>
          <a:p>
            <a:pPr marL="0" indent="0" algn="ctr">
              <a:buNone/>
            </a:pPr>
            <a:r>
              <a:rPr lang="en-US" sz="800" b="1" dirty="0">
                <a:solidFill>
                  <a:srgbClr val="4C3275"/>
                </a:solidFill>
                <a:latin typeface="Calibri" pitchFamily="34" charset="0"/>
                <a:ea typeface="Calibri" pitchFamily="34" charset="-122"/>
                <a:cs typeface="Calibri" pitchFamily="34" charset="-120"/>
              </a:rPr>
              <a:t>★  NOVEL CONTRIBUTION</a:t>
            </a:r>
            <a:endParaRPr lang="en-US" sz="800" dirty="0"/>
          </a:p>
        </p:txBody>
      </p:sp>
      <p:sp>
        <p:nvSpPr>
          <p:cNvPr id="41" name="Shape 39"/>
          <p:cNvSpPr/>
          <p:nvPr/>
        </p:nvSpPr>
        <p:spPr>
          <a:xfrm>
            <a:off x="4736592" y="1207008"/>
            <a:ext cx="4160520" cy="603504"/>
          </a:xfrm>
          <a:prstGeom prst="roundRect">
            <a:avLst>
              <a:gd name="adj" fmla="val 13636"/>
            </a:avLst>
          </a:prstGeom>
          <a:solidFill>
            <a:srgbClr val="EDEAE3"/>
          </a:solidFill>
          <a:ln w="12700">
            <a:solidFill>
              <a:srgbClr val="6E6760"/>
            </a:solidFill>
            <a:prstDash val="solid"/>
          </a:ln>
        </p:spPr>
        <p:txBody>
          <a:bodyPr/>
          <a:lstStyle/>
          <a:p>
            <a:endParaRPr lang="en-US"/>
          </a:p>
        </p:txBody>
      </p:sp>
      <p:sp>
        <p:nvSpPr>
          <p:cNvPr id="42" name="Shape 40"/>
          <p:cNvSpPr/>
          <p:nvPr/>
        </p:nvSpPr>
        <p:spPr>
          <a:xfrm>
            <a:off x="4736592" y="1289304"/>
            <a:ext cx="45720" cy="438912"/>
          </a:xfrm>
          <a:prstGeom prst="rect">
            <a:avLst/>
          </a:prstGeom>
          <a:solidFill>
            <a:srgbClr val="6E6760"/>
          </a:solidFill>
          <a:ln w="12700">
            <a:solidFill>
              <a:srgbClr val="6E6760"/>
            </a:solidFill>
            <a:prstDash val="solid"/>
          </a:ln>
        </p:spPr>
        <p:txBody>
          <a:bodyPr/>
          <a:lstStyle/>
          <a:p>
            <a:endParaRPr lang="en-US"/>
          </a:p>
        </p:txBody>
      </p:sp>
      <p:sp>
        <p:nvSpPr>
          <p:cNvPr id="43" name="Text 41"/>
          <p:cNvSpPr/>
          <p:nvPr/>
        </p:nvSpPr>
        <p:spPr>
          <a:xfrm>
            <a:off x="4901184" y="1271016"/>
            <a:ext cx="3429000" cy="219456"/>
          </a:xfrm>
          <a:prstGeom prst="rect">
            <a:avLst/>
          </a:prstGeom>
          <a:noFill/>
          <a:ln/>
        </p:spPr>
        <p:txBody>
          <a:bodyPr wrap="square" rtlCol="0" anchor="ctr"/>
          <a:lstStyle/>
          <a:p>
            <a:pPr marL="0" indent="0">
              <a:buNone/>
            </a:pPr>
            <a:r>
              <a:rPr lang="en-US" sz="1100" b="1" dirty="0">
                <a:solidFill>
                  <a:srgbClr val="6E6760"/>
                </a:solidFill>
                <a:latin typeface="Calibri" pitchFamily="34" charset="0"/>
                <a:ea typeface="Calibri" pitchFamily="34" charset="-122"/>
                <a:cs typeface="Calibri" pitchFamily="34" charset="-120"/>
              </a:rPr>
              <a:t>INPUT</a:t>
            </a:r>
            <a:endParaRPr lang="en-US" sz="1100" dirty="0"/>
          </a:p>
        </p:txBody>
      </p:sp>
      <p:sp>
        <p:nvSpPr>
          <p:cNvPr id="44" name="Text 42"/>
          <p:cNvSpPr/>
          <p:nvPr/>
        </p:nvSpPr>
        <p:spPr>
          <a:xfrm>
            <a:off x="4901184" y="1517904"/>
            <a:ext cx="3429000" cy="219456"/>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Question arrives</a:t>
            </a:r>
            <a:endParaRPr lang="en-US" sz="950" dirty="0"/>
          </a:p>
        </p:txBody>
      </p:sp>
      <p:sp>
        <p:nvSpPr>
          <p:cNvPr id="45" name="Text 43"/>
          <p:cNvSpPr/>
          <p:nvPr/>
        </p:nvSpPr>
        <p:spPr>
          <a:xfrm>
            <a:off x="6748272" y="1828800"/>
            <a:ext cx="164592" cy="109728"/>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46" name="Shape 44"/>
          <p:cNvSpPr/>
          <p:nvPr/>
        </p:nvSpPr>
        <p:spPr>
          <a:xfrm>
            <a:off x="4736592" y="1938528"/>
            <a:ext cx="4160520" cy="603504"/>
          </a:xfrm>
          <a:prstGeom prst="roundRect">
            <a:avLst>
              <a:gd name="adj" fmla="val 13636"/>
            </a:avLst>
          </a:prstGeom>
          <a:solidFill>
            <a:srgbClr val="EDEAE3"/>
          </a:solidFill>
          <a:ln w="12700">
            <a:solidFill>
              <a:srgbClr val="245E3E"/>
            </a:solidFill>
            <a:prstDash val="solid"/>
          </a:ln>
        </p:spPr>
        <p:txBody>
          <a:bodyPr/>
          <a:lstStyle/>
          <a:p>
            <a:endParaRPr lang="en-US"/>
          </a:p>
        </p:txBody>
      </p:sp>
      <p:sp>
        <p:nvSpPr>
          <p:cNvPr id="47" name="Shape 45"/>
          <p:cNvSpPr/>
          <p:nvPr/>
        </p:nvSpPr>
        <p:spPr>
          <a:xfrm>
            <a:off x="4736592" y="2020824"/>
            <a:ext cx="45720" cy="438912"/>
          </a:xfrm>
          <a:prstGeom prst="rect">
            <a:avLst/>
          </a:prstGeom>
          <a:solidFill>
            <a:srgbClr val="245E3E"/>
          </a:solidFill>
          <a:ln w="12700">
            <a:solidFill>
              <a:srgbClr val="245E3E"/>
            </a:solidFill>
            <a:prstDash val="solid"/>
          </a:ln>
        </p:spPr>
        <p:txBody>
          <a:bodyPr/>
          <a:lstStyle/>
          <a:p>
            <a:endParaRPr lang="en-US"/>
          </a:p>
        </p:txBody>
      </p:sp>
      <p:sp>
        <p:nvSpPr>
          <p:cNvPr id="48" name="Text 46"/>
          <p:cNvSpPr/>
          <p:nvPr/>
        </p:nvSpPr>
        <p:spPr>
          <a:xfrm>
            <a:off x="4901184" y="2002536"/>
            <a:ext cx="3429000" cy="219456"/>
          </a:xfrm>
          <a:prstGeom prst="rect">
            <a:avLst/>
          </a:prstGeom>
          <a:noFill/>
          <a:ln/>
        </p:spPr>
        <p:txBody>
          <a:bodyPr wrap="square" rtlCol="0" anchor="ctr"/>
          <a:lstStyle/>
          <a:p>
            <a:pPr marL="0" indent="0">
              <a:buNone/>
            </a:pPr>
            <a:r>
              <a:rPr lang="en-US" sz="1100" b="1" dirty="0">
                <a:solidFill>
                  <a:srgbClr val="245E3E"/>
                </a:solidFill>
                <a:latin typeface="Calibri" pitchFamily="34" charset="0"/>
                <a:ea typeface="Calibri" pitchFamily="34" charset="-122"/>
                <a:cs typeface="Calibri" pitchFamily="34" charset="-120"/>
              </a:rPr>
              <a:t>TIER 1 -ZERO-SHOT</a:t>
            </a:r>
            <a:endParaRPr lang="en-US" sz="1100" dirty="0"/>
          </a:p>
        </p:txBody>
      </p:sp>
      <p:sp>
        <p:nvSpPr>
          <p:cNvPr id="49" name="Text 47"/>
          <p:cNvSpPr/>
          <p:nvPr/>
        </p:nvSpPr>
        <p:spPr>
          <a:xfrm>
            <a:off x="4901184" y="2249424"/>
            <a:ext cx="3429000" cy="219456"/>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Fast, low-cost response</a:t>
            </a:r>
            <a:endParaRPr lang="en-US" sz="950" dirty="0"/>
          </a:p>
        </p:txBody>
      </p:sp>
      <p:sp>
        <p:nvSpPr>
          <p:cNvPr id="50" name="Text 48"/>
          <p:cNvSpPr/>
          <p:nvPr/>
        </p:nvSpPr>
        <p:spPr>
          <a:xfrm>
            <a:off x="6748272" y="2560320"/>
            <a:ext cx="164592" cy="109728"/>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51" name="Shape 49"/>
          <p:cNvSpPr/>
          <p:nvPr/>
        </p:nvSpPr>
        <p:spPr>
          <a:xfrm>
            <a:off x="4736592" y="2670048"/>
            <a:ext cx="4160520" cy="603504"/>
          </a:xfrm>
          <a:prstGeom prst="roundRect">
            <a:avLst>
              <a:gd name="adj" fmla="val 13636"/>
            </a:avLst>
          </a:prstGeom>
          <a:solidFill>
            <a:srgbClr val="EDEAE3"/>
          </a:solidFill>
          <a:ln w="12700">
            <a:solidFill>
              <a:srgbClr val="6E5200"/>
            </a:solidFill>
            <a:prstDash val="solid"/>
          </a:ln>
        </p:spPr>
        <p:txBody>
          <a:bodyPr/>
          <a:lstStyle/>
          <a:p>
            <a:endParaRPr lang="en-US"/>
          </a:p>
        </p:txBody>
      </p:sp>
      <p:sp>
        <p:nvSpPr>
          <p:cNvPr id="52" name="Shape 50"/>
          <p:cNvSpPr/>
          <p:nvPr/>
        </p:nvSpPr>
        <p:spPr>
          <a:xfrm>
            <a:off x="4864608" y="2761488"/>
            <a:ext cx="420624" cy="420624"/>
          </a:xfrm>
          <a:prstGeom prst="ellipse">
            <a:avLst/>
          </a:prstGeom>
          <a:solidFill>
            <a:srgbClr val="6E5200">
              <a:alpha val="22000"/>
            </a:srgbClr>
          </a:solidFill>
          <a:ln w="12700">
            <a:solidFill>
              <a:srgbClr val="6E5200"/>
            </a:solidFill>
            <a:prstDash val="solid"/>
          </a:ln>
        </p:spPr>
        <p:txBody>
          <a:bodyPr/>
          <a:lstStyle/>
          <a:p>
            <a:endParaRPr lang="en-US"/>
          </a:p>
        </p:txBody>
      </p:sp>
      <p:sp>
        <p:nvSpPr>
          <p:cNvPr id="53" name="Text 51"/>
          <p:cNvSpPr/>
          <p:nvPr/>
        </p:nvSpPr>
        <p:spPr>
          <a:xfrm>
            <a:off x="4864608" y="2761488"/>
            <a:ext cx="420624" cy="420624"/>
          </a:xfrm>
          <a:prstGeom prst="rect">
            <a:avLst/>
          </a:prstGeom>
          <a:noFill/>
          <a:ln/>
        </p:spPr>
        <p:txBody>
          <a:bodyPr wrap="square" rtlCol="0" anchor="ctr"/>
          <a:lstStyle/>
          <a:p>
            <a:pPr marL="0" indent="0" algn="ctr">
              <a:buNone/>
            </a:pPr>
            <a:r>
              <a:rPr lang="en-US" sz="1400" b="1" dirty="0">
                <a:solidFill>
                  <a:srgbClr val="6E5200"/>
                </a:solidFill>
                <a:latin typeface="Calibri" pitchFamily="34" charset="0"/>
                <a:ea typeface="Calibri" pitchFamily="34" charset="-122"/>
                <a:cs typeface="Calibri" pitchFamily="34" charset="-120"/>
              </a:rPr>
              <a:t>?</a:t>
            </a:r>
            <a:endParaRPr lang="en-US" sz="1400" dirty="0"/>
          </a:p>
        </p:txBody>
      </p:sp>
      <p:sp>
        <p:nvSpPr>
          <p:cNvPr id="54" name="Text 52"/>
          <p:cNvSpPr/>
          <p:nvPr/>
        </p:nvSpPr>
        <p:spPr>
          <a:xfrm>
            <a:off x="5358384" y="2734056"/>
            <a:ext cx="3429000" cy="219456"/>
          </a:xfrm>
          <a:prstGeom prst="rect">
            <a:avLst/>
          </a:prstGeom>
          <a:noFill/>
          <a:ln/>
        </p:spPr>
        <p:txBody>
          <a:bodyPr wrap="square" rtlCol="0" anchor="ctr"/>
          <a:lstStyle/>
          <a:p>
            <a:pPr marL="0" indent="0">
              <a:buNone/>
            </a:pPr>
            <a:r>
              <a:rPr lang="en-US" sz="1100" b="1" dirty="0">
                <a:solidFill>
                  <a:srgbClr val="6E5200"/>
                </a:solidFill>
                <a:latin typeface="Calibri" pitchFamily="34" charset="0"/>
                <a:ea typeface="Calibri" pitchFamily="34" charset="-122"/>
                <a:cs typeface="Calibri" pitchFamily="34" charset="-120"/>
              </a:rPr>
              <a:t>CONFIDENCE CHECK</a:t>
            </a:r>
            <a:endParaRPr lang="en-US" sz="1100" dirty="0"/>
          </a:p>
        </p:txBody>
      </p:sp>
      <p:sp>
        <p:nvSpPr>
          <p:cNvPr id="55" name="Text 53"/>
          <p:cNvSpPr/>
          <p:nvPr/>
        </p:nvSpPr>
        <p:spPr>
          <a:xfrm>
            <a:off x="5358384" y="2980944"/>
            <a:ext cx="3429000" cy="219456"/>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Score ≥ threshold?</a:t>
            </a:r>
            <a:endParaRPr lang="en-US" sz="950" dirty="0"/>
          </a:p>
        </p:txBody>
      </p:sp>
      <p:sp>
        <p:nvSpPr>
          <p:cNvPr id="56" name="Text 54"/>
          <p:cNvSpPr/>
          <p:nvPr/>
        </p:nvSpPr>
        <p:spPr>
          <a:xfrm>
            <a:off x="6748272" y="3291840"/>
            <a:ext cx="164592" cy="109728"/>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57" name="Shape 55"/>
          <p:cNvSpPr/>
          <p:nvPr/>
        </p:nvSpPr>
        <p:spPr>
          <a:xfrm>
            <a:off x="4736592" y="3401568"/>
            <a:ext cx="4160520" cy="603504"/>
          </a:xfrm>
          <a:prstGeom prst="roundRect">
            <a:avLst>
              <a:gd name="adj" fmla="val 13636"/>
            </a:avLst>
          </a:prstGeom>
          <a:solidFill>
            <a:srgbClr val="EDEAE3"/>
          </a:solidFill>
          <a:ln w="12700">
            <a:solidFill>
              <a:srgbClr val="3D7A58"/>
            </a:solidFill>
            <a:prstDash val="solid"/>
          </a:ln>
        </p:spPr>
        <p:txBody>
          <a:bodyPr/>
          <a:lstStyle/>
          <a:p>
            <a:endParaRPr lang="en-US"/>
          </a:p>
        </p:txBody>
      </p:sp>
      <p:sp>
        <p:nvSpPr>
          <p:cNvPr id="58" name="Shape 56"/>
          <p:cNvSpPr/>
          <p:nvPr/>
        </p:nvSpPr>
        <p:spPr>
          <a:xfrm>
            <a:off x="4736592" y="3483864"/>
            <a:ext cx="45720" cy="438912"/>
          </a:xfrm>
          <a:prstGeom prst="rect">
            <a:avLst/>
          </a:prstGeom>
          <a:solidFill>
            <a:srgbClr val="3D7A58"/>
          </a:solidFill>
          <a:ln w="12700">
            <a:solidFill>
              <a:srgbClr val="3D7A58"/>
            </a:solidFill>
            <a:prstDash val="solid"/>
          </a:ln>
        </p:spPr>
        <p:txBody>
          <a:bodyPr/>
          <a:lstStyle/>
          <a:p>
            <a:endParaRPr lang="en-US"/>
          </a:p>
        </p:txBody>
      </p:sp>
      <p:sp>
        <p:nvSpPr>
          <p:cNvPr id="59" name="Text 57"/>
          <p:cNvSpPr/>
          <p:nvPr/>
        </p:nvSpPr>
        <p:spPr>
          <a:xfrm>
            <a:off x="4901184" y="3465576"/>
            <a:ext cx="3429000" cy="219456"/>
          </a:xfrm>
          <a:prstGeom prst="rect">
            <a:avLst/>
          </a:prstGeom>
          <a:noFill/>
          <a:ln/>
        </p:spPr>
        <p:txBody>
          <a:bodyPr wrap="square" rtlCol="0" anchor="ctr"/>
          <a:lstStyle/>
          <a:p>
            <a:pPr marL="0" indent="0">
              <a:buNone/>
            </a:pPr>
            <a:r>
              <a:rPr lang="en-US" sz="1100" b="1" dirty="0">
                <a:solidFill>
                  <a:srgbClr val="3D7A58"/>
                </a:solidFill>
                <a:latin typeface="Calibri" pitchFamily="34" charset="0"/>
                <a:ea typeface="Calibri" pitchFamily="34" charset="-122"/>
                <a:cs typeface="Calibri" pitchFamily="34" charset="-120"/>
              </a:rPr>
              <a:t>YES → RETURN</a:t>
            </a:r>
            <a:endParaRPr lang="en-US" sz="1100" dirty="0"/>
          </a:p>
        </p:txBody>
      </p:sp>
      <p:sp>
        <p:nvSpPr>
          <p:cNvPr id="60" name="Text 58"/>
          <p:cNvSpPr/>
          <p:nvPr/>
        </p:nvSpPr>
        <p:spPr>
          <a:xfrm>
            <a:off x="4901184" y="3712464"/>
            <a:ext cx="3429000" cy="219456"/>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Cost-efficient path · done ✓</a:t>
            </a:r>
            <a:endParaRPr lang="en-US" sz="950" dirty="0"/>
          </a:p>
        </p:txBody>
      </p:sp>
      <p:sp>
        <p:nvSpPr>
          <p:cNvPr id="61" name="Text 59"/>
          <p:cNvSpPr/>
          <p:nvPr/>
        </p:nvSpPr>
        <p:spPr>
          <a:xfrm>
            <a:off x="6748272" y="4023360"/>
            <a:ext cx="164592" cy="109728"/>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a:t>
            </a:r>
            <a:endParaRPr lang="en-US" sz="900" dirty="0"/>
          </a:p>
        </p:txBody>
      </p:sp>
      <p:sp>
        <p:nvSpPr>
          <p:cNvPr id="62" name="Shape 60"/>
          <p:cNvSpPr/>
          <p:nvPr/>
        </p:nvSpPr>
        <p:spPr>
          <a:xfrm>
            <a:off x="4736592" y="4133088"/>
            <a:ext cx="4160520" cy="603504"/>
          </a:xfrm>
          <a:prstGeom prst="roundRect">
            <a:avLst>
              <a:gd name="adj" fmla="val 13636"/>
            </a:avLst>
          </a:prstGeom>
          <a:solidFill>
            <a:srgbClr val="EDEAE3"/>
          </a:solidFill>
          <a:ln w="12700">
            <a:solidFill>
              <a:srgbClr val="7A3020"/>
            </a:solidFill>
            <a:prstDash val="solid"/>
          </a:ln>
        </p:spPr>
        <p:txBody>
          <a:bodyPr/>
          <a:lstStyle/>
          <a:p>
            <a:endParaRPr lang="en-US"/>
          </a:p>
        </p:txBody>
      </p:sp>
      <p:sp>
        <p:nvSpPr>
          <p:cNvPr id="63" name="Shape 61"/>
          <p:cNvSpPr/>
          <p:nvPr/>
        </p:nvSpPr>
        <p:spPr>
          <a:xfrm>
            <a:off x="4736592" y="4215384"/>
            <a:ext cx="45720" cy="438912"/>
          </a:xfrm>
          <a:prstGeom prst="rect">
            <a:avLst/>
          </a:prstGeom>
          <a:solidFill>
            <a:srgbClr val="7A3020"/>
          </a:solidFill>
          <a:ln w="12700">
            <a:solidFill>
              <a:srgbClr val="7A3020"/>
            </a:solidFill>
            <a:prstDash val="solid"/>
          </a:ln>
        </p:spPr>
        <p:txBody>
          <a:bodyPr/>
          <a:lstStyle/>
          <a:p>
            <a:endParaRPr lang="en-US"/>
          </a:p>
        </p:txBody>
      </p:sp>
      <p:sp>
        <p:nvSpPr>
          <p:cNvPr id="64" name="Text 62"/>
          <p:cNvSpPr/>
          <p:nvPr/>
        </p:nvSpPr>
        <p:spPr>
          <a:xfrm>
            <a:off x="4901184" y="4197096"/>
            <a:ext cx="3429000" cy="219456"/>
          </a:xfrm>
          <a:prstGeom prst="rect">
            <a:avLst/>
          </a:prstGeom>
          <a:noFill/>
          <a:ln/>
        </p:spPr>
        <p:txBody>
          <a:bodyPr wrap="square" rtlCol="0" anchor="ctr"/>
          <a:lstStyle/>
          <a:p>
            <a:pPr marL="0" indent="0">
              <a:buNone/>
            </a:pPr>
            <a:r>
              <a:rPr lang="en-US" sz="1100" b="1" dirty="0">
                <a:solidFill>
                  <a:srgbClr val="7A3020"/>
                </a:solidFill>
                <a:latin typeface="Calibri" pitchFamily="34" charset="0"/>
                <a:ea typeface="Calibri" pitchFamily="34" charset="-122"/>
                <a:cs typeface="Calibri" pitchFamily="34" charset="-120"/>
              </a:rPr>
              <a:t>NO → TIER 2 (CoT)</a:t>
            </a:r>
            <a:endParaRPr lang="en-US" sz="1100" dirty="0"/>
          </a:p>
        </p:txBody>
      </p:sp>
      <p:sp>
        <p:nvSpPr>
          <p:cNvPr id="65" name="Text 63"/>
          <p:cNvSpPr/>
          <p:nvPr/>
        </p:nvSpPr>
        <p:spPr>
          <a:xfrm>
            <a:off x="4901184" y="4443984"/>
            <a:ext cx="3429000" cy="219456"/>
          </a:xfrm>
          <a:prstGeom prst="rect">
            <a:avLst/>
          </a:prstGeom>
          <a:noFill/>
          <a:ln/>
        </p:spPr>
        <p:txBody>
          <a:bodyPr wrap="square" rtlCol="0" anchor="ctr"/>
          <a:lstStyle/>
          <a:p>
            <a:pPr marL="0" indent="0">
              <a:buNone/>
            </a:pPr>
            <a:r>
              <a:rPr lang="en-US" sz="950" dirty="0">
                <a:solidFill>
                  <a:srgbClr val="6E6760"/>
                </a:solidFill>
                <a:latin typeface="Calibri" pitchFamily="34" charset="0"/>
                <a:ea typeface="Calibri" pitchFamily="34" charset="-122"/>
                <a:cs typeface="Calibri" pitchFamily="34" charset="-120"/>
              </a:rPr>
              <a:t>Full reasoning chain · accurate</a:t>
            </a:r>
            <a:endParaRPr lang="en-US" sz="950" dirty="0"/>
          </a:p>
        </p:txBody>
      </p:sp>
      <p:sp>
        <p:nvSpPr>
          <p:cNvPr id="66" name="Text 64"/>
          <p:cNvSpPr/>
          <p:nvPr/>
        </p:nvSpPr>
        <p:spPr>
          <a:xfrm>
            <a:off x="4736592" y="4864608"/>
            <a:ext cx="4160520" cy="201168"/>
          </a:xfrm>
          <a:prstGeom prst="rect">
            <a:avLst/>
          </a:prstGeom>
          <a:noFill/>
          <a:ln/>
        </p:spPr>
        <p:txBody>
          <a:bodyPr wrap="square" rtlCol="0" anchor="ctr"/>
          <a:lstStyle/>
          <a:p>
            <a:pPr marL="0" indent="0">
              <a:buNone/>
            </a:pPr>
            <a:r>
              <a:rPr lang="en-US" sz="800" i="1" dirty="0">
                <a:solidFill>
                  <a:srgbClr val="9A9590"/>
                </a:solidFill>
                <a:latin typeface="Calibri" pitchFamily="34" charset="0"/>
                <a:ea typeface="Calibri" pitchFamily="34" charset="-122"/>
                <a:cs typeface="Calibri" pitchFamily="34" charset="-120"/>
              </a:rPr>
              <a:t>Confidence threshold is a tunable accuracy ↔ cost dial for practitioners</a:t>
            </a:r>
            <a:endParaRPr lang="en-US" sz="8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9" presetID="10" presetClass="entr" presetSubtype="0" fill="hold" grpId="0" nodeType="clickEffect">
                            <p:stCondLst>
                              <p:cond delay="0"/>
                            </p:stCondLst>
                            <p:childTnLst>
                              <p:animEffect transition="in" filter="fade">
                                <p:cBhvr>
                                  <p:cTn id="50001" dur="350"/>
                                  <p:tgtEl>
                                    <p:spTgt spid="19"/>
                                  </p:tgtEl>
                                </p:cBhvr>
                              </p:animEffect>
                              <p:animEffect transition="in" filter="fade">
                                <p:cBhvr>
                                  <p:cTn id="50002" dur="350"/>
                                  <p:tgtEl>
                                    <p:spTgt spid="2"/>
                                  </p:tgtEl>
                                </p:cBhvr>
                              </p:animEffect>
                              <p:animEffect transition="in" filter="fade">
                                <p:cBhvr>
                                  <p:cTn id="50003" dur="350"/>
                                  <p:tgtEl>
                                    <p:spTgt spid="5"/>
                                  </p:tgtEl>
                                </p:cBhvr>
                              </p:animEffect>
                              <p:animEffect transition="in" filter="fade">
                                <p:cBhvr>
                                  <p:cTn id="50004" dur="350"/>
                                  <p:tgtEl>
                                    <p:spTgt spid="6"/>
                                  </p:tgtEl>
                                </p:cBhvr>
                              </p:animEffect>
                              <p:animEffect transition="in" filter="fade">
                                <p:cBhvr>
                                  <p:cTn id="50005" dur="350"/>
                                  <p:tgtEl>
                                    <p:spTgt spid="20"/>
                                  </p:tgtEl>
                                </p:cBhvr>
                              </p:animEffect>
                              <p:animEffect transition="in" filter="fade">
                                <p:cBhvr>
                                  <p:cTn id="50006" dur="350"/>
                                  <p:tgtEl>
                                    <p:spTgt spid="21"/>
                                  </p:tgtEl>
                                </p:cBhvr>
                              </p:animEffect>
                              <p:animEffect transition="in" filter="fade">
                                <p:cBhvr>
                                  <p:cTn id="50007" dur="350"/>
                                  <p:tgtEl>
                                    <p:spTgt spid="22"/>
                                  </p:tgtEl>
                                </p:cBhvr>
                              </p:animEffect>
                              <p:animEffect transition="in" filter="fade">
                                <p:cBhvr>
                                  <p:cTn id="50008" dur="350"/>
                                  <p:tgtEl>
                                    <p:spTgt spid="23"/>
                                  </p:tgtEl>
                                </p:cBhvr>
                              </p:animEffect>
                            </p:childTnLst>
                          </p:cTn>
                        </p:par>
                      </p:childTnLst>
                    </p:cTn>
                  </p:par>
                  <p:par>
                    <p:cTn id="50100" fill="hold">
                      <p:stCondLst>
                        <p:cond delay="450"/>
                      </p:stCondLst>
                      <p:childTnLst>
                        <p:par>
                          <p:cTn id="50118" presetID="10" presetClass="entr" presetSubtype="0" fill="hold" grpId="1" nodeType="withEffect">
                            <p:stCondLst>
                              <p:cond delay="0"/>
                            </p:stCondLst>
                            <p:childTnLst>
                              <p:animEffect transition="in" filter="fade">
                                <p:cBhvr>
                                  <p:cTn id="50101" dur="350"/>
                                  <p:tgtEl>
                                    <p:spTgt spid="36"/>
                                  </p:tgtEl>
                                </p:cBhvr>
                              </p:animEffect>
                              <p:animEffect transition="in" filter="fade">
                                <p:cBhvr>
                                  <p:cTn id="50102" dur="350"/>
                                  <p:tgtEl>
                                    <p:spTgt spid="9"/>
                                  </p:tgtEl>
                                </p:cBhvr>
                              </p:animEffect>
                              <p:animEffect transition="in" filter="fade">
                                <p:cBhvr>
                                  <p:cTn id="50103" dur="350"/>
                                  <p:tgtEl>
                                    <p:spTgt spid="10"/>
                                  </p:tgtEl>
                                </p:cBhvr>
                              </p:animEffect>
                              <p:animEffect transition="in" filter="fade">
                                <p:cBhvr>
                                  <p:cTn id="50104" dur="350"/>
                                  <p:tgtEl>
                                    <p:spTgt spid="11"/>
                                  </p:tgtEl>
                                </p:cBhvr>
                              </p:animEffect>
                              <p:animEffect transition="in" filter="fade">
                                <p:cBhvr>
                                  <p:cTn id="50105" dur="350"/>
                                  <p:tgtEl>
                                    <p:spTgt spid="12"/>
                                  </p:tgtEl>
                                </p:cBhvr>
                              </p:animEffect>
                              <p:animEffect transition="in" filter="fade">
                                <p:cBhvr>
                                  <p:cTn id="50106" dur="350"/>
                                  <p:tgtEl>
                                    <p:spTgt spid="18"/>
                                  </p:tgtEl>
                                </p:cBhvr>
                              </p:animEffect>
                              <p:animEffect transition="in" filter="fade">
                                <p:cBhvr>
                                  <p:cTn id="50107" dur="350"/>
                                  <p:tgtEl>
                                    <p:spTgt spid="24"/>
                                  </p:tgtEl>
                                </p:cBhvr>
                              </p:animEffect>
                              <p:animEffect transition="in" filter="fade">
                                <p:cBhvr>
                                  <p:cTn id="50108" dur="350"/>
                                  <p:tgtEl>
                                    <p:spTgt spid="30"/>
                                  </p:tgtEl>
                                </p:cBhvr>
                              </p:animEffect>
                              <p:animEffect transition="in" filter="fade">
                                <p:cBhvr>
                                  <p:cTn id="50109" dur="350"/>
                                  <p:tgtEl>
                                    <p:spTgt spid="3"/>
                                  </p:tgtEl>
                                </p:cBhvr>
                              </p:animEffect>
                              <p:animEffect transition="in" filter="fade">
                                <p:cBhvr>
                                  <p:cTn id="50110" dur="350"/>
                                  <p:tgtEl>
                                    <p:spTgt spid="38"/>
                                  </p:tgtEl>
                                </p:cBhvr>
                              </p:animEffect>
                              <p:animEffect transition="in" filter="fade">
                                <p:cBhvr>
                                  <p:cTn id="50111" dur="350"/>
                                  <p:tgtEl>
                                    <p:spTgt spid="39"/>
                                  </p:tgtEl>
                                </p:cBhvr>
                              </p:animEffect>
                              <p:animEffect transition="in" filter="fade">
                                <p:cBhvr>
                                  <p:cTn id="50112" dur="350"/>
                                  <p:tgtEl>
                                    <p:spTgt spid="40"/>
                                  </p:tgtEl>
                                </p:cBhvr>
                              </p:animEffect>
                              <p:animEffect transition="in" filter="fade">
                                <p:cBhvr>
                                  <p:cTn id="50113" dur="350"/>
                                  <p:tgtEl>
                                    <p:spTgt spid="66"/>
                                  </p:tgtEl>
                                </p:cBhvr>
                              </p:animEffect>
                              <p:animEffect transition="in" filter="fade">
                                <p:cBhvr>
                                  <p:cTn id="50114" dur="350"/>
                                  <p:tgtEl>
                                    <p:spTgt spid="45"/>
                                  </p:tgtEl>
                                </p:cBhvr>
                              </p:animEffect>
                              <p:animEffect transition="in" filter="fade">
                                <p:cBhvr>
                                  <p:cTn id="50115" dur="350"/>
                                  <p:tgtEl>
                                    <p:spTgt spid="50"/>
                                  </p:tgtEl>
                                </p:cBhvr>
                              </p:animEffect>
                              <p:animEffect transition="in" filter="fade">
                                <p:cBhvr>
                                  <p:cTn id="50116" dur="350"/>
                                  <p:tgtEl>
                                    <p:spTgt spid="56"/>
                                  </p:tgtEl>
                                </p:cBhvr>
                              </p:animEffect>
                              <p:animEffect transition="in" filter="fade">
                                <p:cBhvr>
                                  <p:cTn id="50117" dur="350"/>
                                  <p:tgtEl>
                                    <p:spTgt spid="61"/>
                                  </p:tgtEl>
                                </p:cBhvr>
                              </p:animEffect>
                            </p:childTnLst>
                          </p:cTn>
                        </p:par>
                      </p:childTnLst>
                    </p:cTn>
                  </p:par>
                  <p:par>
                    <p:cTn id="50200" fill="hold">
                      <p:stCondLst>
                        <p:cond delay="550"/>
                      </p:stCondLst>
                      <p:childTnLst>
                        <p:par>
                          <p:cTn id="50205" presetID="10" presetClass="entr" presetSubtype="0" fill="hold" grpId="2" nodeType="withEffect">
                            <p:stCondLst>
                              <p:cond delay="0"/>
                            </p:stCondLst>
                            <p:childTnLst>
                              <p:animEffect transition="in" filter="fade">
                                <p:cBhvr>
                                  <p:cTn id="50201" dur="350"/>
                                  <p:tgtEl>
                                    <p:spTgt spid="41"/>
                                  </p:tgtEl>
                                </p:cBhvr>
                              </p:animEffect>
                              <p:animEffect transition="in" filter="fade">
                                <p:cBhvr>
                                  <p:cTn id="50202" dur="350"/>
                                  <p:tgtEl>
                                    <p:spTgt spid="42"/>
                                  </p:tgtEl>
                                </p:cBhvr>
                              </p:animEffect>
                              <p:animEffect transition="in" filter="fade">
                                <p:cBhvr>
                                  <p:cTn id="50203" dur="350"/>
                                  <p:tgtEl>
                                    <p:spTgt spid="43"/>
                                  </p:tgtEl>
                                </p:cBhvr>
                              </p:animEffect>
                              <p:animEffect transition="in" filter="fade">
                                <p:cBhvr>
                                  <p:cTn id="50204" dur="350"/>
                                  <p:tgtEl>
                                    <p:spTgt spid="44"/>
                                  </p:tgtEl>
                                </p:cBhvr>
                              </p:animEffect>
                            </p:childTnLst>
                          </p:cTn>
                        </p:par>
                      </p:childTnLst>
                    </p:cTn>
                  </p:par>
                  <p:par>
                    <p:cTn id="50300" fill="hold">
                      <p:stCondLst>
                        <p:cond delay="650"/>
                      </p:stCondLst>
                      <p:childTnLst>
                        <p:par>
                          <p:cTn id="50306" presetID="10" presetClass="entr" presetSubtype="0" fill="hold" grpId="3" nodeType="withEffect">
                            <p:stCondLst>
                              <p:cond delay="0"/>
                            </p:stCondLst>
                            <p:childTnLst>
                              <p:animEffect transition="in" filter="fade">
                                <p:cBhvr>
                                  <p:cTn id="50301" dur="350"/>
                                  <p:tgtEl>
                                    <p:spTgt spid="13"/>
                                  </p:tgtEl>
                                </p:cBhvr>
                              </p:animEffect>
                              <p:animEffect transition="in" filter="fade">
                                <p:cBhvr>
                                  <p:cTn id="50302" dur="350"/>
                                  <p:tgtEl>
                                    <p:spTgt spid="14"/>
                                  </p:tgtEl>
                                </p:cBhvr>
                              </p:animEffect>
                              <p:animEffect transition="in" filter="fade">
                                <p:cBhvr>
                                  <p:cTn id="50303" dur="350"/>
                                  <p:tgtEl>
                                    <p:spTgt spid="15"/>
                                  </p:tgtEl>
                                </p:cBhvr>
                              </p:animEffect>
                              <p:animEffect transition="in" filter="fade">
                                <p:cBhvr>
                                  <p:cTn id="50304" dur="350"/>
                                  <p:tgtEl>
                                    <p:spTgt spid="16"/>
                                  </p:tgtEl>
                                </p:cBhvr>
                              </p:animEffect>
                              <p:animEffect transition="in" filter="fade">
                                <p:cBhvr>
                                  <p:cTn id="50305" dur="350"/>
                                  <p:tgtEl>
                                    <p:spTgt spid="17"/>
                                  </p:tgtEl>
                                </p:cBhvr>
                              </p:animEffect>
                            </p:childTnLst>
                          </p:cTn>
                        </p:par>
                      </p:childTnLst>
                    </p:cTn>
                  </p:par>
                  <p:par>
                    <p:cTn id="50400" fill="hold">
                      <p:stCondLst>
                        <p:cond delay="750"/>
                      </p:stCondLst>
                      <p:childTnLst>
                        <p:par>
                          <p:cTn id="50408" presetID="10" presetClass="entr" presetSubtype="0" fill="hold" grpId="4" nodeType="withEffect">
                            <p:stCondLst>
                              <p:cond delay="0"/>
                            </p:stCondLst>
                            <p:childTnLst>
                              <p:animEffect transition="in" filter="fade">
                                <p:cBhvr>
                                  <p:cTn id="50401" dur="350"/>
                                  <p:tgtEl>
                                    <p:spTgt spid="51"/>
                                  </p:tgtEl>
                                </p:cBhvr>
                              </p:animEffect>
                              <p:animEffect transition="in" filter="fade">
                                <p:cBhvr>
                                  <p:cTn id="50402" dur="350"/>
                                  <p:tgtEl>
                                    <p:spTgt spid="7"/>
                                  </p:tgtEl>
                                </p:cBhvr>
                              </p:animEffect>
                              <p:animEffect transition="in" filter="fade">
                                <p:cBhvr>
                                  <p:cTn id="50403" dur="350"/>
                                  <p:tgtEl>
                                    <p:spTgt spid="8"/>
                                  </p:tgtEl>
                                </p:cBhvr>
                              </p:animEffect>
                              <p:animEffect transition="in" filter="fade">
                                <p:cBhvr>
                                  <p:cTn id="50404" dur="350"/>
                                  <p:tgtEl>
                                    <p:spTgt spid="52"/>
                                  </p:tgtEl>
                                </p:cBhvr>
                              </p:animEffect>
                              <p:animEffect transition="in" filter="fade">
                                <p:cBhvr>
                                  <p:cTn id="50405" dur="350"/>
                                  <p:tgtEl>
                                    <p:spTgt spid="53"/>
                                  </p:tgtEl>
                                </p:cBhvr>
                              </p:animEffect>
                              <p:animEffect transition="in" filter="fade">
                                <p:cBhvr>
                                  <p:cTn id="50406" dur="350"/>
                                  <p:tgtEl>
                                    <p:spTgt spid="54"/>
                                  </p:tgtEl>
                                </p:cBhvr>
                              </p:animEffect>
                              <p:animEffect transition="in" filter="fade">
                                <p:cBhvr>
                                  <p:cTn id="50407" dur="350"/>
                                  <p:tgtEl>
                                    <p:spTgt spid="55"/>
                                  </p:tgtEl>
                                </p:cBhvr>
                              </p:animEffect>
                            </p:childTnLst>
                          </p:cTn>
                        </p:par>
                      </p:childTnLst>
                    </p:cTn>
                  </p:par>
                  <p:par>
                    <p:cTn id="50500" fill="hold">
                      <p:stCondLst>
                        <p:cond delay="850"/>
                      </p:stCondLst>
                      <p:childTnLst>
                        <p:par>
                          <p:cTn id="50505" presetID="10" presetClass="entr" presetSubtype="0" fill="hold" grpId="5" nodeType="withEffect">
                            <p:stCondLst>
                              <p:cond delay="0"/>
                            </p:stCondLst>
                            <p:childTnLst>
                              <p:animEffect transition="in" filter="fade">
                                <p:cBhvr>
                                  <p:cTn id="50501" dur="350"/>
                                  <p:tgtEl>
                                    <p:spTgt spid="46"/>
                                  </p:tgtEl>
                                </p:cBhvr>
                              </p:animEffect>
                              <p:animEffect transition="in" filter="fade">
                                <p:cBhvr>
                                  <p:cTn id="50502" dur="350"/>
                                  <p:tgtEl>
                                    <p:spTgt spid="47"/>
                                  </p:tgtEl>
                                </p:cBhvr>
                              </p:animEffect>
                              <p:animEffect transition="in" filter="fade">
                                <p:cBhvr>
                                  <p:cTn id="50503" dur="350"/>
                                  <p:tgtEl>
                                    <p:spTgt spid="48"/>
                                  </p:tgtEl>
                                </p:cBhvr>
                              </p:animEffect>
                              <p:animEffect transition="in" filter="fade">
                                <p:cBhvr>
                                  <p:cTn id="50504" dur="350"/>
                                  <p:tgtEl>
                                    <p:spTgt spid="49"/>
                                  </p:tgtEl>
                                </p:cBhvr>
                              </p:animEffect>
                            </p:childTnLst>
                          </p:cTn>
                        </p:par>
                      </p:childTnLst>
                    </p:cTn>
                  </p:par>
                  <p:par>
                    <p:cTn id="50600" fill="hold">
                      <p:stCondLst>
                        <p:cond delay="950"/>
                      </p:stCondLst>
                      <p:childTnLst>
                        <p:par>
                          <p:cTn id="50606" presetID="10" presetClass="entr" presetSubtype="0" fill="hold" grpId="6" nodeType="withEffect">
                            <p:stCondLst>
                              <p:cond delay="0"/>
                            </p:stCondLst>
                            <p:childTnLst>
                              <p:animEffect transition="in" filter="fade">
                                <p:cBhvr>
                                  <p:cTn id="50601" dur="350"/>
                                  <p:tgtEl>
                                    <p:spTgt spid="25"/>
                                  </p:tgtEl>
                                </p:cBhvr>
                              </p:animEffect>
                              <p:animEffect transition="in" filter="fade">
                                <p:cBhvr>
                                  <p:cTn id="50602" dur="350"/>
                                  <p:tgtEl>
                                    <p:spTgt spid="26"/>
                                  </p:tgtEl>
                                </p:cBhvr>
                              </p:animEffect>
                              <p:animEffect transition="in" filter="fade">
                                <p:cBhvr>
                                  <p:cTn id="50603" dur="350"/>
                                  <p:tgtEl>
                                    <p:spTgt spid="27"/>
                                  </p:tgtEl>
                                </p:cBhvr>
                              </p:animEffect>
                              <p:animEffect transition="in" filter="fade">
                                <p:cBhvr>
                                  <p:cTn id="50604" dur="350"/>
                                  <p:tgtEl>
                                    <p:spTgt spid="28"/>
                                  </p:tgtEl>
                                </p:cBhvr>
                              </p:animEffect>
                              <p:animEffect transition="in" filter="fade">
                                <p:cBhvr>
                                  <p:cTn id="50605" dur="350"/>
                                  <p:tgtEl>
                                    <p:spTgt spid="29"/>
                                  </p:tgtEl>
                                </p:cBhvr>
                              </p:animEffect>
                            </p:childTnLst>
                          </p:cTn>
                        </p:par>
                      </p:childTnLst>
                    </p:cTn>
                  </p:par>
                  <p:par>
                    <p:cTn id="50700" fill="hold">
                      <p:stCondLst>
                        <p:cond delay="1050"/>
                      </p:stCondLst>
                      <p:childTnLst>
                        <p:par>
                          <p:cTn id="50705" presetID="10" presetClass="entr" presetSubtype="0" fill="hold" grpId="7" nodeType="withEffect">
                            <p:stCondLst>
                              <p:cond delay="0"/>
                            </p:stCondLst>
                            <p:childTnLst>
                              <p:animEffect transition="in" filter="fade">
                                <p:cBhvr>
                                  <p:cTn id="50701" dur="350"/>
                                  <p:tgtEl>
                                    <p:spTgt spid="57"/>
                                  </p:tgtEl>
                                </p:cBhvr>
                              </p:animEffect>
                              <p:animEffect transition="in" filter="fade">
                                <p:cBhvr>
                                  <p:cTn id="50702" dur="350"/>
                                  <p:tgtEl>
                                    <p:spTgt spid="58"/>
                                  </p:tgtEl>
                                </p:cBhvr>
                              </p:animEffect>
                              <p:animEffect transition="in" filter="fade">
                                <p:cBhvr>
                                  <p:cTn id="50703" dur="350"/>
                                  <p:tgtEl>
                                    <p:spTgt spid="59"/>
                                  </p:tgtEl>
                                </p:cBhvr>
                              </p:animEffect>
                              <p:animEffect transition="in" filter="fade">
                                <p:cBhvr>
                                  <p:cTn id="50704" dur="350"/>
                                  <p:tgtEl>
                                    <p:spTgt spid="60"/>
                                  </p:tgtEl>
                                </p:cBhvr>
                              </p:animEffect>
                            </p:childTnLst>
                          </p:cTn>
                        </p:par>
                      </p:childTnLst>
                    </p:cTn>
                  </p:par>
                  <p:par>
                    <p:cTn id="50800" fill="hold">
                      <p:stCondLst>
                        <p:cond delay="1150"/>
                      </p:stCondLst>
                      <p:childTnLst>
                        <p:par>
                          <p:cTn id="50806" presetID="10" presetClass="entr" presetSubtype="0" fill="hold" grpId="8" nodeType="withEffect">
                            <p:stCondLst>
                              <p:cond delay="0"/>
                            </p:stCondLst>
                            <p:childTnLst>
                              <p:animEffect transition="in" filter="fade">
                                <p:cBhvr>
                                  <p:cTn id="50801" dur="350"/>
                                  <p:tgtEl>
                                    <p:spTgt spid="31"/>
                                  </p:tgtEl>
                                </p:cBhvr>
                              </p:animEffect>
                              <p:animEffect transition="in" filter="fade">
                                <p:cBhvr>
                                  <p:cTn id="50802" dur="350"/>
                                  <p:tgtEl>
                                    <p:spTgt spid="32"/>
                                  </p:tgtEl>
                                </p:cBhvr>
                              </p:animEffect>
                              <p:animEffect transition="in" filter="fade">
                                <p:cBhvr>
                                  <p:cTn id="50803" dur="350"/>
                                  <p:tgtEl>
                                    <p:spTgt spid="33"/>
                                  </p:tgtEl>
                                </p:cBhvr>
                              </p:animEffect>
                              <p:animEffect transition="in" filter="fade">
                                <p:cBhvr>
                                  <p:cTn id="50804" dur="350"/>
                                  <p:tgtEl>
                                    <p:spTgt spid="34"/>
                                  </p:tgtEl>
                                </p:cBhvr>
                              </p:animEffect>
                              <p:animEffect transition="in" filter="fade">
                                <p:cBhvr>
                                  <p:cTn id="50805" dur="350"/>
                                  <p:tgtEl>
                                    <p:spTgt spid="35"/>
                                  </p:tgtEl>
                                </p:cBhvr>
                              </p:animEffect>
                            </p:childTnLst>
                          </p:cTn>
                        </p:par>
                      </p:childTnLst>
                    </p:cTn>
                  </p:par>
                  <p:par>
                    <p:cTn id="50900" fill="hold">
                      <p:stCondLst>
                        <p:cond delay="1250"/>
                      </p:stCondLst>
                      <p:childTnLst>
                        <p:par>
                          <p:cTn id="50905" presetID="10" presetClass="entr" presetSubtype="0" fill="hold" grpId="9" nodeType="withEffect">
                            <p:stCondLst>
                              <p:cond delay="0"/>
                            </p:stCondLst>
                            <p:childTnLst>
                              <p:animEffect transition="in" filter="fade">
                                <p:cBhvr>
                                  <p:cTn id="50901" dur="350"/>
                                  <p:tgtEl>
                                    <p:spTgt spid="62"/>
                                  </p:tgtEl>
                                </p:cBhvr>
                              </p:animEffect>
                              <p:animEffect transition="in" filter="fade">
                                <p:cBhvr>
                                  <p:cTn id="50902" dur="350"/>
                                  <p:tgtEl>
                                    <p:spTgt spid="63"/>
                                  </p:tgtEl>
                                </p:cBhvr>
                              </p:animEffect>
                              <p:animEffect transition="in" filter="fade">
                                <p:cBhvr>
                                  <p:cTn id="50903" dur="350"/>
                                  <p:tgtEl>
                                    <p:spTgt spid="64"/>
                                  </p:tgtEl>
                                </p:cBhvr>
                              </p:animEffect>
                              <p:animEffect transition="in" filter="fade">
                                <p:cBhvr>
                                  <p:cTn id="50904" dur="350"/>
                                  <p:tgtEl>
                                    <p:spTgt spid="6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 grpId="0" animBg="1"/>
      <p:bldP spid="5" grpId="0" animBg="1"/>
      <p:bldP spid="6" grpId="0" animBg="1"/>
      <p:bldP spid="20" grpId="0" animBg="1"/>
      <p:bldP spid="21" grpId="0" animBg="1"/>
      <p:bldP spid="22" grpId="0" animBg="1"/>
      <p:bldP spid="23" grpId="0" animBg="1"/>
      <p:bldP spid="36" grpId="1" animBg="1"/>
      <p:bldP spid="9" grpId="1" animBg="1"/>
      <p:bldP spid="10" grpId="1" animBg="1"/>
      <p:bldP spid="11" grpId="1" animBg="1"/>
      <p:bldP spid="12" grpId="1" animBg="1"/>
      <p:bldP spid="18" grpId="1" animBg="1"/>
      <p:bldP spid="24" grpId="1" animBg="1"/>
      <p:bldP spid="30" grpId="1" animBg="1"/>
      <p:bldP spid="3" grpId="1" animBg="1"/>
      <p:bldP spid="38" grpId="1" animBg="1"/>
      <p:bldP spid="39" grpId="1" animBg="1"/>
      <p:bldP spid="40" grpId="1" animBg="1"/>
      <p:bldP spid="66" grpId="1" animBg="1"/>
      <p:bldP spid="45" grpId="1" animBg="1"/>
      <p:bldP spid="50" grpId="1" animBg="1"/>
      <p:bldP spid="56" grpId="1" animBg="1"/>
      <p:bldP spid="61" grpId="1" animBg="1"/>
      <p:bldP spid="41" grpId="2" animBg="1"/>
      <p:bldP spid="42" grpId="2" animBg="1"/>
      <p:bldP spid="43" grpId="2" animBg="1"/>
      <p:bldP spid="44" grpId="2" animBg="1"/>
      <p:bldP spid="13" grpId="3" animBg="1"/>
      <p:bldP spid="14" grpId="3" animBg="1"/>
      <p:bldP spid="15" grpId="3" animBg="1"/>
      <p:bldP spid="16" grpId="3" animBg="1"/>
      <p:bldP spid="17" grpId="3" animBg="1"/>
      <p:bldP spid="51" grpId="4" animBg="1"/>
      <p:bldP spid="7" grpId="4" animBg="1"/>
      <p:bldP spid="8" grpId="4" animBg="1"/>
      <p:bldP spid="52" grpId="4" animBg="1"/>
      <p:bldP spid="53" grpId="4" animBg="1"/>
      <p:bldP spid="54" grpId="4" animBg="1"/>
      <p:bldP spid="55" grpId="4" animBg="1"/>
      <p:bldP spid="46" grpId="5" animBg="1"/>
      <p:bldP spid="47" grpId="5" animBg="1"/>
      <p:bldP spid="48" grpId="5" animBg="1"/>
      <p:bldP spid="49" grpId="5" animBg="1"/>
      <p:bldP spid="25" grpId="6" animBg="1"/>
      <p:bldP spid="26" grpId="6" animBg="1"/>
      <p:bldP spid="27" grpId="6" animBg="1"/>
      <p:bldP spid="28" grpId="6" animBg="1"/>
      <p:bldP spid="29" grpId="6" animBg="1"/>
      <p:bldP spid="57" grpId="7" animBg="1"/>
      <p:bldP spid="58" grpId="7" animBg="1"/>
      <p:bldP spid="59" grpId="7" animBg="1"/>
      <p:bldP spid="60" grpId="7" animBg="1"/>
      <p:bldP spid="31" grpId="8" animBg="1"/>
      <p:bldP spid="32" grpId="8" animBg="1"/>
      <p:bldP spid="33" grpId="8" animBg="1"/>
      <p:bldP spid="34" grpId="8" animBg="1"/>
      <p:bldP spid="35" grpId="8" animBg="1"/>
      <p:bldP spid="62" grpId="9" animBg="1"/>
      <p:bldP spid="63" grpId="9" animBg="1"/>
      <p:bldP spid="64" grpId="9" animBg="1"/>
      <p:bldP spid="65" grpId="9"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0" y="0"/>
            <a:ext cx="64008" cy="5143500"/>
          </a:xfrm>
          <a:prstGeom prst="rect">
            <a:avLst/>
          </a:prstGeom>
          <a:solidFill>
            <a:srgbClr val="245E3E"/>
          </a:solidFill>
          <a:ln w="12700">
            <a:solidFill>
              <a:srgbClr val="245E3E"/>
            </a:solidFill>
            <a:prstDash val="solid"/>
          </a:ln>
        </p:spPr>
        <p:txBody>
          <a:bodyPr/>
          <a:lstStyle/>
          <a:p>
            <a:endParaRPr lang="en-US"/>
          </a:p>
        </p:txBody>
      </p:sp>
      <p:sp>
        <p:nvSpPr>
          <p:cNvPr id="4" name="Shape 2"/>
          <p:cNvSpPr/>
          <p:nvPr/>
        </p:nvSpPr>
        <p:spPr>
          <a:xfrm>
            <a:off x="2286000" y="-457200"/>
            <a:ext cx="4572000" cy="4572000"/>
          </a:xfrm>
          <a:prstGeom prst="ellipse">
            <a:avLst/>
          </a:prstGeom>
          <a:solidFill>
            <a:srgbClr val="2A4875">
              <a:alpha val="7000"/>
            </a:srgbClr>
          </a:solidFill>
          <a:ln w="12700">
            <a:solidFill>
              <a:srgbClr val="F7F5F0"/>
            </a:solidFill>
            <a:prstDash val="solid"/>
          </a:ln>
        </p:spPr>
        <p:txBody>
          <a:bodyPr/>
          <a:lstStyle/>
          <a:p>
            <a:endParaRPr lang="en-US"/>
          </a:p>
        </p:txBody>
      </p:sp>
      <p:sp>
        <p:nvSpPr>
          <p:cNvPr id="5" name="Shape 3"/>
          <p:cNvSpPr/>
          <p:nvPr/>
        </p:nvSpPr>
        <p:spPr>
          <a:xfrm>
            <a:off x="3429000" y="685800"/>
            <a:ext cx="2286000" cy="2286000"/>
          </a:xfrm>
          <a:prstGeom prst="ellipse">
            <a:avLst/>
          </a:prstGeom>
          <a:solidFill>
            <a:srgbClr val="2A4875">
              <a:alpha val="14000"/>
            </a:srgbClr>
          </a:solidFill>
          <a:ln w="12700">
            <a:solidFill>
              <a:srgbClr val="F7F5F0"/>
            </a:solidFill>
            <a:prstDash val="solid"/>
          </a:ln>
        </p:spPr>
        <p:txBody>
          <a:bodyPr/>
          <a:lstStyle/>
          <a:p>
            <a:endParaRPr lang="en-US"/>
          </a:p>
        </p:txBody>
      </p:sp>
      <p:sp>
        <p:nvSpPr>
          <p:cNvPr id="6" name="Text 4"/>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245E3E"/>
                </a:solidFill>
                <a:latin typeface="Calibri" pitchFamily="34" charset="0"/>
                <a:ea typeface="Calibri" pitchFamily="34" charset="-122"/>
                <a:cs typeface="Calibri" pitchFamily="34" charset="-120"/>
              </a:rPr>
              <a:t>CROSS-TASK FINDINGS</a:t>
            </a:r>
            <a:endParaRPr lang="en-US" sz="900" dirty="0"/>
          </a:p>
        </p:txBody>
      </p:sp>
      <p:sp>
        <p:nvSpPr>
          <p:cNvPr id="7" name="Text 5"/>
          <p:cNvSpPr/>
          <p:nvPr/>
        </p:nvSpPr>
        <p:spPr>
          <a:xfrm>
            <a:off x="457200" y="384048"/>
            <a:ext cx="8412480" cy="685800"/>
          </a:xfrm>
          <a:prstGeom prst="rect">
            <a:avLst/>
          </a:prstGeom>
          <a:noFill/>
          <a:ln/>
        </p:spPr>
        <p:txBody>
          <a:bodyPr wrap="square" rtlCol="0" anchor="ctr"/>
          <a:lstStyle/>
          <a:p>
            <a:pPr marL="0" indent="0">
              <a:buNone/>
            </a:pPr>
            <a:r>
              <a:rPr lang="en-US" sz="2200" b="1" dirty="0">
                <a:solidFill>
                  <a:srgbClr val="1A1814"/>
                </a:solidFill>
                <a:latin typeface="Calibri" pitchFamily="34" charset="0"/>
                <a:ea typeface="Calibri" pitchFamily="34" charset="-122"/>
                <a:cs typeface="Calibri" pitchFamily="34" charset="-120"/>
              </a:rPr>
              <a:t>Best Technique Changes by Task -in Direction, Not Just Degree</a:t>
            </a:r>
            <a:endParaRPr lang="en-US" sz="2200" dirty="0"/>
          </a:p>
        </p:txBody>
      </p:sp>
      <p:sp>
        <p:nvSpPr>
          <p:cNvPr id="8" name="Shape 6"/>
          <p:cNvSpPr/>
          <p:nvPr/>
        </p:nvSpPr>
        <p:spPr>
          <a:xfrm>
            <a:off x="256032" y="1115568"/>
            <a:ext cx="1901952" cy="384048"/>
          </a:xfrm>
          <a:prstGeom prst="rect">
            <a:avLst/>
          </a:prstGeom>
          <a:solidFill>
            <a:srgbClr val="CFCABC"/>
          </a:solidFill>
          <a:ln w="12700">
            <a:solidFill>
              <a:srgbClr val="CFCABC"/>
            </a:solidFill>
            <a:prstDash val="solid"/>
          </a:ln>
        </p:spPr>
        <p:txBody>
          <a:bodyPr/>
          <a:lstStyle/>
          <a:p>
            <a:endParaRPr lang="en-US"/>
          </a:p>
        </p:txBody>
      </p:sp>
      <p:sp>
        <p:nvSpPr>
          <p:cNvPr id="9" name="Text 7"/>
          <p:cNvSpPr/>
          <p:nvPr/>
        </p:nvSpPr>
        <p:spPr>
          <a:xfrm>
            <a:off x="329184" y="1115568"/>
            <a:ext cx="1810512" cy="384048"/>
          </a:xfrm>
          <a:prstGeom prst="rect">
            <a:avLst/>
          </a:prstGeom>
          <a:noFill/>
          <a:ln/>
        </p:spPr>
        <p:txBody>
          <a:bodyPr wrap="square" rtlCol="0" anchor="ctr"/>
          <a:lstStyle/>
          <a:p>
            <a:pPr marL="0" indent="0">
              <a:buNone/>
            </a:pPr>
            <a:endParaRPr lang="en-US" sz="1000" dirty="0"/>
          </a:p>
        </p:txBody>
      </p:sp>
      <p:sp>
        <p:nvSpPr>
          <p:cNvPr id="10" name="Shape 8"/>
          <p:cNvSpPr/>
          <p:nvPr/>
        </p:nvSpPr>
        <p:spPr>
          <a:xfrm>
            <a:off x="2212848" y="1115568"/>
            <a:ext cx="2048256" cy="384048"/>
          </a:xfrm>
          <a:prstGeom prst="rect">
            <a:avLst/>
          </a:prstGeom>
          <a:solidFill>
            <a:srgbClr val="2A4875">
              <a:alpha val="20000"/>
            </a:srgbClr>
          </a:solidFill>
          <a:ln w="12700">
            <a:solidFill>
              <a:srgbClr val="CFCABC"/>
            </a:solidFill>
            <a:prstDash val="solid"/>
          </a:ln>
        </p:spPr>
        <p:txBody>
          <a:bodyPr/>
          <a:lstStyle/>
          <a:p>
            <a:endParaRPr lang="en-US"/>
          </a:p>
        </p:txBody>
      </p:sp>
      <p:sp>
        <p:nvSpPr>
          <p:cNvPr id="11" name="Text 9"/>
          <p:cNvSpPr/>
          <p:nvPr/>
        </p:nvSpPr>
        <p:spPr>
          <a:xfrm>
            <a:off x="2286000" y="1115568"/>
            <a:ext cx="1956816" cy="384048"/>
          </a:xfrm>
          <a:prstGeom prst="rect">
            <a:avLst/>
          </a:prstGeom>
          <a:noFill/>
          <a:ln/>
        </p:spPr>
        <p:txBody>
          <a:bodyPr wrap="square" rtlCol="0" anchor="ctr"/>
          <a:lstStyle/>
          <a:p>
            <a:pPr marL="0" indent="0">
              <a:buNone/>
            </a:pPr>
            <a:r>
              <a:rPr lang="en-US" sz="1000" b="1" dirty="0">
                <a:solidFill>
                  <a:srgbClr val="1A1814"/>
                </a:solidFill>
                <a:latin typeface="Calibri" pitchFamily="34" charset="0"/>
                <a:ea typeface="Calibri" pitchFamily="34" charset="-122"/>
                <a:cs typeface="Calibri" pitchFamily="34" charset="-120"/>
              </a:rPr>
              <a:t>QA (TriviaQA)</a:t>
            </a:r>
            <a:endParaRPr lang="en-US" sz="1000" dirty="0"/>
          </a:p>
        </p:txBody>
      </p:sp>
      <p:sp>
        <p:nvSpPr>
          <p:cNvPr id="12" name="Shape 10"/>
          <p:cNvSpPr/>
          <p:nvPr/>
        </p:nvSpPr>
        <p:spPr>
          <a:xfrm>
            <a:off x="4315968" y="1115568"/>
            <a:ext cx="2231136" cy="384048"/>
          </a:xfrm>
          <a:prstGeom prst="rect">
            <a:avLst/>
          </a:prstGeom>
          <a:solidFill>
            <a:srgbClr val="6E5200">
              <a:alpha val="20000"/>
            </a:srgbClr>
          </a:solidFill>
          <a:ln w="12700">
            <a:solidFill>
              <a:srgbClr val="CFCABC"/>
            </a:solidFill>
            <a:prstDash val="solid"/>
          </a:ln>
        </p:spPr>
        <p:txBody>
          <a:bodyPr/>
          <a:lstStyle/>
          <a:p>
            <a:endParaRPr lang="en-US"/>
          </a:p>
        </p:txBody>
      </p:sp>
      <p:sp>
        <p:nvSpPr>
          <p:cNvPr id="13" name="Text 11"/>
          <p:cNvSpPr/>
          <p:nvPr/>
        </p:nvSpPr>
        <p:spPr>
          <a:xfrm>
            <a:off x="4389120" y="1115568"/>
            <a:ext cx="2139696" cy="384048"/>
          </a:xfrm>
          <a:prstGeom prst="rect">
            <a:avLst/>
          </a:prstGeom>
          <a:noFill/>
          <a:ln/>
        </p:spPr>
        <p:txBody>
          <a:bodyPr wrap="square" rtlCol="0" anchor="ctr"/>
          <a:lstStyle/>
          <a:p>
            <a:pPr marL="0" indent="0">
              <a:buNone/>
            </a:pPr>
            <a:r>
              <a:rPr lang="en-US" sz="1000" b="1" dirty="0">
                <a:solidFill>
                  <a:srgbClr val="1A1814"/>
                </a:solidFill>
                <a:latin typeface="Calibri" pitchFamily="34" charset="0"/>
                <a:ea typeface="Calibri" pitchFamily="34" charset="-122"/>
                <a:cs typeface="Calibri" pitchFamily="34" charset="-120"/>
              </a:rPr>
              <a:t>Summarisation</a:t>
            </a:r>
            <a:endParaRPr lang="en-US" sz="1000" dirty="0"/>
          </a:p>
        </p:txBody>
      </p:sp>
      <p:sp>
        <p:nvSpPr>
          <p:cNvPr id="14" name="Shape 12"/>
          <p:cNvSpPr/>
          <p:nvPr/>
        </p:nvSpPr>
        <p:spPr>
          <a:xfrm>
            <a:off x="6601968" y="1115568"/>
            <a:ext cx="2176272" cy="384048"/>
          </a:xfrm>
          <a:prstGeom prst="rect">
            <a:avLst/>
          </a:prstGeom>
          <a:solidFill>
            <a:srgbClr val="7A3020">
              <a:alpha val="20000"/>
            </a:srgbClr>
          </a:solidFill>
          <a:ln w="12700">
            <a:solidFill>
              <a:srgbClr val="CFCABC"/>
            </a:solidFill>
            <a:prstDash val="solid"/>
          </a:ln>
        </p:spPr>
        <p:txBody>
          <a:bodyPr/>
          <a:lstStyle/>
          <a:p>
            <a:endParaRPr lang="en-US"/>
          </a:p>
        </p:txBody>
      </p:sp>
      <p:sp>
        <p:nvSpPr>
          <p:cNvPr id="15" name="Text 13"/>
          <p:cNvSpPr/>
          <p:nvPr/>
        </p:nvSpPr>
        <p:spPr>
          <a:xfrm>
            <a:off x="6675120" y="1115568"/>
            <a:ext cx="2084832" cy="384048"/>
          </a:xfrm>
          <a:prstGeom prst="rect">
            <a:avLst/>
          </a:prstGeom>
          <a:noFill/>
          <a:ln/>
        </p:spPr>
        <p:txBody>
          <a:bodyPr wrap="square" rtlCol="0" anchor="ctr"/>
          <a:lstStyle/>
          <a:p>
            <a:pPr marL="0" indent="0">
              <a:buNone/>
            </a:pPr>
            <a:r>
              <a:rPr lang="en-US" sz="1000" b="1" dirty="0">
                <a:solidFill>
                  <a:srgbClr val="1A1814"/>
                </a:solidFill>
                <a:latin typeface="Calibri" pitchFamily="34" charset="0"/>
                <a:ea typeface="Calibri" pitchFamily="34" charset="-122"/>
                <a:cs typeface="Calibri" pitchFamily="34" charset="-120"/>
              </a:rPr>
              <a:t>Reasoning (GSM8K)</a:t>
            </a:r>
            <a:endParaRPr lang="en-US" sz="1000" dirty="0"/>
          </a:p>
        </p:txBody>
      </p:sp>
      <p:sp>
        <p:nvSpPr>
          <p:cNvPr id="16" name="Shape 14"/>
          <p:cNvSpPr/>
          <p:nvPr/>
        </p:nvSpPr>
        <p:spPr>
          <a:xfrm>
            <a:off x="256032" y="1499616"/>
            <a:ext cx="1901952" cy="576072"/>
          </a:xfrm>
          <a:prstGeom prst="rect">
            <a:avLst/>
          </a:prstGeom>
          <a:solidFill>
            <a:srgbClr val="EDEAE3"/>
          </a:solidFill>
          <a:ln w="12700">
            <a:solidFill>
              <a:srgbClr val="CFCABC"/>
            </a:solidFill>
            <a:prstDash val="solid"/>
          </a:ln>
        </p:spPr>
        <p:txBody>
          <a:bodyPr/>
          <a:lstStyle/>
          <a:p>
            <a:endParaRPr lang="en-US"/>
          </a:p>
        </p:txBody>
      </p:sp>
      <p:sp>
        <p:nvSpPr>
          <p:cNvPr id="17" name="Text 15"/>
          <p:cNvSpPr/>
          <p:nvPr/>
        </p:nvSpPr>
        <p:spPr>
          <a:xfrm>
            <a:off x="347472" y="1536192"/>
            <a:ext cx="1773936" cy="5029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Best Technique</a:t>
            </a:r>
            <a:endParaRPr lang="en-US" sz="1000" dirty="0"/>
          </a:p>
        </p:txBody>
      </p:sp>
      <p:sp>
        <p:nvSpPr>
          <p:cNvPr id="18" name="Shape 16"/>
          <p:cNvSpPr/>
          <p:nvPr/>
        </p:nvSpPr>
        <p:spPr>
          <a:xfrm>
            <a:off x="2212848" y="1499616"/>
            <a:ext cx="2048256" cy="576072"/>
          </a:xfrm>
          <a:prstGeom prst="rect">
            <a:avLst/>
          </a:prstGeom>
          <a:solidFill>
            <a:srgbClr val="EDEAE3"/>
          </a:solidFill>
          <a:ln w="12700">
            <a:solidFill>
              <a:srgbClr val="CFCABC"/>
            </a:solidFill>
            <a:prstDash val="solid"/>
          </a:ln>
        </p:spPr>
        <p:txBody>
          <a:bodyPr/>
          <a:lstStyle/>
          <a:p>
            <a:endParaRPr lang="en-US"/>
          </a:p>
        </p:txBody>
      </p:sp>
      <p:sp>
        <p:nvSpPr>
          <p:cNvPr id="19" name="Text 17"/>
          <p:cNvSpPr/>
          <p:nvPr/>
        </p:nvSpPr>
        <p:spPr>
          <a:xfrm>
            <a:off x="2304288" y="1536192"/>
            <a:ext cx="1920240" cy="502920"/>
          </a:xfrm>
          <a:prstGeom prst="rect">
            <a:avLst/>
          </a:prstGeom>
          <a:noFill/>
          <a:ln/>
        </p:spPr>
        <p:txBody>
          <a:bodyPr wrap="square" rtlCol="0" anchor="ctr"/>
          <a:lstStyle/>
          <a:p>
            <a:pPr marL="0" indent="0">
              <a:buNone/>
            </a:pPr>
            <a:r>
              <a:rPr lang="en-US" sz="1050" b="1" dirty="0">
                <a:solidFill>
                  <a:srgbClr val="4A6A9A"/>
                </a:solidFill>
                <a:latin typeface="Calibri" pitchFamily="34" charset="0"/>
                <a:ea typeface="Calibri" pitchFamily="34" charset="-122"/>
                <a:cs typeface="Calibri" pitchFamily="34" charset="-120"/>
              </a:rPr>
              <a:t>Few-Shot (4-shot)</a:t>
            </a:r>
            <a:endParaRPr lang="en-US" sz="1050" dirty="0"/>
          </a:p>
        </p:txBody>
      </p:sp>
      <p:sp>
        <p:nvSpPr>
          <p:cNvPr id="20" name="Shape 18"/>
          <p:cNvSpPr/>
          <p:nvPr/>
        </p:nvSpPr>
        <p:spPr>
          <a:xfrm>
            <a:off x="4315968" y="1499616"/>
            <a:ext cx="2231136" cy="576072"/>
          </a:xfrm>
          <a:prstGeom prst="rect">
            <a:avLst/>
          </a:prstGeom>
          <a:solidFill>
            <a:srgbClr val="EDEAE3"/>
          </a:solidFill>
          <a:ln w="12700">
            <a:solidFill>
              <a:srgbClr val="CFCABC"/>
            </a:solidFill>
            <a:prstDash val="solid"/>
          </a:ln>
        </p:spPr>
        <p:txBody>
          <a:bodyPr/>
          <a:lstStyle/>
          <a:p>
            <a:endParaRPr lang="en-US"/>
          </a:p>
        </p:txBody>
      </p:sp>
      <p:sp>
        <p:nvSpPr>
          <p:cNvPr id="21" name="Text 19"/>
          <p:cNvSpPr/>
          <p:nvPr/>
        </p:nvSpPr>
        <p:spPr>
          <a:xfrm>
            <a:off x="4407408" y="1536192"/>
            <a:ext cx="2103120" cy="502920"/>
          </a:xfrm>
          <a:prstGeom prst="rect">
            <a:avLst/>
          </a:prstGeom>
          <a:noFill/>
          <a:ln/>
        </p:spPr>
        <p:txBody>
          <a:bodyPr wrap="square" rtlCol="0" anchor="ctr"/>
          <a:lstStyle/>
          <a:p>
            <a:pPr marL="0" indent="0">
              <a:buNone/>
            </a:pPr>
            <a:r>
              <a:rPr lang="en-US" sz="1050" b="1" dirty="0">
                <a:solidFill>
                  <a:srgbClr val="906C18"/>
                </a:solidFill>
                <a:latin typeface="Calibri" pitchFamily="34" charset="0"/>
                <a:ea typeface="Calibri" pitchFamily="34" charset="-122"/>
                <a:cs typeface="Calibri" pitchFamily="34" charset="-120"/>
              </a:rPr>
              <a:t>Zero-Shot</a:t>
            </a:r>
            <a:endParaRPr lang="en-US" sz="1050" dirty="0"/>
          </a:p>
        </p:txBody>
      </p:sp>
      <p:sp>
        <p:nvSpPr>
          <p:cNvPr id="22" name="Shape 20"/>
          <p:cNvSpPr/>
          <p:nvPr/>
        </p:nvSpPr>
        <p:spPr>
          <a:xfrm>
            <a:off x="6601968" y="1499616"/>
            <a:ext cx="2176272" cy="576072"/>
          </a:xfrm>
          <a:prstGeom prst="rect">
            <a:avLst/>
          </a:prstGeom>
          <a:solidFill>
            <a:srgbClr val="EDEAE3"/>
          </a:solidFill>
          <a:ln w="12700">
            <a:solidFill>
              <a:srgbClr val="CFCABC"/>
            </a:solidFill>
            <a:prstDash val="solid"/>
          </a:ln>
        </p:spPr>
        <p:txBody>
          <a:bodyPr/>
          <a:lstStyle/>
          <a:p>
            <a:endParaRPr lang="en-US"/>
          </a:p>
        </p:txBody>
      </p:sp>
      <p:sp>
        <p:nvSpPr>
          <p:cNvPr id="23" name="Text 21"/>
          <p:cNvSpPr/>
          <p:nvPr/>
        </p:nvSpPr>
        <p:spPr>
          <a:xfrm>
            <a:off x="6693408" y="1536192"/>
            <a:ext cx="2048256" cy="502920"/>
          </a:xfrm>
          <a:prstGeom prst="rect">
            <a:avLst/>
          </a:prstGeom>
          <a:noFill/>
          <a:ln/>
        </p:spPr>
        <p:txBody>
          <a:bodyPr wrap="square" rtlCol="0" anchor="ctr"/>
          <a:lstStyle/>
          <a:p>
            <a:pPr marL="0" indent="0">
              <a:buNone/>
            </a:pPr>
            <a:r>
              <a:rPr lang="en-US" sz="1050" b="1" dirty="0">
                <a:solidFill>
                  <a:srgbClr val="A04E3C"/>
                </a:solidFill>
                <a:latin typeface="Calibri" pitchFamily="34" charset="0"/>
                <a:ea typeface="Calibri" pitchFamily="34" charset="-122"/>
                <a:cs typeface="Calibri" pitchFamily="34" charset="-120"/>
              </a:rPr>
              <a:t>Chain-of-Thought</a:t>
            </a:r>
            <a:endParaRPr lang="en-US" sz="1050" dirty="0"/>
          </a:p>
        </p:txBody>
      </p:sp>
      <p:sp>
        <p:nvSpPr>
          <p:cNvPr id="24" name="Shape 22"/>
          <p:cNvSpPr/>
          <p:nvPr/>
        </p:nvSpPr>
        <p:spPr>
          <a:xfrm>
            <a:off x="256032" y="2075688"/>
            <a:ext cx="1901952" cy="576072"/>
          </a:xfrm>
          <a:prstGeom prst="rect">
            <a:avLst/>
          </a:prstGeom>
          <a:solidFill>
            <a:srgbClr val="E2DDD4"/>
          </a:solidFill>
          <a:ln w="12700">
            <a:solidFill>
              <a:srgbClr val="CFCABC"/>
            </a:solidFill>
            <a:prstDash val="solid"/>
          </a:ln>
        </p:spPr>
        <p:txBody>
          <a:bodyPr/>
          <a:lstStyle/>
          <a:p>
            <a:endParaRPr lang="en-US"/>
          </a:p>
        </p:txBody>
      </p:sp>
      <p:sp>
        <p:nvSpPr>
          <p:cNvPr id="25" name="Text 23"/>
          <p:cNvSpPr/>
          <p:nvPr/>
        </p:nvSpPr>
        <p:spPr>
          <a:xfrm>
            <a:off x="347472" y="2112264"/>
            <a:ext cx="1773936" cy="5029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Best Score</a:t>
            </a:r>
            <a:endParaRPr lang="en-US" sz="1000" dirty="0"/>
          </a:p>
        </p:txBody>
      </p:sp>
      <p:sp>
        <p:nvSpPr>
          <p:cNvPr id="26" name="Shape 24"/>
          <p:cNvSpPr/>
          <p:nvPr/>
        </p:nvSpPr>
        <p:spPr>
          <a:xfrm>
            <a:off x="2212848" y="2075688"/>
            <a:ext cx="2048256" cy="576072"/>
          </a:xfrm>
          <a:prstGeom prst="rect">
            <a:avLst/>
          </a:prstGeom>
          <a:solidFill>
            <a:srgbClr val="E2DDD4"/>
          </a:solidFill>
          <a:ln w="12700">
            <a:solidFill>
              <a:srgbClr val="CFCABC"/>
            </a:solidFill>
            <a:prstDash val="solid"/>
          </a:ln>
        </p:spPr>
        <p:txBody>
          <a:bodyPr/>
          <a:lstStyle/>
          <a:p>
            <a:endParaRPr lang="en-US"/>
          </a:p>
        </p:txBody>
      </p:sp>
      <p:sp>
        <p:nvSpPr>
          <p:cNvPr id="27" name="Text 25"/>
          <p:cNvSpPr/>
          <p:nvPr/>
        </p:nvSpPr>
        <p:spPr>
          <a:xfrm>
            <a:off x="2304288" y="2112264"/>
            <a:ext cx="1920240" cy="502920"/>
          </a:xfrm>
          <a:prstGeom prst="rect">
            <a:avLst/>
          </a:prstGeom>
          <a:noFill/>
          <a:ln/>
        </p:spPr>
        <p:txBody>
          <a:bodyPr wrap="square" rtlCol="0" anchor="ctr"/>
          <a:lstStyle/>
          <a:p>
            <a:pPr marL="0" indent="0">
              <a:buNone/>
            </a:pPr>
            <a:r>
              <a:rPr lang="en-US" sz="1050" b="1" dirty="0">
                <a:solidFill>
                  <a:srgbClr val="4A6A9A"/>
                </a:solidFill>
                <a:latin typeface="Calibri" pitchFamily="34" charset="0"/>
                <a:ea typeface="Calibri" pitchFamily="34" charset="-122"/>
                <a:cs typeface="Calibri" pitchFamily="34" charset="-120"/>
              </a:rPr>
              <a:t>70.6%</a:t>
            </a:r>
            <a:endParaRPr lang="en-US" sz="1050" dirty="0"/>
          </a:p>
        </p:txBody>
      </p:sp>
      <p:sp>
        <p:nvSpPr>
          <p:cNvPr id="28" name="Shape 26"/>
          <p:cNvSpPr/>
          <p:nvPr/>
        </p:nvSpPr>
        <p:spPr>
          <a:xfrm>
            <a:off x="4315968" y="2075688"/>
            <a:ext cx="2231136" cy="576072"/>
          </a:xfrm>
          <a:prstGeom prst="rect">
            <a:avLst/>
          </a:prstGeom>
          <a:solidFill>
            <a:srgbClr val="E2DDD4"/>
          </a:solidFill>
          <a:ln w="12700">
            <a:solidFill>
              <a:srgbClr val="CFCABC"/>
            </a:solidFill>
            <a:prstDash val="solid"/>
          </a:ln>
        </p:spPr>
        <p:txBody>
          <a:bodyPr/>
          <a:lstStyle/>
          <a:p>
            <a:endParaRPr lang="en-US"/>
          </a:p>
        </p:txBody>
      </p:sp>
      <p:sp>
        <p:nvSpPr>
          <p:cNvPr id="29" name="Text 27"/>
          <p:cNvSpPr/>
          <p:nvPr/>
        </p:nvSpPr>
        <p:spPr>
          <a:xfrm>
            <a:off x="4407408" y="2112264"/>
            <a:ext cx="2103120" cy="502920"/>
          </a:xfrm>
          <a:prstGeom prst="rect">
            <a:avLst/>
          </a:prstGeom>
          <a:noFill/>
          <a:ln/>
        </p:spPr>
        <p:txBody>
          <a:bodyPr wrap="square" rtlCol="0" anchor="ctr"/>
          <a:lstStyle/>
          <a:p>
            <a:pPr marL="0" indent="0">
              <a:buNone/>
            </a:pPr>
            <a:r>
              <a:rPr lang="en-US" sz="1050" b="1" dirty="0">
                <a:solidFill>
                  <a:srgbClr val="906C18"/>
                </a:solidFill>
                <a:latin typeface="Calibri" pitchFamily="34" charset="0"/>
                <a:ea typeface="Calibri" pitchFamily="34" charset="-122"/>
                <a:cs typeface="Calibri" pitchFamily="34" charset="-120"/>
              </a:rPr>
              <a:t>24.0% ROUGE-L</a:t>
            </a:r>
            <a:endParaRPr lang="en-US" sz="1050" dirty="0"/>
          </a:p>
        </p:txBody>
      </p:sp>
      <p:sp>
        <p:nvSpPr>
          <p:cNvPr id="30" name="Shape 28"/>
          <p:cNvSpPr/>
          <p:nvPr/>
        </p:nvSpPr>
        <p:spPr>
          <a:xfrm>
            <a:off x="6601968" y="2075688"/>
            <a:ext cx="2176272" cy="576072"/>
          </a:xfrm>
          <a:prstGeom prst="rect">
            <a:avLst/>
          </a:prstGeom>
          <a:solidFill>
            <a:srgbClr val="E2DDD4"/>
          </a:solidFill>
          <a:ln w="12700">
            <a:solidFill>
              <a:srgbClr val="CFCABC"/>
            </a:solidFill>
            <a:prstDash val="solid"/>
          </a:ln>
        </p:spPr>
        <p:txBody>
          <a:bodyPr/>
          <a:lstStyle/>
          <a:p>
            <a:endParaRPr lang="en-US"/>
          </a:p>
        </p:txBody>
      </p:sp>
      <p:sp>
        <p:nvSpPr>
          <p:cNvPr id="31" name="Text 29"/>
          <p:cNvSpPr/>
          <p:nvPr/>
        </p:nvSpPr>
        <p:spPr>
          <a:xfrm>
            <a:off x="6693408" y="2112264"/>
            <a:ext cx="2048256" cy="502920"/>
          </a:xfrm>
          <a:prstGeom prst="rect">
            <a:avLst/>
          </a:prstGeom>
          <a:noFill/>
          <a:ln/>
        </p:spPr>
        <p:txBody>
          <a:bodyPr wrap="square" rtlCol="0" anchor="ctr"/>
          <a:lstStyle/>
          <a:p>
            <a:pPr marL="0" indent="0">
              <a:buNone/>
            </a:pPr>
            <a:r>
              <a:rPr lang="en-US" sz="1050" b="1" dirty="0">
                <a:solidFill>
                  <a:srgbClr val="A04E3C"/>
                </a:solidFill>
                <a:latin typeface="Calibri" pitchFamily="34" charset="0"/>
                <a:ea typeface="Calibri" pitchFamily="34" charset="-122"/>
                <a:cs typeface="Calibri" pitchFamily="34" charset="-120"/>
              </a:rPr>
              <a:t>90.5%</a:t>
            </a:r>
            <a:endParaRPr lang="en-US" sz="1050" dirty="0"/>
          </a:p>
        </p:txBody>
      </p:sp>
      <p:sp>
        <p:nvSpPr>
          <p:cNvPr id="32" name="Shape 30"/>
          <p:cNvSpPr/>
          <p:nvPr/>
        </p:nvSpPr>
        <p:spPr>
          <a:xfrm>
            <a:off x="256032" y="2651760"/>
            <a:ext cx="1901952" cy="576072"/>
          </a:xfrm>
          <a:prstGeom prst="rect">
            <a:avLst/>
          </a:prstGeom>
          <a:solidFill>
            <a:srgbClr val="EDEAE3"/>
          </a:solidFill>
          <a:ln w="12700">
            <a:solidFill>
              <a:srgbClr val="CFCABC"/>
            </a:solidFill>
            <a:prstDash val="solid"/>
          </a:ln>
        </p:spPr>
        <p:txBody>
          <a:bodyPr/>
          <a:lstStyle/>
          <a:p>
            <a:endParaRPr lang="en-US"/>
          </a:p>
        </p:txBody>
      </p:sp>
      <p:sp>
        <p:nvSpPr>
          <p:cNvPr id="33" name="Text 31"/>
          <p:cNvSpPr/>
          <p:nvPr/>
        </p:nvSpPr>
        <p:spPr>
          <a:xfrm>
            <a:off x="347472" y="2688336"/>
            <a:ext cx="1773936" cy="5029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CoT vs Zero-Shot</a:t>
            </a:r>
            <a:endParaRPr lang="en-US" sz="1000" dirty="0"/>
          </a:p>
        </p:txBody>
      </p:sp>
      <p:sp>
        <p:nvSpPr>
          <p:cNvPr id="34" name="Shape 32"/>
          <p:cNvSpPr/>
          <p:nvPr/>
        </p:nvSpPr>
        <p:spPr>
          <a:xfrm>
            <a:off x="2212848" y="2651760"/>
            <a:ext cx="2048256" cy="576072"/>
          </a:xfrm>
          <a:prstGeom prst="rect">
            <a:avLst/>
          </a:prstGeom>
          <a:solidFill>
            <a:srgbClr val="EDEAE3"/>
          </a:solidFill>
          <a:ln w="12700">
            <a:solidFill>
              <a:srgbClr val="CFCABC"/>
            </a:solidFill>
            <a:prstDash val="solid"/>
          </a:ln>
        </p:spPr>
        <p:txBody>
          <a:bodyPr/>
          <a:lstStyle/>
          <a:p>
            <a:endParaRPr lang="en-US"/>
          </a:p>
        </p:txBody>
      </p:sp>
      <p:sp>
        <p:nvSpPr>
          <p:cNvPr id="35" name="Text 33"/>
          <p:cNvSpPr/>
          <p:nvPr/>
        </p:nvSpPr>
        <p:spPr>
          <a:xfrm>
            <a:off x="2304288" y="2688336"/>
            <a:ext cx="1920240" cy="502920"/>
          </a:xfrm>
          <a:prstGeom prst="rect">
            <a:avLst/>
          </a:prstGeom>
          <a:noFill/>
          <a:ln/>
        </p:spPr>
        <p:txBody>
          <a:bodyPr wrap="square" rtlCol="0" anchor="ctr"/>
          <a:lstStyle/>
          <a:p>
            <a:pPr marL="0" indent="0">
              <a:buNone/>
            </a:pPr>
            <a:r>
              <a:rPr lang="en-US" sz="1050" dirty="0">
                <a:solidFill>
                  <a:srgbClr val="7A3020"/>
                </a:solidFill>
                <a:latin typeface="Calibri" pitchFamily="34" charset="0"/>
                <a:ea typeface="Calibri" pitchFamily="34" charset="-122"/>
                <a:cs typeface="Calibri" pitchFamily="34" charset="-120"/>
              </a:rPr>
              <a:t>−0.8pp ↓</a:t>
            </a:r>
            <a:endParaRPr lang="en-US" sz="1050" dirty="0"/>
          </a:p>
        </p:txBody>
      </p:sp>
      <p:sp>
        <p:nvSpPr>
          <p:cNvPr id="36" name="Shape 34"/>
          <p:cNvSpPr/>
          <p:nvPr/>
        </p:nvSpPr>
        <p:spPr>
          <a:xfrm>
            <a:off x="4315968" y="2651760"/>
            <a:ext cx="2231136" cy="576072"/>
          </a:xfrm>
          <a:prstGeom prst="rect">
            <a:avLst/>
          </a:prstGeom>
          <a:solidFill>
            <a:srgbClr val="EDEAE3"/>
          </a:solidFill>
          <a:ln w="12700">
            <a:solidFill>
              <a:srgbClr val="CFCABC"/>
            </a:solidFill>
            <a:prstDash val="solid"/>
          </a:ln>
        </p:spPr>
        <p:txBody>
          <a:bodyPr/>
          <a:lstStyle/>
          <a:p>
            <a:endParaRPr lang="en-US"/>
          </a:p>
        </p:txBody>
      </p:sp>
      <p:sp>
        <p:nvSpPr>
          <p:cNvPr id="37" name="Text 35"/>
          <p:cNvSpPr/>
          <p:nvPr/>
        </p:nvSpPr>
        <p:spPr>
          <a:xfrm>
            <a:off x="4407408" y="2688336"/>
            <a:ext cx="2103120" cy="502920"/>
          </a:xfrm>
          <a:prstGeom prst="rect">
            <a:avLst/>
          </a:prstGeom>
          <a:noFill/>
          <a:ln/>
        </p:spPr>
        <p:txBody>
          <a:bodyPr wrap="square" rtlCol="0" anchor="ctr"/>
          <a:lstStyle/>
          <a:p>
            <a:pPr marL="0" indent="0">
              <a:buNone/>
            </a:pPr>
            <a:r>
              <a:rPr lang="en-US" sz="1050" dirty="0">
                <a:solidFill>
                  <a:srgbClr val="7A3020"/>
                </a:solidFill>
                <a:latin typeface="Calibri" pitchFamily="34" charset="0"/>
                <a:ea typeface="Calibri" pitchFamily="34" charset="-122"/>
                <a:cs typeface="Calibri" pitchFamily="34" charset="-120"/>
              </a:rPr>
              <a:t>−3.7pp ↓</a:t>
            </a:r>
            <a:endParaRPr lang="en-US" sz="1050" dirty="0"/>
          </a:p>
        </p:txBody>
      </p:sp>
      <p:sp>
        <p:nvSpPr>
          <p:cNvPr id="38" name="Shape 36"/>
          <p:cNvSpPr/>
          <p:nvPr/>
        </p:nvSpPr>
        <p:spPr>
          <a:xfrm>
            <a:off x="6601968" y="2651760"/>
            <a:ext cx="2176272" cy="576072"/>
          </a:xfrm>
          <a:prstGeom prst="rect">
            <a:avLst/>
          </a:prstGeom>
          <a:solidFill>
            <a:srgbClr val="EDEAE3"/>
          </a:solidFill>
          <a:ln w="12700">
            <a:solidFill>
              <a:srgbClr val="CFCABC"/>
            </a:solidFill>
            <a:prstDash val="solid"/>
          </a:ln>
        </p:spPr>
        <p:txBody>
          <a:bodyPr/>
          <a:lstStyle/>
          <a:p>
            <a:endParaRPr lang="en-US"/>
          </a:p>
        </p:txBody>
      </p:sp>
      <p:sp>
        <p:nvSpPr>
          <p:cNvPr id="39" name="Text 37"/>
          <p:cNvSpPr/>
          <p:nvPr/>
        </p:nvSpPr>
        <p:spPr>
          <a:xfrm>
            <a:off x="6693408" y="2688336"/>
            <a:ext cx="2048256" cy="502920"/>
          </a:xfrm>
          <a:prstGeom prst="rect">
            <a:avLst/>
          </a:prstGeom>
          <a:noFill/>
          <a:ln/>
        </p:spPr>
        <p:txBody>
          <a:bodyPr wrap="square" rtlCol="0" anchor="ctr"/>
          <a:lstStyle/>
          <a:p>
            <a:pPr marL="0" indent="0">
              <a:buNone/>
            </a:pPr>
            <a:r>
              <a:rPr lang="en-US" sz="1050" dirty="0">
                <a:solidFill>
                  <a:srgbClr val="245E3E"/>
                </a:solidFill>
                <a:latin typeface="Calibri" pitchFamily="34" charset="0"/>
                <a:ea typeface="Calibri" pitchFamily="34" charset="-122"/>
                <a:cs typeface="Calibri" pitchFamily="34" charset="-120"/>
              </a:rPr>
              <a:t>+27.1pp ↑</a:t>
            </a:r>
            <a:endParaRPr lang="en-US" sz="1050" dirty="0"/>
          </a:p>
        </p:txBody>
      </p:sp>
      <p:sp>
        <p:nvSpPr>
          <p:cNvPr id="40" name="Shape 38"/>
          <p:cNvSpPr/>
          <p:nvPr/>
        </p:nvSpPr>
        <p:spPr>
          <a:xfrm>
            <a:off x="256032" y="3227832"/>
            <a:ext cx="1901952" cy="576072"/>
          </a:xfrm>
          <a:prstGeom prst="rect">
            <a:avLst/>
          </a:prstGeom>
          <a:solidFill>
            <a:srgbClr val="E2DDD4"/>
          </a:solidFill>
          <a:ln w="12700">
            <a:solidFill>
              <a:srgbClr val="CFCABC"/>
            </a:solidFill>
            <a:prstDash val="solid"/>
          </a:ln>
        </p:spPr>
        <p:txBody>
          <a:bodyPr/>
          <a:lstStyle/>
          <a:p>
            <a:endParaRPr lang="en-US"/>
          </a:p>
        </p:txBody>
      </p:sp>
      <p:sp>
        <p:nvSpPr>
          <p:cNvPr id="41" name="Text 39"/>
          <p:cNvSpPr/>
          <p:nvPr/>
        </p:nvSpPr>
        <p:spPr>
          <a:xfrm>
            <a:off x="347472" y="3264408"/>
            <a:ext cx="1773936" cy="5029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Effect Size (d)</a:t>
            </a:r>
            <a:endParaRPr lang="en-US" sz="1000" dirty="0"/>
          </a:p>
        </p:txBody>
      </p:sp>
      <p:sp>
        <p:nvSpPr>
          <p:cNvPr id="42" name="Shape 40"/>
          <p:cNvSpPr/>
          <p:nvPr/>
        </p:nvSpPr>
        <p:spPr>
          <a:xfrm>
            <a:off x="2212848" y="3227832"/>
            <a:ext cx="2048256" cy="576072"/>
          </a:xfrm>
          <a:prstGeom prst="rect">
            <a:avLst/>
          </a:prstGeom>
          <a:solidFill>
            <a:srgbClr val="E2DDD4"/>
          </a:solidFill>
          <a:ln w="12700">
            <a:solidFill>
              <a:srgbClr val="CFCABC"/>
            </a:solidFill>
            <a:prstDash val="solid"/>
          </a:ln>
        </p:spPr>
        <p:txBody>
          <a:bodyPr/>
          <a:lstStyle/>
          <a:p>
            <a:endParaRPr lang="en-US"/>
          </a:p>
        </p:txBody>
      </p:sp>
      <p:sp>
        <p:nvSpPr>
          <p:cNvPr id="43" name="Text 41"/>
          <p:cNvSpPr/>
          <p:nvPr/>
        </p:nvSpPr>
        <p:spPr>
          <a:xfrm>
            <a:off x="2304288" y="3264408"/>
            <a:ext cx="1920240" cy="502920"/>
          </a:xfrm>
          <a:prstGeom prst="rect">
            <a:avLst/>
          </a:prstGeom>
          <a:noFill/>
          <a:ln/>
        </p:spPr>
        <p:txBody>
          <a:bodyPr wrap="square" rtlCol="0" anchor="ctr"/>
          <a:lstStyle/>
          <a:p>
            <a:pPr marL="0" indent="0">
              <a:buNone/>
            </a:pPr>
            <a:r>
              <a:rPr lang="en-US" sz="1050" dirty="0">
                <a:solidFill>
                  <a:srgbClr val="9A9590"/>
                </a:solidFill>
                <a:latin typeface="Calibri" pitchFamily="34" charset="0"/>
                <a:ea typeface="Calibri" pitchFamily="34" charset="-122"/>
                <a:cs typeface="Calibri" pitchFamily="34" charset="-120"/>
              </a:rPr>
              <a:t>0.02 -negligible</a:t>
            </a:r>
            <a:endParaRPr lang="en-US" sz="1050" dirty="0"/>
          </a:p>
        </p:txBody>
      </p:sp>
      <p:sp>
        <p:nvSpPr>
          <p:cNvPr id="44" name="Shape 42"/>
          <p:cNvSpPr/>
          <p:nvPr/>
        </p:nvSpPr>
        <p:spPr>
          <a:xfrm>
            <a:off x="4315968" y="3227832"/>
            <a:ext cx="2231136" cy="576072"/>
          </a:xfrm>
          <a:prstGeom prst="rect">
            <a:avLst/>
          </a:prstGeom>
          <a:solidFill>
            <a:srgbClr val="E2DDD4"/>
          </a:solidFill>
          <a:ln w="12700">
            <a:solidFill>
              <a:srgbClr val="CFCABC"/>
            </a:solidFill>
            <a:prstDash val="solid"/>
          </a:ln>
        </p:spPr>
        <p:txBody>
          <a:bodyPr/>
          <a:lstStyle/>
          <a:p>
            <a:endParaRPr lang="en-US"/>
          </a:p>
        </p:txBody>
      </p:sp>
      <p:sp>
        <p:nvSpPr>
          <p:cNvPr id="45" name="Text 43"/>
          <p:cNvSpPr/>
          <p:nvPr/>
        </p:nvSpPr>
        <p:spPr>
          <a:xfrm>
            <a:off x="4407408" y="3264408"/>
            <a:ext cx="2103120" cy="502920"/>
          </a:xfrm>
          <a:prstGeom prst="rect">
            <a:avLst/>
          </a:prstGeom>
          <a:noFill/>
          <a:ln/>
        </p:spPr>
        <p:txBody>
          <a:bodyPr wrap="square" rtlCol="0" anchor="ctr"/>
          <a:lstStyle/>
          <a:p>
            <a:pPr marL="0" indent="0">
              <a:buNone/>
            </a:pPr>
            <a:r>
              <a:rPr lang="en-US" sz="1050" dirty="0">
                <a:solidFill>
                  <a:srgbClr val="6E5200"/>
                </a:solidFill>
                <a:latin typeface="Calibri" pitchFamily="34" charset="0"/>
                <a:ea typeface="Calibri" pitchFamily="34" charset="-122"/>
                <a:cs typeface="Calibri" pitchFamily="34" charset="-120"/>
              </a:rPr>
              <a:t>0.43 -medium</a:t>
            </a:r>
            <a:endParaRPr lang="en-US" sz="1050" dirty="0"/>
          </a:p>
        </p:txBody>
      </p:sp>
      <p:sp>
        <p:nvSpPr>
          <p:cNvPr id="46" name="Shape 44"/>
          <p:cNvSpPr/>
          <p:nvPr/>
        </p:nvSpPr>
        <p:spPr>
          <a:xfrm>
            <a:off x="6601968" y="3227832"/>
            <a:ext cx="2176272" cy="576072"/>
          </a:xfrm>
          <a:prstGeom prst="rect">
            <a:avLst/>
          </a:prstGeom>
          <a:solidFill>
            <a:srgbClr val="E2DDD4"/>
          </a:solidFill>
          <a:ln w="12700">
            <a:solidFill>
              <a:srgbClr val="CFCABC"/>
            </a:solidFill>
            <a:prstDash val="solid"/>
          </a:ln>
        </p:spPr>
        <p:txBody>
          <a:bodyPr/>
          <a:lstStyle/>
          <a:p>
            <a:endParaRPr lang="en-US"/>
          </a:p>
        </p:txBody>
      </p:sp>
      <p:sp>
        <p:nvSpPr>
          <p:cNvPr id="47" name="Text 45"/>
          <p:cNvSpPr/>
          <p:nvPr/>
        </p:nvSpPr>
        <p:spPr>
          <a:xfrm>
            <a:off x="6693408" y="3264408"/>
            <a:ext cx="2048256" cy="502920"/>
          </a:xfrm>
          <a:prstGeom prst="rect">
            <a:avLst/>
          </a:prstGeom>
          <a:noFill/>
          <a:ln/>
        </p:spPr>
        <p:txBody>
          <a:bodyPr wrap="square" rtlCol="0" anchor="ctr"/>
          <a:lstStyle/>
          <a:p>
            <a:pPr marL="0" indent="0">
              <a:buNone/>
            </a:pPr>
            <a:r>
              <a:rPr lang="en-US" sz="1050" dirty="0">
                <a:solidFill>
                  <a:srgbClr val="7A3020"/>
                </a:solidFill>
                <a:latin typeface="Calibri" pitchFamily="34" charset="0"/>
                <a:ea typeface="Calibri" pitchFamily="34" charset="-122"/>
                <a:cs typeface="Calibri" pitchFamily="34" charset="-120"/>
              </a:rPr>
              <a:t>0.68 -medium</a:t>
            </a:r>
            <a:endParaRPr lang="en-US" sz="1050" dirty="0"/>
          </a:p>
        </p:txBody>
      </p:sp>
      <p:sp>
        <p:nvSpPr>
          <p:cNvPr id="48" name="Shape 46"/>
          <p:cNvSpPr/>
          <p:nvPr/>
        </p:nvSpPr>
        <p:spPr>
          <a:xfrm>
            <a:off x="256032" y="3803904"/>
            <a:ext cx="1901952" cy="576072"/>
          </a:xfrm>
          <a:prstGeom prst="rect">
            <a:avLst/>
          </a:prstGeom>
          <a:solidFill>
            <a:srgbClr val="EDEAE3"/>
          </a:solidFill>
          <a:ln w="12700">
            <a:solidFill>
              <a:srgbClr val="CFCABC"/>
            </a:solidFill>
            <a:prstDash val="solid"/>
          </a:ln>
        </p:spPr>
        <p:txBody>
          <a:bodyPr/>
          <a:lstStyle/>
          <a:p>
            <a:endParaRPr lang="en-US"/>
          </a:p>
        </p:txBody>
      </p:sp>
      <p:sp>
        <p:nvSpPr>
          <p:cNvPr id="49" name="Text 47"/>
          <p:cNvSpPr/>
          <p:nvPr/>
        </p:nvSpPr>
        <p:spPr>
          <a:xfrm>
            <a:off x="347472" y="3840480"/>
            <a:ext cx="1773936" cy="502920"/>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Recommendation</a:t>
            </a:r>
            <a:endParaRPr lang="en-US" sz="1000" dirty="0"/>
          </a:p>
        </p:txBody>
      </p:sp>
      <p:sp>
        <p:nvSpPr>
          <p:cNvPr id="50" name="Shape 48"/>
          <p:cNvSpPr/>
          <p:nvPr/>
        </p:nvSpPr>
        <p:spPr>
          <a:xfrm>
            <a:off x="2212848" y="3803904"/>
            <a:ext cx="2048256" cy="576072"/>
          </a:xfrm>
          <a:prstGeom prst="rect">
            <a:avLst/>
          </a:prstGeom>
          <a:solidFill>
            <a:srgbClr val="EDEAE3"/>
          </a:solidFill>
          <a:ln w="12700">
            <a:solidFill>
              <a:srgbClr val="CFCABC"/>
            </a:solidFill>
            <a:prstDash val="solid"/>
          </a:ln>
        </p:spPr>
        <p:txBody>
          <a:bodyPr/>
          <a:lstStyle/>
          <a:p>
            <a:endParaRPr lang="en-US"/>
          </a:p>
        </p:txBody>
      </p:sp>
      <p:sp>
        <p:nvSpPr>
          <p:cNvPr id="51" name="Text 49"/>
          <p:cNvSpPr/>
          <p:nvPr/>
        </p:nvSpPr>
        <p:spPr>
          <a:xfrm>
            <a:off x="2304288" y="3840480"/>
            <a:ext cx="1920240" cy="502920"/>
          </a:xfrm>
          <a:prstGeom prst="rect">
            <a:avLst/>
          </a:prstGeom>
          <a:noFill/>
          <a:ln/>
        </p:spPr>
        <p:txBody>
          <a:bodyPr wrap="square" rtlCol="0" anchor="ctr"/>
          <a:lstStyle/>
          <a:p>
            <a:pPr marL="0" indent="0">
              <a:buNone/>
            </a:pPr>
            <a:r>
              <a:rPr lang="en-US" sz="1050" b="1" dirty="0">
                <a:solidFill>
                  <a:srgbClr val="4A6A9A"/>
                </a:solidFill>
                <a:latin typeface="Calibri" pitchFamily="34" charset="0"/>
                <a:ea typeface="Calibri" pitchFamily="34" charset="-122"/>
                <a:cs typeface="Calibri" pitchFamily="34" charset="-120"/>
              </a:rPr>
              <a:t>Zero-Shot</a:t>
            </a:r>
            <a:endParaRPr lang="en-US" sz="1050" dirty="0"/>
          </a:p>
          <a:p>
            <a:pPr marL="0" indent="0">
              <a:buNone/>
            </a:pPr>
            <a:r>
              <a:rPr lang="en-US" sz="1050" b="1" dirty="0">
                <a:solidFill>
                  <a:srgbClr val="4A6A9A"/>
                </a:solidFill>
                <a:latin typeface="Calibri" pitchFamily="34" charset="0"/>
                <a:ea typeface="Calibri" pitchFamily="34" charset="-122"/>
                <a:cs typeface="Calibri" pitchFamily="34" charset="-120"/>
              </a:rPr>
              <a:t>(7× cheaper)</a:t>
            </a:r>
            <a:endParaRPr lang="en-US" sz="1050" dirty="0"/>
          </a:p>
        </p:txBody>
      </p:sp>
      <p:sp>
        <p:nvSpPr>
          <p:cNvPr id="52" name="Shape 50"/>
          <p:cNvSpPr/>
          <p:nvPr/>
        </p:nvSpPr>
        <p:spPr>
          <a:xfrm>
            <a:off x="4315968" y="3803904"/>
            <a:ext cx="2231136" cy="576072"/>
          </a:xfrm>
          <a:prstGeom prst="rect">
            <a:avLst/>
          </a:prstGeom>
          <a:solidFill>
            <a:srgbClr val="EDEAE3"/>
          </a:solidFill>
          <a:ln w="12700">
            <a:solidFill>
              <a:srgbClr val="CFCABC"/>
            </a:solidFill>
            <a:prstDash val="solid"/>
          </a:ln>
        </p:spPr>
        <p:txBody>
          <a:bodyPr/>
          <a:lstStyle/>
          <a:p>
            <a:endParaRPr lang="en-US"/>
          </a:p>
        </p:txBody>
      </p:sp>
      <p:sp>
        <p:nvSpPr>
          <p:cNvPr id="53" name="Text 51"/>
          <p:cNvSpPr/>
          <p:nvPr/>
        </p:nvSpPr>
        <p:spPr>
          <a:xfrm>
            <a:off x="4407408" y="3840480"/>
            <a:ext cx="2103120" cy="502920"/>
          </a:xfrm>
          <a:prstGeom prst="rect">
            <a:avLst/>
          </a:prstGeom>
          <a:noFill/>
          <a:ln/>
        </p:spPr>
        <p:txBody>
          <a:bodyPr wrap="square" rtlCol="0" anchor="ctr"/>
          <a:lstStyle/>
          <a:p>
            <a:pPr marL="0" indent="0">
              <a:buNone/>
            </a:pPr>
            <a:r>
              <a:rPr lang="en-US" sz="1050" b="1" dirty="0">
                <a:solidFill>
                  <a:srgbClr val="906C18"/>
                </a:solidFill>
                <a:latin typeface="Calibri" pitchFamily="34" charset="0"/>
                <a:ea typeface="Calibri" pitchFamily="34" charset="-122"/>
                <a:cs typeface="Calibri" pitchFamily="34" charset="-120"/>
              </a:rPr>
              <a:t>Zero-Shot</a:t>
            </a:r>
            <a:endParaRPr lang="en-US" sz="1050" dirty="0"/>
          </a:p>
          <a:p>
            <a:pPr marL="0" indent="0">
              <a:buNone/>
            </a:pPr>
            <a:r>
              <a:rPr lang="en-US" sz="1050" b="1" dirty="0">
                <a:solidFill>
                  <a:srgbClr val="906C18"/>
                </a:solidFill>
                <a:latin typeface="Calibri" pitchFamily="34" charset="0"/>
                <a:ea typeface="Calibri" pitchFamily="34" charset="-122"/>
                <a:cs typeface="Calibri" pitchFamily="34" charset="-120"/>
              </a:rPr>
              <a:t>(best+cheapest)</a:t>
            </a:r>
            <a:endParaRPr lang="en-US" sz="1050" dirty="0"/>
          </a:p>
        </p:txBody>
      </p:sp>
      <p:sp>
        <p:nvSpPr>
          <p:cNvPr id="54" name="Shape 52"/>
          <p:cNvSpPr/>
          <p:nvPr/>
        </p:nvSpPr>
        <p:spPr>
          <a:xfrm>
            <a:off x="6601968" y="3803904"/>
            <a:ext cx="2176272" cy="576072"/>
          </a:xfrm>
          <a:prstGeom prst="rect">
            <a:avLst/>
          </a:prstGeom>
          <a:solidFill>
            <a:srgbClr val="EDEAE3"/>
          </a:solidFill>
          <a:ln w="12700">
            <a:solidFill>
              <a:srgbClr val="CFCABC"/>
            </a:solidFill>
            <a:prstDash val="solid"/>
          </a:ln>
        </p:spPr>
        <p:txBody>
          <a:bodyPr/>
          <a:lstStyle/>
          <a:p>
            <a:endParaRPr lang="en-US"/>
          </a:p>
        </p:txBody>
      </p:sp>
      <p:sp>
        <p:nvSpPr>
          <p:cNvPr id="55" name="Text 53"/>
          <p:cNvSpPr/>
          <p:nvPr/>
        </p:nvSpPr>
        <p:spPr>
          <a:xfrm>
            <a:off x="6693408" y="3840480"/>
            <a:ext cx="2048256" cy="502920"/>
          </a:xfrm>
          <a:prstGeom prst="rect">
            <a:avLst/>
          </a:prstGeom>
          <a:noFill/>
          <a:ln/>
        </p:spPr>
        <p:txBody>
          <a:bodyPr wrap="square" rtlCol="0" anchor="ctr"/>
          <a:lstStyle/>
          <a:p>
            <a:pPr marL="0" indent="0">
              <a:buNone/>
            </a:pPr>
            <a:r>
              <a:rPr lang="en-US" sz="1050" b="1" dirty="0">
                <a:solidFill>
                  <a:srgbClr val="A04E3C"/>
                </a:solidFill>
                <a:latin typeface="Calibri" pitchFamily="34" charset="0"/>
                <a:ea typeface="Calibri" pitchFamily="34" charset="-122"/>
                <a:cs typeface="Calibri" pitchFamily="34" charset="-120"/>
              </a:rPr>
              <a:t>CoT</a:t>
            </a:r>
            <a:endParaRPr lang="en-US" sz="1050" dirty="0"/>
          </a:p>
          <a:p>
            <a:pPr marL="0" indent="0">
              <a:buNone/>
            </a:pPr>
            <a:r>
              <a:rPr lang="en-US" sz="1050" b="1" dirty="0">
                <a:solidFill>
                  <a:srgbClr val="A04E3C"/>
                </a:solidFill>
                <a:latin typeface="Calibri" pitchFamily="34" charset="0"/>
                <a:ea typeface="Calibri" pitchFamily="34" charset="-122"/>
                <a:cs typeface="Calibri" pitchFamily="34" charset="-120"/>
              </a:rPr>
              <a:t>(worth it)</a:t>
            </a:r>
            <a:endParaRPr lang="en-US" sz="1050" dirty="0"/>
          </a:p>
        </p:txBody>
      </p:sp>
      <p:sp>
        <p:nvSpPr>
          <p:cNvPr id="56" name="Shape 54"/>
          <p:cNvSpPr/>
          <p:nvPr/>
        </p:nvSpPr>
        <p:spPr>
          <a:xfrm>
            <a:off x="256032" y="4498848"/>
            <a:ext cx="8631936" cy="365760"/>
          </a:xfrm>
          <a:prstGeom prst="roundRect">
            <a:avLst>
              <a:gd name="adj" fmla="val 20000"/>
            </a:avLst>
          </a:prstGeom>
          <a:solidFill>
            <a:srgbClr val="EDEAE3"/>
          </a:solidFill>
          <a:ln w="12700">
            <a:solidFill>
              <a:srgbClr val="245E3E"/>
            </a:solidFill>
            <a:prstDash val="solid"/>
          </a:ln>
        </p:spPr>
        <p:txBody>
          <a:bodyPr/>
          <a:lstStyle/>
          <a:p>
            <a:endParaRPr lang="en-US"/>
          </a:p>
        </p:txBody>
      </p:sp>
      <p:sp>
        <p:nvSpPr>
          <p:cNvPr id="57" name="Text 55"/>
          <p:cNvSpPr/>
          <p:nvPr/>
        </p:nvSpPr>
        <p:spPr>
          <a:xfrm>
            <a:off x="411480" y="4498848"/>
            <a:ext cx="8485632" cy="365760"/>
          </a:xfrm>
          <a:prstGeom prst="rect">
            <a:avLst/>
          </a:prstGeom>
          <a:noFill/>
          <a:ln/>
        </p:spPr>
        <p:txBody>
          <a:bodyPr wrap="square" rtlCol="0" anchor="ctr"/>
          <a:lstStyle/>
          <a:p>
            <a:pPr marL="0" indent="0" algn="ctr">
              <a:buNone/>
            </a:pPr>
            <a:r>
              <a:rPr lang="en-US" sz="1000" dirty="0">
                <a:solidFill>
                  <a:srgbClr val="1A1814"/>
                </a:solidFill>
                <a:latin typeface="Calibri" pitchFamily="34" charset="0"/>
                <a:ea typeface="Calibri" pitchFamily="34" charset="-122"/>
                <a:cs typeface="Calibri" pitchFamily="34" charset="-120"/>
              </a:rPr>
              <a:t>Key Insight: CoT is harmful to QA and Summarisation, but essential for Reasoning. Never generalise a benchmark result across task domains.</a:t>
            </a:r>
            <a:endParaRPr lang="en-US" sz="10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52" presetID="10" presetClass="entr" presetSubtype="0" fill="hold" grpId="0" nodeType="clickEffect">
                            <p:stCondLst>
                              <p:cond delay="0"/>
                            </p:stCondLst>
                            <p:childTnLst>
                              <p:animEffect transition="in" filter="fade">
                                <p:cBhvr>
                                  <p:cTn id="50001" dur="350"/>
                                  <p:tgtEl>
                                    <p:spTgt spid="8"/>
                                  </p:tgtEl>
                                </p:cBhvr>
                              </p:animEffect>
                              <p:animEffect transition="in" filter="fade">
                                <p:cBhvr>
                                  <p:cTn id="50002" dur="350"/>
                                  <p:tgtEl>
                                    <p:spTgt spid="16"/>
                                  </p:tgtEl>
                                </p:cBhvr>
                              </p:animEffect>
                              <p:animEffect transition="in" filter="fade">
                                <p:cBhvr>
                                  <p:cTn id="50003" dur="350"/>
                                  <p:tgtEl>
                                    <p:spTgt spid="24"/>
                                  </p:tgtEl>
                                </p:cBhvr>
                              </p:animEffect>
                              <p:animEffect transition="in" filter="fade">
                                <p:cBhvr>
                                  <p:cTn id="50004" dur="350"/>
                                  <p:tgtEl>
                                    <p:spTgt spid="32"/>
                                  </p:tgtEl>
                                </p:cBhvr>
                              </p:animEffect>
                              <p:animEffect transition="in" filter="fade">
                                <p:cBhvr>
                                  <p:cTn id="50005" dur="350"/>
                                  <p:tgtEl>
                                    <p:spTgt spid="40"/>
                                  </p:tgtEl>
                                </p:cBhvr>
                              </p:animEffect>
                              <p:animEffect transition="in" filter="fade">
                                <p:cBhvr>
                                  <p:cTn id="50006" dur="350"/>
                                  <p:tgtEl>
                                    <p:spTgt spid="48"/>
                                  </p:tgtEl>
                                </p:cBhvr>
                              </p:animEffect>
                              <p:animEffect transition="in" filter="fade">
                                <p:cBhvr>
                                  <p:cTn id="50007" dur="350"/>
                                  <p:tgtEl>
                                    <p:spTgt spid="9"/>
                                  </p:tgtEl>
                                </p:cBhvr>
                              </p:animEffect>
                              <p:animEffect transition="in" filter="fade">
                                <p:cBhvr>
                                  <p:cTn id="50008" dur="350"/>
                                  <p:tgtEl>
                                    <p:spTgt spid="17"/>
                                  </p:tgtEl>
                                </p:cBhvr>
                              </p:animEffect>
                              <p:animEffect transition="in" filter="fade">
                                <p:cBhvr>
                                  <p:cTn id="50009" dur="350"/>
                                  <p:tgtEl>
                                    <p:spTgt spid="25"/>
                                  </p:tgtEl>
                                </p:cBhvr>
                              </p:animEffect>
                              <p:animEffect transition="in" filter="fade">
                                <p:cBhvr>
                                  <p:cTn id="50010" dur="350"/>
                                  <p:tgtEl>
                                    <p:spTgt spid="33"/>
                                  </p:tgtEl>
                                </p:cBhvr>
                              </p:animEffect>
                              <p:animEffect transition="in" filter="fade">
                                <p:cBhvr>
                                  <p:cTn id="50011" dur="350"/>
                                  <p:tgtEl>
                                    <p:spTgt spid="41"/>
                                  </p:tgtEl>
                                </p:cBhvr>
                              </p:animEffect>
                              <p:animEffect transition="in" filter="fade">
                                <p:cBhvr>
                                  <p:cTn id="50012" dur="350"/>
                                  <p:tgtEl>
                                    <p:spTgt spid="49"/>
                                  </p:tgtEl>
                                </p:cBhvr>
                              </p:animEffect>
                              <p:animEffect transition="in" filter="fade">
                                <p:cBhvr>
                                  <p:cTn id="50013" dur="350"/>
                                  <p:tgtEl>
                                    <p:spTgt spid="6"/>
                                  </p:tgtEl>
                                </p:cBhvr>
                              </p:animEffect>
                              <p:animEffect transition="in" filter="fade">
                                <p:cBhvr>
                                  <p:cTn id="50014" dur="350"/>
                                  <p:tgtEl>
                                    <p:spTgt spid="7"/>
                                  </p:tgtEl>
                                </p:cBhvr>
                              </p:animEffect>
                              <p:animEffect transition="in" filter="fade">
                                <p:cBhvr>
                                  <p:cTn id="50015" dur="350"/>
                                  <p:tgtEl>
                                    <p:spTgt spid="10"/>
                                  </p:tgtEl>
                                </p:cBhvr>
                              </p:animEffect>
                              <p:animEffect transition="in" filter="fade">
                                <p:cBhvr>
                                  <p:cTn id="50016" dur="350"/>
                                  <p:tgtEl>
                                    <p:spTgt spid="18"/>
                                  </p:tgtEl>
                                </p:cBhvr>
                              </p:animEffect>
                              <p:animEffect transition="in" filter="fade">
                                <p:cBhvr>
                                  <p:cTn id="50017" dur="350"/>
                                  <p:tgtEl>
                                    <p:spTgt spid="26"/>
                                  </p:tgtEl>
                                </p:cBhvr>
                              </p:animEffect>
                              <p:animEffect transition="in" filter="fade">
                                <p:cBhvr>
                                  <p:cTn id="50018" dur="350"/>
                                  <p:tgtEl>
                                    <p:spTgt spid="34"/>
                                  </p:tgtEl>
                                </p:cBhvr>
                              </p:animEffect>
                              <p:animEffect transition="in" filter="fade">
                                <p:cBhvr>
                                  <p:cTn id="50019" dur="350"/>
                                  <p:tgtEl>
                                    <p:spTgt spid="42"/>
                                  </p:tgtEl>
                                </p:cBhvr>
                              </p:animEffect>
                              <p:animEffect transition="in" filter="fade">
                                <p:cBhvr>
                                  <p:cTn id="50020" dur="350"/>
                                  <p:tgtEl>
                                    <p:spTgt spid="50"/>
                                  </p:tgtEl>
                                </p:cBhvr>
                              </p:animEffect>
                              <p:animEffect transition="in" filter="fade">
                                <p:cBhvr>
                                  <p:cTn id="50021" dur="350"/>
                                  <p:tgtEl>
                                    <p:spTgt spid="11"/>
                                  </p:tgtEl>
                                </p:cBhvr>
                              </p:animEffect>
                              <p:animEffect transition="in" filter="fade">
                                <p:cBhvr>
                                  <p:cTn id="50022" dur="350"/>
                                  <p:tgtEl>
                                    <p:spTgt spid="19"/>
                                  </p:tgtEl>
                                </p:cBhvr>
                              </p:animEffect>
                              <p:animEffect transition="in" filter="fade">
                                <p:cBhvr>
                                  <p:cTn id="50023" dur="350"/>
                                  <p:tgtEl>
                                    <p:spTgt spid="27"/>
                                  </p:tgtEl>
                                </p:cBhvr>
                              </p:animEffect>
                              <p:animEffect transition="in" filter="fade">
                                <p:cBhvr>
                                  <p:cTn id="50024" dur="350"/>
                                  <p:tgtEl>
                                    <p:spTgt spid="35"/>
                                  </p:tgtEl>
                                </p:cBhvr>
                              </p:animEffect>
                              <p:animEffect transition="in" filter="fade">
                                <p:cBhvr>
                                  <p:cTn id="50025" dur="350"/>
                                  <p:tgtEl>
                                    <p:spTgt spid="43"/>
                                  </p:tgtEl>
                                </p:cBhvr>
                              </p:animEffect>
                              <p:animEffect transition="in" filter="fade">
                                <p:cBhvr>
                                  <p:cTn id="50026" dur="350"/>
                                  <p:tgtEl>
                                    <p:spTgt spid="51"/>
                                  </p:tgtEl>
                                </p:cBhvr>
                              </p:animEffect>
                              <p:animEffect transition="in" filter="fade">
                                <p:cBhvr>
                                  <p:cTn id="50027" dur="350"/>
                                  <p:tgtEl>
                                    <p:spTgt spid="5"/>
                                  </p:tgtEl>
                                </p:cBhvr>
                              </p:animEffect>
                              <p:animEffect transition="in" filter="fade">
                                <p:cBhvr>
                                  <p:cTn id="50028" dur="350"/>
                                  <p:tgtEl>
                                    <p:spTgt spid="12"/>
                                  </p:tgtEl>
                                </p:cBhvr>
                              </p:animEffect>
                              <p:animEffect transition="in" filter="fade">
                                <p:cBhvr>
                                  <p:cTn id="50029" dur="350"/>
                                  <p:tgtEl>
                                    <p:spTgt spid="20"/>
                                  </p:tgtEl>
                                </p:cBhvr>
                              </p:animEffect>
                              <p:animEffect transition="in" filter="fade">
                                <p:cBhvr>
                                  <p:cTn id="50030" dur="350"/>
                                  <p:tgtEl>
                                    <p:spTgt spid="28"/>
                                  </p:tgtEl>
                                </p:cBhvr>
                              </p:animEffect>
                              <p:animEffect transition="in" filter="fade">
                                <p:cBhvr>
                                  <p:cTn id="50031" dur="350"/>
                                  <p:tgtEl>
                                    <p:spTgt spid="36"/>
                                  </p:tgtEl>
                                </p:cBhvr>
                              </p:animEffect>
                              <p:animEffect transition="in" filter="fade">
                                <p:cBhvr>
                                  <p:cTn id="50032" dur="350"/>
                                  <p:tgtEl>
                                    <p:spTgt spid="44"/>
                                  </p:tgtEl>
                                </p:cBhvr>
                              </p:animEffect>
                              <p:animEffect transition="in" filter="fade">
                                <p:cBhvr>
                                  <p:cTn id="50033" dur="350"/>
                                  <p:tgtEl>
                                    <p:spTgt spid="52"/>
                                  </p:tgtEl>
                                </p:cBhvr>
                              </p:animEffect>
                              <p:animEffect transition="in" filter="fade">
                                <p:cBhvr>
                                  <p:cTn id="50034" dur="350"/>
                                  <p:tgtEl>
                                    <p:spTgt spid="13"/>
                                  </p:tgtEl>
                                </p:cBhvr>
                              </p:animEffect>
                              <p:animEffect transition="in" filter="fade">
                                <p:cBhvr>
                                  <p:cTn id="50035" dur="350"/>
                                  <p:tgtEl>
                                    <p:spTgt spid="21"/>
                                  </p:tgtEl>
                                </p:cBhvr>
                              </p:animEffect>
                              <p:animEffect transition="in" filter="fade">
                                <p:cBhvr>
                                  <p:cTn id="50036" dur="350"/>
                                  <p:tgtEl>
                                    <p:spTgt spid="29"/>
                                  </p:tgtEl>
                                </p:cBhvr>
                              </p:animEffect>
                              <p:animEffect transition="in" filter="fade">
                                <p:cBhvr>
                                  <p:cTn id="50037" dur="350"/>
                                  <p:tgtEl>
                                    <p:spTgt spid="37"/>
                                  </p:tgtEl>
                                </p:cBhvr>
                              </p:animEffect>
                              <p:animEffect transition="in" filter="fade">
                                <p:cBhvr>
                                  <p:cTn id="50038" dur="350"/>
                                  <p:tgtEl>
                                    <p:spTgt spid="45"/>
                                  </p:tgtEl>
                                </p:cBhvr>
                              </p:animEffect>
                              <p:animEffect transition="in" filter="fade">
                                <p:cBhvr>
                                  <p:cTn id="50039" dur="350"/>
                                  <p:tgtEl>
                                    <p:spTgt spid="53"/>
                                  </p:tgtEl>
                                </p:cBhvr>
                              </p:animEffect>
                              <p:animEffect transition="in" filter="fade">
                                <p:cBhvr>
                                  <p:cTn id="50040" dur="350"/>
                                  <p:tgtEl>
                                    <p:spTgt spid="14"/>
                                  </p:tgtEl>
                                </p:cBhvr>
                              </p:animEffect>
                              <p:animEffect transition="in" filter="fade">
                                <p:cBhvr>
                                  <p:cTn id="50041" dur="350"/>
                                  <p:tgtEl>
                                    <p:spTgt spid="22"/>
                                  </p:tgtEl>
                                </p:cBhvr>
                              </p:animEffect>
                              <p:animEffect transition="in" filter="fade">
                                <p:cBhvr>
                                  <p:cTn id="50042" dur="350"/>
                                  <p:tgtEl>
                                    <p:spTgt spid="30"/>
                                  </p:tgtEl>
                                </p:cBhvr>
                              </p:animEffect>
                              <p:animEffect transition="in" filter="fade">
                                <p:cBhvr>
                                  <p:cTn id="50043" dur="350"/>
                                  <p:tgtEl>
                                    <p:spTgt spid="38"/>
                                  </p:tgtEl>
                                </p:cBhvr>
                              </p:animEffect>
                              <p:animEffect transition="in" filter="fade">
                                <p:cBhvr>
                                  <p:cTn id="50044" dur="350"/>
                                  <p:tgtEl>
                                    <p:spTgt spid="46"/>
                                  </p:tgtEl>
                                </p:cBhvr>
                              </p:animEffect>
                              <p:animEffect transition="in" filter="fade">
                                <p:cBhvr>
                                  <p:cTn id="50045" dur="350"/>
                                  <p:tgtEl>
                                    <p:spTgt spid="54"/>
                                  </p:tgtEl>
                                </p:cBhvr>
                              </p:animEffect>
                              <p:animEffect transition="in" filter="fade">
                                <p:cBhvr>
                                  <p:cTn id="50046" dur="350"/>
                                  <p:tgtEl>
                                    <p:spTgt spid="15"/>
                                  </p:tgtEl>
                                </p:cBhvr>
                              </p:animEffect>
                              <p:animEffect transition="in" filter="fade">
                                <p:cBhvr>
                                  <p:cTn id="50047" dur="350"/>
                                  <p:tgtEl>
                                    <p:spTgt spid="23"/>
                                  </p:tgtEl>
                                </p:cBhvr>
                              </p:animEffect>
                              <p:animEffect transition="in" filter="fade">
                                <p:cBhvr>
                                  <p:cTn id="50048" dur="350"/>
                                  <p:tgtEl>
                                    <p:spTgt spid="31"/>
                                  </p:tgtEl>
                                </p:cBhvr>
                              </p:animEffect>
                              <p:animEffect transition="in" filter="fade">
                                <p:cBhvr>
                                  <p:cTn id="50049" dur="350"/>
                                  <p:tgtEl>
                                    <p:spTgt spid="39"/>
                                  </p:tgtEl>
                                </p:cBhvr>
                              </p:animEffect>
                              <p:animEffect transition="in" filter="fade">
                                <p:cBhvr>
                                  <p:cTn id="50050" dur="350"/>
                                  <p:tgtEl>
                                    <p:spTgt spid="47"/>
                                  </p:tgtEl>
                                </p:cBhvr>
                              </p:animEffect>
                              <p:animEffect transition="in" filter="fade">
                                <p:cBhvr>
                                  <p:cTn id="50051" dur="350"/>
                                  <p:tgtEl>
                                    <p:spTgt spid="55"/>
                                  </p:tgtEl>
                                </p:cBhvr>
                              </p:animEffect>
                            </p:childTnLst>
                          </p:cTn>
                        </p:par>
                      </p:childTnLst>
                    </p:cTn>
                  </p:par>
                  <p:par>
                    <p:cTn id="50100" fill="hold">
                      <p:stCondLst>
                        <p:cond delay="450"/>
                      </p:stCondLst>
                      <p:childTnLst>
                        <p:par>
                          <p:cTn id="50103" presetID="10" presetClass="entr" presetSubtype="0" fill="hold" grpId="1" nodeType="withEffect">
                            <p:stCondLst>
                              <p:cond delay="0"/>
                            </p:stCondLst>
                            <p:childTnLst>
                              <p:animEffect transition="in" filter="fade">
                                <p:cBhvr>
                                  <p:cTn id="50101" dur="350"/>
                                  <p:tgtEl>
                                    <p:spTgt spid="56"/>
                                  </p:tgtEl>
                                </p:cBhvr>
                              </p:animEffect>
                              <p:animEffect transition="in" filter="fade">
                                <p:cBhvr>
                                  <p:cTn id="50102" dur="350"/>
                                  <p:tgtEl>
                                    <p:spTgt spid="5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animBg="1"/>
      <p:bldP spid="24" grpId="0" animBg="1"/>
      <p:bldP spid="32" grpId="0" animBg="1"/>
      <p:bldP spid="40" grpId="0" animBg="1"/>
      <p:bldP spid="48" grpId="0" animBg="1"/>
      <p:bldP spid="9" grpId="0" animBg="1"/>
      <p:bldP spid="17" grpId="0" animBg="1"/>
      <p:bldP spid="25" grpId="0" animBg="1"/>
      <p:bldP spid="33" grpId="0" animBg="1"/>
      <p:bldP spid="41" grpId="0" animBg="1"/>
      <p:bldP spid="49" grpId="0" animBg="1"/>
      <p:bldP spid="6" grpId="0" animBg="1"/>
      <p:bldP spid="7" grpId="0" animBg="1"/>
      <p:bldP spid="10" grpId="0" animBg="1"/>
      <p:bldP spid="18" grpId="0" animBg="1"/>
      <p:bldP spid="26" grpId="0" animBg="1"/>
      <p:bldP spid="34" grpId="0" animBg="1"/>
      <p:bldP spid="42" grpId="0" animBg="1"/>
      <p:bldP spid="50" grpId="0" animBg="1"/>
      <p:bldP spid="11" grpId="0" animBg="1"/>
      <p:bldP spid="19" grpId="0" animBg="1"/>
      <p:bldP spid="27" grpId="0" animBg="1"/>
      <p:bldP spid="35" grpId="0" animBg="1"/>
      <p:bldP spid="43" grpId="0" animBg="1"/>
      <p:bldP spid="51" grpId="0" animBg="1"/>
      <p:bldP spid="5" grpId="0" animBg="1"/>
      <p:bldP spid="12" grpId="0" animBg="1"/>
      <p:bldP spid="20" grpId="0" animBg="1"/>
      <p:bldP spid="28" grpId="0" animBg="1"/>
      <p:bldP spid="36" grpId="0" animBg="1"/>
      <p:bldP spid="44" grpId="0" animBg="1"/>
      <p:bldP spid="52" grpId="0" animBg="1"/>
      <p:bldP spid="13" grpId="0" animBg="1"/>
      <p:bldP spid="21" grpId="0" animBg="1"/>
      <p:bldP spid="29" grpId="0" animBg="1"/>
      <p:bldP spid="37" grpId="0" animBg="1"/>
      <p:bldP spid="45" grpId="0" animBg="1"/>
      <p:bldP spid="53" grpId="0" animBg="1"/>
      <p:bldP spid="14" grpId="0" animBg="1"/>
      <p:bldP spid="22" grpId="0" animBg="1"/>
      <p:bldP spid="30" grpId="0" animBg="1"/>
      <p:bldP spid="38" grpId="0" animBg="1"/>
      <p:bldP spid="46" grpId="0" animBg="1"/>
      <p:bldP spid="54" grpId="0" animBg="1"/>
      <p:bldP spid="15" grpId="0" animBg="1"/>
      <p:bldP spid="23" grpId="0" animBg="1"/>
      <p:bldP spid="31" grpId="0" animBg="1"/>
      <p:bldP spid="39" grpId="0" animBg="1"/>
      <p:bldP spid="47" grpId="0" animBg="1"/>
      <p:bldP spid="55" grpId="0" animBg="1"/>
      <p:bldP spid="56" grpId="1" animBg="1"/>
      <p:bldP spid="57"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0" y="0"/>
            <a:ext cx="64008" cy="5143500"/>
          </a:xfrm>
          <a:prstGeom prst="rect">
            <a:avLst/>
          </a:prstGeom>
          <a:solidFill>
            <a:srgbClr val="2A4875"/>
          </a:solidFill>
          <a:ln w="12700">
            <a:solidFill>
              <a:srgbClr val="2A4875"/>
            </a:solidFill>
            <a:prstDash val="solid"/>
          </a:ln>
        </p:spPr>
        <p:txBody>
          <a:bodyPr/>
          <a:lstStyle/>
          <a:p>
            <a:endParaRPr lang="en-US"/>
          </a:p>
        </p:txBody>
      </p:sp>
      <p:sp>
        <p:nvSpPr>
          <p:cNvPr id="4" name="Shape 2"/>
          <p:cNvSpPr/>
          <p:nvPr/>
        </p:nvSpPr>
        <p:spPr>
          <a:xfrm>
            <a:off x="-1371600" y="2743200"/>
            <a:ext cx="3657600" cy="3657600"/>
          </a:xfrm>
          <a:prstGeom prst="ellipse">
            <a:avLst/>
          </a:prstGeom>
          <a:solidFill>
            <a:srgbClr val="2A4875">
              <a:alpha val="7000"/>
            </a:srgbClr>
          </a:solidFill>
          <a:ln w="12700">
            <a:solidFill>
              <a:srgbClr val="F7F5F0"/>
            </a:solidFill>
            <a:prstDash val="solid"/>
          </a:ln>
        </p:spPr>
        <p:txBody>
          <a:bodyPr/>
          <a:lstStyle/>
          <a:p>
            <a:endParaRPr lang="en-US"/>
          </a:p>
        </p:txBody>
      </p:sp>
      <p:sp>
        <p:nvSpPr>
          <p:cNvPr id="5" name="Shape 3"/>
          <p:cNvSpPr/>
          <p:nvPr/>
        </p:nvSpPr>
        <p:spPr>
          <a:xfrm>
            <a:off x="-457200" y="3657600"/>
            <a:ext cx="1828800" cy="1828800"/>
          </a:xfrm>
          <a:prstGeom prst="ellipse">
            <a:avLst/>
          </a:prstGeom>
          <a:solidFill>
            <a:srgbClr val="2A4875">
              <a:alpha val="14000"/>
            </a:srgbClr>
          </a:solidFill>
          <a:ln w="12700">
            <a:solidFill>
              <a:srgbClr val="F7F5F0"/>
            </a:solidFill>
            <a:prstDash val="solid"/>
          </a:ln>
        </p:spPr>
        <p:txBody>
          <a:bodyPr/>
          <a:lstStyle/>
          <a:p>
            <a:endParaRPr lang="en-US"/>
          </a:p>
        </p:txBody>
      </p:sp>
      <p:sp>
        <p:nvSpPr>
          <p:cNvPr id="6" name="Shape 4"/>
          <p:cNvSpPr/>
          <p:nvPr/>
        </p:nvSpPr>
        <p:spPr>
          <a:xfrm>
            <a:off x="7315200" y="-1828800"/>
            <a:ext cx="3657600" cy="3657600"/>
          </a:xfrm>
          <a:prstGeom prst="ellipse">
            <a:avLst/>
          </a:prstGeom>
          <a:solidFill>
            <a:srgbClr val="4C3275">
              <a:alpha val="7000"/>
            </a:srgbClr>
          </a:solidFill>
          <a:ln w="12700">
            <a:solidFill>
              <a:srgbClr val="F7F5F0"/>
            </a:solidFill>
            <a:prstDash val="solid"/>
          </a:ln>
        </p:spPr>
        <p:txBody>
          <a:bodyPr/>
          <a:lstStyle/>
          <a:p>
            <a:endParaRPr lang="en-US"/>
          </a:p>
        </p:txBody>
      </p:sp>
      <p:sp>
        <p:nvSpPr>
          <p:cNvPr id="7" name="Shape 5"/>
          <p:cNvSpPr/>
          <p:nvPr/>
        </p:nvSpPr>
        <p:spPr>
          <a:xfrm>
            <a:off x="8229600" y="-914400"/>
            <a:ext cx="1828800" cy="1828800"/>
          </a:xfrm>
          <a:prstGeom prst="ellipse">
            <a:avLst/>
          </a:prstGeom>
          <a:solidFill>
            <a:srgbClr val="4C3275">
              <a:alpha val="14000"/>
            </a:srgbClr>
          </a:solidFill>
          <a:ln w="12700">
            <a:solidFill>
              <a:srgbClr val="F7F5F0"/>
            </a:solidFill>
            <a:prstDash val="solid"/>
          </a:ln>
        </p:spPr>
        <p:txBody>
          <a:bodyPr/>
          <a:lstStyle/>
          <a:p>
            <a:endParaRPr lang="en-US"/>
          </a:p>
        </p:txBody>
      </p:sp>
      <p:sp>
        <p:nvSpPr>
          <p:cNvPr id="8" name="Text 6"/>
          <p:cNvSpPr/>
          <p:nvPr/>
        </p:nvSpPr>
        <p:spPr>
          <a:xfrm>
            <a:off x="457200" y="182880"/>
            <a:ext cx="8229600" cy="201168"/>
          </a:xfrm>
          <a:prstGeom prst="rect">
            <a:avLst/>
          </a:prstGeom>
          <a:noFill/>
          <a:ln/>
        </p:spPr>
        <p:txBody>
          <a:bodyPr wrap="square" rtlCol="0" anchor="ctr"/>
          <a:lstStyle/>
          <a:p>
            <a:pPr marL="0" indent="0">
              <a:buNone/>
            </a:pPr>
            <a:r>
              <a:rPr lang="en-US" sz="900" b="1" kern="0" spc="300" dirty="0">
                <a:solidFill>
                  <a:srgbClr val="2A4875"/>
                </a:solidFill>
                <a:latin typeface="Calibri" pitchFamily="34" charset="0"/>
                <a:ea typeface="Calibri" pitchFamily="34" charset="-122"/>
                <a:cs typeface="Calibri" pitchFamily="34" charset="-120"/>
              </a:rPr>
              <a:t>CONCLUSIONS</a:t>
            </a:r>
            <a:endParaRPr lang="en-US" sz="900" dirty="0"/>
          </a:p>
        </p:txBody>
      </p:sp>
      <p:sp>
        <p:nvSpPr>
          <p:cNvPr id="9" name="Text 7"/>
          <p:cNvSpPr/>
          <p:nvPr/>
        </p:nvSpPr>
        <p:spPr>
          <a:xfrm>
            <a:off x="457200" y="384048"/>
            <a:ext cx="7315200" cy="685800"/>
          </a:xfrm>
          <a:prstGeom prst="rect">
            <a:avLst/>
          </a:prstGeom>
          <a:noFill/>
          <a:ln/>
        </p:spPr>
        <p:txBody>
          <a:bodyPr wrap="square" rtlCol="0" anchor="ctr"/>
          <a:lstStyle/>
          <a:p>
            <a:pPr marL="0" indent="0">
              <a:buNone/>
            </a:pPr>
            <a:r>
              <a:rPr lang="en-US" sz="2600" b="1" dirty="0">
                <a:solidFill>
                  <a:srgbClr val="1A1814"/>
                </a:solidFill>
                <a:latin typeface="Calibri" pitchFamily="34" charset="0"/>
                <a:ea typeface="Calibri" pitchFamily="34" charset="-122"/>
                <a:cs typeface="Calibri" pitchFamily="34" charset="-120"/>
              </a:rPr>
              <a:t>Four Questions Answered. Two Novel Tools Built.</a:t>
            </a:r>
            <a:endParaRPr lang="en-US" sz="2600" dirty="0"/>
          </a:p>
        </p:txBody>
      </p:sp>
      <p:sp>
        <p:nvSpPr>
          <p:cNvPr id="10" name="Shape 8"/>
          <p:cNvSpPr/>
          <p:nvPr/>
        </p:nvSpPr>
        <p:spPr>
          <a:xfrm>
            <a:off x="320040" y="1097280"/>
            <a:ext cx="4206240" cy="1682496"/>
          </a:xfrm>
          <a:prstGeom prst="roundRect">
            <a:avLst>
              <a:gd name="adj" fmla="val 6522"/>
            </a:avLst>
          </a:prstGeom>
          <a:solidFill>
            <a:srgbClr val="EDEAE3"/>
          </a:solidFill>
          <a:ln w="12700">
            <a:solidFill>
              <a:srgbClr val="CFCABC"/>
            </a:solidFill>
            <a:prstDash val="solid"/>
          </a:ln>
        </p:spPr>
        <p:txBody>
          <a:bodyPr/>
          <a:lstStyle/>
          <a:p>
            <a:endParaRPr lang="en-US"/>
          </a:p>
        </p:txBody>
      </p:sp>
      <p:sp>
        <p:nvSpPr>
          <p:cNvPr id="11" name="Shape 9"/>
          <p:cNvSpPr/>
          <p:nvPr/>
        </p:nvSpPr>
        <p:spPr>
          <a:xfrm>
            <a:off x="320040" y="1170432"/>
            <a:ext cx="45720" cy="1536192"/>
          </a:xfrm>
          <a:prstGeom prst="rect">
            <a:avLst/>
          </a:prstGeom>
          <a:solidFill>
            <a:srgbClr val="2A4875"/>
          </a:solidFill>
          <a:ln w="12700">
            <a:solidFill>
              <a:srgbClr val="2A4875"/>
            </a:solidFill>
            <a:prstDash val="solid"/>
          </a:ln>
        </p:spPr>
        <p:txBody>
          <a:bodyPr/>
          <a:lstStyle/>
          <a:p>
            <a:endParaRPr lang="en-US"/>
          </a:p>
        </p:txBody>
      </p:sp>
      <p:sp>
        <p:nvSpPr>
          <p:cNvPr id="12" name="Shape 10"/>
          <p:cNvSpPr/>
          <p:nvPr/>
        </p:nvSpPr>
        <p:spPr>
          <a:xfrm>
            <a:off x="484632" y="1234440"/>
            <a:ext cx="658368" cy="219456"/>
          </a:xfrm>
          <a:prstGeom prst="roundRect">
            <a:avLst>
              <a:gd name="adj" fmla="val 33333"/>
            </a:avLst>
          </a:prstGeom>
          <a:solidFill>
            <a:srgbClr val="2A4875">
              <a:alpha val="20000"/>
            </a:srgbClr>
          </a:solidFill>
          <a:ln w="12700">
            <a:solidFill>
              <a:srgbClr val="2A4875"/>
            </a:solidFill>
            <a:prstDash val="solid"/>
          </a:ln>
        </p:spPr>
        <p:txBody>
          <a:bodyPr/>
          <a:lstStyle/>
          <a:p>
            <a:endParaRPr lang="en-US"/>
          </a:p>
        </p:txBody>
      </p:sp>
      <p:sp>
        <p:nvSpPr>
          <p:cNvPr id="13" name="Text 11"/>
          <p:cNvSpPr/>
          <p:nvPr/>
        </p:nvSpPr>
        <p:spPr>
          <a:xfrm>
            <a:off x="484632" y="1234440"/>
            <a:ext cx="658368" cy="219456"/>
          </a:xfrm>
          <a:prstGeom prst="rect">
            <a:avLst/>
          </a:prstGeom>
          <a:noFill/>
          <a:ln/>
        </p:spPr>
        <p:txBody>
          <a:bodyPr wrap="square" rtlCol="0" anchor="ctr"/>
          <a:lstStyle/>
          <a:p>
            <a:pPr marL="0" indent="0" algn="ctr">
              <a:buNone/>
            </a:pPr>
            <a:r>
              <a:rPr lang="en-US" sz="800" b="1" dirty="0">
                <a:solidFill>
                  <a:srgbClr val="2A4875"/>
                </a:solidFill>
                <a:latin typeface="Calibri" pitchFamily="34" charset="0"/>
                <a:ea typeface="Calibri" pitchFamily="34" charset="-122"/>
                <a:cs typeface="Calibri" pitchFamily="34" charset="-120"/>
              </a:rPr>
              <a:t>RQ1+RQ2</a:t>
            </a:r>
            <a:endParaRPr lang="en-US" sz="800" dirty="0"/>
          </a:p>
        </p:txBody>
      </p:sp>
      <p:sp>
        <p:nvSpPr>
          <p:cNvPr id="14" name="Text 12"/>
          <p:cNvSpPr/>
          <p:nvPr/>
        </p:nvSpPr>
        <p:spPr>
          <a:xfrm>
            <a:off x="484632" y="1536192"/>
            <a:ext cx="3931920"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Technique choice is strongly task-dependent</a:t>
            </a:r>
            <a:endParaRPr lang="en-US" sz="1200" dirty="0"/>
          </a:p>
        </p:txBody>
      </p:sp>
      <p:sp>
        <p:nvSpPr>
          <p:cNvPr id="15" name="Text 13"/>
          <p:cNvSpPr/>
          <p:nvPr/>
        </p:nvSpPr>
        <p:spPr>
          <a:xfrm>
            <a:off x="484632" y="1901952"/>
            <a:ext cx="3931920" cy="768096"/>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The same technique that boosts reasoning by 27pp actively hurts summarisation. Cross-task generalisation is dangerous without empirical evidence.</a:t>
            </a:r>
            <a:endParaRPr lang="en-US" sz="1000" dirty="0"/>
          </a:p>
        </p:txBody>
      </p:sp>
      <p:sp>
        <p:nvSpPr>
          <p:cNvPr id="16" name="Shape 14"/>
          <p:cNvSpPr/>
          <p:nvPr/>
        </p:nvSpPr>
        <p:spPr>
          <a:xfrm>
            <a:off x="4754880" y="1097280"/>
            <a:ext cx="4206240" cy="1682496"/>
          </a:xfrm>
          <a:prstGeom prst="roundRect">
            <a:avLst>
              <a:gd name="adj" fmla="val 6522"/>
            </a:avLst>
          </a:prstGeom>
          <a:solidFill>
            <a:srgbClr val="EDEAE3"/>
          </a:solidFill>
          <a:ln w="12700">
            <a:solidFill>
              <a:srgbClr val="CFCABC"/>
            </a:solidFill>
            <a:prstDash val="solid"/>
          </a:ln>
        </p:spPr>
        <p:txBody>
          <a:bodyPr/>
          <a:lstStyle/>
          <a:p>
            <a:endParaRPr lang="en-US"/>
          </a:p>
        </p:txBody>
      </p:sp>
      <p:sp>
        <p:nvSpPr>
          <p:cNvPr id="17" name="Shape 15"/>
          <p:cNvSpPr/>
          <p:nvPr/>
        </p:nvSpPr>
        <p:spPr>
          <a:xfrm>
            <a:off x="4754880" y="1170432"/>
            <a:ext cx="45720" cy="1536192"/>
          </a:xfrm>
          <a:prstGeom prst="rect">
            <a:avLst/>
          </a:prstGeom>
          <a:solidFill>
            <a:srgbClr val="6E5200"/>
          </a:solidFill>
          <a:ln w="12700">
            <a:solidFill>
              <a:srgbClr val="6E5200"/>
            </a:solidFill>
            <a:prstDash val="solid"/>
          </a:ln>
        </p:spPr>
        <p:txBody>
          <a:bodyPr/>
          <a:lstStyle/>
          <a:p>
            <a:endParaRPr lang="en-US"/>
          </a:p>
        </p:txBody>
      </p:sp>
      <p:sp>
        <p:nvSpPr>
          <p:cNvPr id="18" name="Shape 16"/>
          <p:cNvSpPr/>
          <p:nvPr/>
        </p:nvSpPr>
        <p:spPr>
          <a:xfrm>
            <a:off x="4919472" y="1234440"/>
            <a:ext cx="658368" cy="219456"/>
          </a:xfrm>
          <a:prstGeom prst="roundRect">
            <a:avLst>
              <a:gd name="adj" fmla="val 33333"/>
            </a:avLst>
          </a:prstGeom>
          <a:solidFill>
            <a:srgbClr val="6E5200">
              <a:alpha val="20000"/>
            </a:srgbClr>
          </a:solidFill>
          <a:ln w="12700">
            <a:solidFill>
              <a:srgbClr val="6E5200"/>
            </a:solidFill>
            <a:prstDash val="solid"/>
          </a:ln>
        </p:spPr>
        <p:txBody>
          <a:bodyPr/>
          <a:lstStyle/>
          <a:p>
            <a:endParaRPr lang="en-US"/>
          </a:p>
        </p:txBody>
      </p:sp>
      <p:sp>
        <p:nvSpPr>
          <p:cNvPr id="19" name="Text 17"/>
          <p:cNvSpPr/>
          <p:nvPr/>
        </p:nvSpPr>
        <p:spPr>
          <a:xfrm>
            <a:off x="4919472" y="1234440"/>
            <a:ext cx="658368" cy="219456"/>
          </a:xfrm>
          <a:prstGeom prst="rect">
            <a:avLst/>
          </a:prstGeom>
          <a:noFill/>
          <a:ln/>
        </p:spPr>
        <p:txBody>
          <a:bodyPr wrap="square" rtlCol="0" anchor="ctr"/>
          <a:lstStyle/>
          <a:p>
            <a:pPr marL="0" indent="0" algn="ctr">
              <a:buNone/>
            </a:pPr>
            <a:r>
              <a:rPr lang="en-US" sz="800" b="1" dirty="0">
                <a:solidFill>
                  <a:srgbClr val="6E5200"/>
                </a:solidFill>
                <a:latin typeface="Calibri" pitchFamily="34" charset="0"/>
                <a:ea typeface="Calibri" pitchFamily="34" charset="-122"/>
                <a:cs typeface="Calibri" pitchFamily="34" charset="-120"/>
              </a:rPr>
              <a:t>RQ2</a:t>
            </a:r>
            <a:endParaRPr lang="en-US" sz="800" dirty="0"/>
          </a:p>
        </p:txBody>
      </p:sp>
      <p:sp>
        <p:nvSpPr>
          <p:cNvPr id="20" name="Text 18"/>
          <p:cNvSpPr/>
          <p:nvPr/>
        </p:nvSpPr>
        <p:spPr>
          <a:xfrm>
            <a:off x="4919472" y="1536192"/>
            <a:ext cx="3931920"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Statistical significance ≠ practical significance</a:t>
            </a:r>
            <a:endParaRPr lang="en-US" sz="1200" dirty="0"/>
          </a:p>
        </p:txBody>
      </p:sp>
      <p:sp>
        <p:nvSpPr>
          <p:cNvPr id="21" name="Text 19"/>
          <p:cNvSpPr/>
          <p:nvPr/>
        </p:nvSpPr>
        <p:spPr>
          <a:xfrm>
            <a:off x="4919472" y="1901952"/>
            <a:ext cx="3931920" cy="768096"/>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QA few-shot gain is significant (p=0.018) but negligible (d=0.07). Effect sizes must accompany p-values in any responsible evaluation.</a:t>
            </a:r>
            <a:endParaRPr lang="en-US" sz="1000" dirty="0"/>
          </a:p>
        </p:txBody>
      </p:sp>
      <p:sp>
        <p:nvSpPr>
          <p:cNvPr id="22" name="Shape 20"/>
          <p:cNvSpPr/>
          <p:nvPr/>
        </p:nvSpPr>
        <p:spPr>
          <a:xfrm>
            <a:off x="320040" y="2926080"/>
            <a:ext cx="4206240" cy="1682496"/>
          </a:xfrm>
          <a:prstGeom prst="roundRect">
            <a:avLst>
              <a:gd name="adj" fmla="val 6522"/>
            </a:avLst>
          </a:prstGeom>
          <a:solidFill>
            <a:srgbClr val="EDEAE3"/>
          </a:solidFill>
          <a:ln w="12700">
            <a:solidFill>
              <a:srgbClr val="CFCABC"/>
            </a:solidFill>
            <a:prstDash val="solid"/>
          </a:ln>
        </p:spPr>
        <p:txBody>
          <a:bodyPr/>
          <a:lstStyle/>
          <a:p>
            <a:endParaRPr lang="en-US"/>
          </a:p>
        </p:txBody>
      </p:sp>
      <p:sp>
        <p:nvSpPr>
          <p:cNvPr id="23" name="Shape 21"/>
          <p:cNvSpPr/>
          <p:nvPr/>
        </p:nvSpPr>
        <p:spPr>
          <a:xfrm>
            <a:off x="320040" y="2999232"/>
            <a:ext cx="45720" cy="1536192"/>
          </a:xfrm>
          <a:prstGeom prst="rect">
            <a:avLst/>
          </a:prstGeom>
          <a:solidFill>
            <a:srgbClr val="245E3E"/>
          </a:solidFill>
          <a:ln w="12700">
            <a:solidFill>
              <a:srgbClr val="245E3E"/>
            </a:solidFill>
            <a:prstDash val="solid"/>
          </a:ln>
        </p:spPr>
        <p:txBody>
          <a:bodyPr/>
          <a:lstStyle/>
          <a:p>
            <a:endParaRPr lang="en-US"/>
          </a:p>
        </p:txBody>
      </p:sp>
      <p:sp>
        <p:nvSpPr>
          <p:cNvPr id="24" name="Shape 22"/>
          <p:cNvSpPr/>
          <p:nvPr/>
        </p:nvSpPr>
        <p:spPr>
          <a:xfrm>
            <a:off x="484632" y="3063240"/>
            <a:ext cx="658368" cy="219456"/>
          </a:xfrm>
          <a:prstGeom prst="roundRect">
            <a:avLst>
              <a:gd name="adj" fmla="val 33333"/>
            </a:avLst>
          </a:prstGeom>
          <a:solidFill>
            <a:srgbClr val="245E3E">
              <a:alpha val="20000"/>
            </a:srgbClr>
          </a:solidFill>
          <a:ln w="12700">
            <a:solidFill>
              <a:srgbClr val="245E3E"/>
            </a:solidFill>
            <a:prstDash val="solid"/>
          </a:ln>
        </p:spPr>
        <p:txBody>
          <a:bodyPr/>
          <a:lstStyle/>
          <a:p>
            <a:endParaRPr lang="en-US"/>
          </a:p>
        </p:txBody>
      </p:sp>
      <p:sp>
        <p:nvSpPr>
          <p:cNvPr id="25" name="Text 23"/>
          <p:cNvSpPr/>
          <p:nvPr/>
        </p:nvSpPr>
        <p:spPr>
          <a:xfrm>
            <a:off x="484632" y="3063240"/>
            <a:ext cx="658368" cy="219456"/>
          </a:xfrm>
          <a:prstGeom prst="rect">
            <a:avLst/>
          </a:prstGeom>
          <a:noFill/>
          <a:ln/>
        </p:spPr>
        <p:txBody>
          <a:bodyPr wrap="square" rtlCol="0" anchor="ctr"/>
          <a:lstStyle/>
          <a:p>
            <a:pPr marL="0" indent="0" algn="ctr">
              <a:buNone/>
            </a:pPr>
            <a:r>
              <a:rPr lang="en-US" sz="800" b="1" dirty="0">
                <a:solidFill>
                  <a:srgbClr val="245E3E"/>
                </a:solidFill>
                <a:latin typeface="Calibri" pitchFamily="34" charset="0"/>
                <a:ea typeface="Calibri" pitchFamily="34" charset="-122"/>
                <a:cs typeface="Calibri" pitchFamily="34" charset="-120"/>
              </a:rPr>
              <a:t>RQ3</a:t>
            </a:r>
            <a:endParaRPr lang="en-US" sz="800" dirty="0"/>
          </a:p>
        </p:txBody>
      </p:sp>
      <p:sp>
        <p:nvSpPr>
          <p:cNvPr id="26" name="Text 24"/>
          <p:cNvSpPr/>
          <p:nvPr/>
        </p:nvSpPr>
        <p:spPr>
          <a:xfrm>
            <a:off x="484632" y="3364992"/>
            <a:ext cx="3931920"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Explicit format constraints consistently help</a:t>
            </a:r>
            <a:endParaRPr lang="en-US" sz="1200" dirty="0"/>
          </a:p>
        </p:txBody>
      </p:sp>
      <p:sp>
        <p:nvSpPr>
          <p:cNvPr id="27" name="Text 25"/>
          <p:cNvSpPr/>
          <p:nvPr/>
        </p:nvSpPr>
        <p:spPr>
          <a:xfrm>
            <a:off x="484632" y="3730752"/>
            <a:ext cx="3931920" cy="768096"/>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Constraining the output format (e.g., 'Answer with a single word') reduces noise across all three task domains -a universal design principle.</a:t>
            </a:r>
            <a:endParaRPr lang="en-US" sz="1000" dirty="0"/>
          </a:p>
        </p:txBody>
      </p:sp>
      <p:sp>
        <p:nvSpPr>
          <p:cNvPr id="28" name="Shape 26"/>
          <p:cNvSpPr/>
          <p:nvPr/>
        </p:nvSpPr>
        <p:spPr>
          <a:xfrm>
            <a:off x="4754880" y="2926080"/>
            <a:ext cx="4206240" cy="1682496"/>
          </a:xfrm>
          <a:prstGeom prst="roundRect">
            <a:avLst>
              <a:gd name="adj" fmla="val 6522"/>
            </a:avLst>
          </a:prstGeom>
          <a:solidFill>
            <a:srgbClr val="EDEAE3"/>
          </a:solidFill>
          <a:ln w="12700">
            <a:solidFill>
              <a:srgbClr val="CFCABC"/>
            </a:solidFill>
            <a:prstDash val="solid"/>
          </a:ln>
        </p:spPr>
        <p:txBody>
          <a:bodyPr/>
          <a:lstStyle/>
          <a:p>
            <a:endParaRPr lang="en-US"/>
          </a:p>
        </p:txBody>
      </p:sp>
      <p:sp>
        <p:nvSpPr>
          <p:cNvPr id="29" name="Shape 27"/>
          <p:cNvSpPr/>
          <p:nvPr/>
        </p:nvSpPr>
        <p:spPr>
          <a:xfrm>
            <a:off x="4754880" y="2999232"/>
            <a:ext cx="45720" cy="1536192"/>
          </a:xfrm>
          <a:prstGeom prst="rect">
            <a:avLst/>
          </a:prstGeom>
          <a:solidFill>
            <a:srgbClr val="7A3020"/>
          </a:solidFill>
          <a:ln w="12700">
            <a:solidFill>
              <a:srgbClr val="7A3020"/>
            </a:solidFill>
            <a:prstDash val="solid"/>
          </a:ln>
        </p:spPr>
        <p:txBody>
          <a:bodyPr/>
          <a:lstStyle/>
          <a:p>
            <a:endParaRPr lang="en-US"/>
          </a:p>
        </p:txBody>
      </p:sp>
      <p:sp>
        <p:nvSpPr>
          <p:cNvPr id="30" name="Shape 28"/>
          <p:cNvSpPr/>
          <p:nvPr/>
        </p:nvSpPr>
        <p:spPr>
          <a:xfrm>
            <a:off x="4919472" y="3063240"/>
            <a:ext cx="658368" cy="219456"/>
          </a:xfrm>
          <a:prstGeom prst="roundRect">
            <a:avLst>
              <a:gd name="adj" fmla="val 33333"/>
            </a:avLst>
          </a:prstGeom>
          <a:solidFill>
            <a:srgbClr val="7A3020">
              <a:alpha val="20000"/>
            </a:srgbClr>
          </a:solidFill>
          <a:ln w="12700">
            <a:solidFill>
              <a:srgbClr val="7A3020"/>
            </a:solidFill>
            <a:prstDash val="solid"/>
          </a:ln>
        </p:spPr>
        <p:txBody>
          <a:bodyPr/>
          <a:lstStyle/>
          <a:p>
            <a:endParaRPr lang="en-US"/>
          </a:p>
        </p:txBody>
      </p:sp>
      <p:sp>
        <p:nvSpPr>
          <p:cNvPr id="31" name="Text 29"/>
          <p:cNvSpPr/>
          <p:nvPr/>
        </p:nvSpPr>
        <p:spPr>
          <a:xfrm>
            <a:off x="4919472" y="3063240"/>
            <a:ext cx="658368" cy="219456"/>
          </a:xfrm>
          <a:prstGeom prst="rect">
            <a:avLst/>
          </a:prstGeom>
          <a:noFill/>
          <a:ln/>
        </p:spPr>
        <p:txBody>
          <a:bodyPr wrap="square" rtlCol="0" anchor="ctr"/>
          <a:lstStyle/>
          <a:p>
            <a:pPr marL="0" indent="0" algn="ctr">
              <a:buNone/>
            </a:pPr>
            <a:r>
              <a:rPr lang="en-US" sz="800" b="1" dirty="0">
                <a:solidFill>
                  <a:srgbClr val="7A3020"/>
                </a:solidFill>
                <a:latin typeface="Calibri" pitchFamily="34" charset="0"/>
                <a:ea typeface="Calibri" pitchFamily="34" charset="-122"/>
                <a:cs typeface="Calibri" pitchFamily="34" charset="-120"/>
              </a:rPr>
              <a:t>RQ4</a:t>
            </a:r>
            <a:endParaRPr lang="en-US" sz="800" dirty="0"/>
          </a:p>
        </p:txBody>
      </p:sp>
      <p:sp>
        <p:nvSpPr>
          <p:cNvPr id="32" name="Text 30"/>
          <p:cNvSpPr/>
          <p:nvPr/>
        </p:nvSpPr>
        <p:spPr>
          <a:xfrm>
            <a:off x="4919472" y="3364992"/>
            <a:ext cx="3931920" cy="320040"/>
          </a:xfrm>
          <a:prstGeom prst="rect">
            <a:avLst/>
          </a:prstGeom>
          <a:noFill/>
          <a:ln/>
        </p:spPr>
        <p:txBody>
          <a:bodyPr wrap="square" rtlCol="0" anchor="ctr"/>
          <a:lstStyle/>
          <a:p>
            <a:pPr marL="0" indent="0">
              <a:buNone/>
            </a:pPr>
            <a:r>
              <a:rPr lang="en-US" sz="1200" b="1" dirty="0">
                <a:solidFill>
                  <a:srgbClr val="1A1814"/>
                </a:solidFill>
                <a:latin typeface="Calibri" pitchFamily="34" charset="0"/>
                <a:ea typeface="Calibri" pitchFamily="34" charset="-122"/>
                <a:cs typeface="Calibri" pitchFamily="34" charset="-120"/>
              </a:rPr>
              <a:t>Prompts can improve. Cost can be optimised.</a:t>
            </a:r>
            <a:endParaRPr lang="en-US" sz="1200" dirty="0"/>
          </a:p>
        </p:txBody>
      </p:sp>
      <p:sp>
        <p:nvSpPr>
          <p:cNvPr id="33" name="Text 31"/>
          <p:cNvSpPr/>
          <p:nvPr/>
        </p:nvSpPr>
        <p:spPr>
          <a:xfrm>
            <a:off x="4919472" y="3730752"/>
            <a:ext cx="3931920" cy="768096"/>
          </a:xfrm>
          <a:prstGeom prst="rect">
            <a:avLst/>
          </a:prstGeom>
          <a:noFill/>
          <a:ln/>
        </p:spPr>
        <p:txBody>
          <a:bodyPr wrap="square" rtlCol="0" anchor="ctr"/>
          <a:lstStyle/>
          <a:p>
            <a:pPr marL="0" indent="0">
              <a:buNone/>
            </a:pPr>
            <a:r>
              <a:rPr lang="en-US" sz="1000" dirty="0">
                <a:solidFill>
                  <a:srgbClr val="6E6760"/>
                </a:solidFill>
                <a:latin typeface="Calibri" pitchFamily="34" charset="0"/>
                <a:ea typeface="Calibri" pitchFamily="34" charset="-122"/>
                <a:cs typeface="Calibri" pitchFamily="34" charset="-120"/>
              </a:rPr>
              <a:t>RPO shows prompts can self-improve from failure cases. The Adaptive Cascade achieves near-CoT accuracy at a fraction of the token spend.</a:t>
            </a:r>
            <a:endParaRPr lang="en-US" sz="1000" dirty="0"/>
          </a:p>
        </p:txBody>
      </p:sp>
      <p:sp>
        <p:nvSpPr>
          <p:cNvPr id="34" name="Shape 32"/>
          <p:cNvSpPr/>
          <p:nvPr/>
        </p:nvSpPr>
        <p:spPr>
          <a:xfrm>
            <a:off x="320040" y="4754880"/>
            <a:ext cx="8503920" cy="274320"/>
          </a:xfrm>
          <a:prstGeom prst="roundRect">
            <a:avLst>
              <a:gd name="adj" fmla="val 20000"/>
            </a:avLst>
          </a:prstGeom>
          <a:solidFill>
            <a:srgbClr val="EDEAE3"/>
          </a:solidFill>
          <a:ln w="12700">
            <a:solidFill>
              <a:srgbClr val="CFCABC"/>
            </a:solidFill>
            <a:prstDash val="solid"/>
          </a:ln>
        </p:spPr>
        <p:txBody>
          <a:bodyPr/>
          <a:lstStyle/>
          <a:p>
            <a:endParaRPr lang="en-US"/>
          </a:p>
        </p:txBody>
      </p:sp>
      <p:sp>
        <p:nvSpPr>
          <p:cNvPr id="35" name="Text 33"/>
          <p:cNvSpPr/>
          <p:nvPr/>
        </p:nvSpPr>
        <p:spPr>
          <a:xfrm>
            <a:off x="320040" y="4754880"/>
            <a:ext cx="8503920" cy="274320"/>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Code: github.com/Varun-Kumar-DS/peef-dissertation   ·   Dashboard: peef-dashboard.streamlit.app</a:t>
            </a:r>
            <a:endParaRPr lang="en-US" sz="900" dirty="0"/>
          </a:p>
        </p:txBody>
      </p:sp>
    </p:spTree>
  </p:cSld>
  <p:clrMapOvr>
    <a:masterClrMapping/>
  </p:clrMapOvr>
  <p:transition spd="fast" advClick="1">
    <p:push dir="l"/>
  </p:transition>
  <p:timing>
    <p:tnLst>
      <p:par>
        <p:cTn id="49990" dur="indefinite" restart="whenNotActive" nodeType="tmRoot">
          <p:childTnLst>
            <p:seq concurrent="1" nextAc="seek">
              <p:cTn id="49991" dur="indefinite" nodeType="mainSeq">
                <p:childTnLst>
                  <p:par>
                    <p:cTn id="50000" fill="hold">
                      <p:stCondLst>
                        <p:cond delay="350"/>
                      </p:stCondLst>
                      <p:childTnLst>
                        <p:par>
                          <p:cTn id="50003" presetID="10" presetClass="entr" presetSubtype="0" fill="hold" grpId="0" nodeType="clickEffect">
                            <p:stCondLst>
                              <p:cond delay="0"/>
                            </p:stCondLst>
                            <p:childTnLst>
                              <p:animEffect transition="in" filter="fade">
                                <p:cBhvr>
                                  <p:cTn id="50001" dur="350"/>
                                  <p:tgtEl>
                                    <p:spTgt spid="8"/>
                                  </p:tgtEl>
                                </p:cBhvr>
                              </p:animEffect>
                              <p:animEffect transition="in" filter="fade">
                                <p:cBhvr>
                                  <p:cTn id="50002" dur="350"/>
                                  <p:tgtEl>
                                    <p:spTgt spid="9"/>
                                  </p:tgtEl>
                                </p:cBhvr>
                              </p:animEffect>
                            </p:childTnLst>
                          </p:cTn>
                        </p:par>
                      </p:childTnLst>
                    </p:cTn>
                  </p:par>
                  <p:par>
                    <p:cTn id="50100" fill="hold">
                      <p:stCondLst>
                        <p:cond delay="450"/>
                      </p:stCondLst>
                      <p:childTnLst>
                        <p:par>
                          <p:cTn id="50107" presetID="10" presetClass="entr" presetSubtype="0" fill="hold" grpId="1" nodeType="withEffect">
                            <p:stCondLst>
                              <p:cond delay="0"/>
                            </p:stCondLst>
                            <p:childTnLst>
                              <p:animEffect transition="in" filter="fade">
                                <p:cBhvr>
                                  <p:cTn id="50101" dur="350"/>
                                  <p:tgtEl>
                                    <p:spTgt spid="10"/>
                                  </p:tgtEl>
                                </p:cBhvr>
                              </p:animEffect>
                              <p:animEffect transition="in" filter="fade">
                                <p:cBhvr>
                                  <p:cTn id="50102" dur="350"/>
                                  <p:tgtEl>
                                    <p:spTgt spid="11"/>
                                  </p:tgtEl>
                                </p:cBhvr>
                              </p:animEffect>
                              <p:animEffect transition="in" filter="fade">
                                <p:cBhvr>
                                  <p:cTn id="50103" dur="350"/>
                                  <p:tgtEl>
                                    <p:spTgt spid="12"/>
                                  </p:tgtEl>
                                </p:cBhvr>
                              </p:animEffect>
                              <p:animEffect transition="in" filter="fade">
                                <p:cBhvr>
                                  <p:cTn id="50104" dur="350"/>
                                  <p:tgtEl>
                                    <p:spTgt spid="13"/>
                                  </p:tgtEl>
                                </p:cBhvr>
                              </p:animEffect>
                              <p:animEffect transition="in" filter="fade">
                                <p:cBhvr>
                                  <p:cTn id="50105" dur="350"/>
                                  <p:tgtEl>
                                    <p:spTgt spid="14"/>
                                  </p:tgtEl>
                                </p:cBhvr>
                              </p:animEffect>
                              <p:animEffect transition="in" filter="fade">
                                <p:cBhvr>
                                  <p:cTn id="50106" dur="350"/>
                                  <p:tgtEl>
                                    <p:spTgt spid="15"/>
                                  </p:tgtEl>
                                </p:cBhvr>
                              </p:animEffect>
                            </p:childTnLst>
                          </p:cTn>
                        </p:par>
                      </p:childTnLst>
                    </p:cTn>
                  </p:par>
                  <p:par>
                    <p:cTn id="50200" fill="hold">
                      <p:stCondLst>
                        <p:cond delay="550"/>
                      </p:stCondLst>
                      <p:childTnLst>
                        <p:par>
                          <p:cTn id="50207" presetID="10" presetClass="entr" presetSubtype="0" fill="hold" grpId="2" nodeType="withEffect">
                            <p:stCondLst>
                              <p:cond delay="0"/>
                            </p:stCondLst>
                            <p:childTnLst>
                              <p:animEffect transition="in" filter="fade">
                                <p:cBhvr>
                                  <p:cTn id="50201" dur="350"/>
                                  <p:tgtEl>
                                    <p:spTgt spid="16"/>
                                  </p:tgtEl>
                                </p:cBhvr>
                              </p:animEffect>
                              <p:animEffect transition="in" filter="fade">
                                <p:cBhvr>
                                  <p:cTn id="50202" dur="350"/>
                                  <p:tgtEl>
                                    <p:spTgt spid="17"/>
                                  </p:tgtEl>
                                </p:cBhvr>
                              </p:animEffect>
                              <p:animEffect transition="in" filter="fade">
                                <p:cBhvr>
                                  <p:cTn id="50203" dur="350"/>
                                  <p:tgtEl>
                                    <p:spTgt spid="18"/>
                                  </p:tgtEl>
                                </p:cBhvr>
                              </p:animEffect>
                              <p:animEffect transition="in" filter="fade">
                                <p:cBhvr>
                                  <p:cTn id="50204" dur="350"/>
                                  <p:tgtEl>
                                    <p:spTgt spid="19"/>
                                  </p:tgtEl>
                                </p:cBhvr>
                              </p:animEffect>
                              <p:animEffect transition="in" filter="fade">
                                <p:cBhvr>
                                  <p:cTn id="50205" dur="350"/>
                                  <p:tgtEl>
                                    <p:spTgt spid="20"/>
                                  </p:tgtEl>
                                </p:cBhvr>
                              </p:animEffect>
                              <p:animEffect transition="in" filter="fade">
                                <p:cBhvr>
                                  <p:cTn id="50206" dur="350"/>
                                  <p:tgtEl>
                                    <p:spTgt spid="21"/>
                                  </p:tgtEl>
                                </p:cBhvr>
                              </p:animEffect>
                            </p:childTnLst>
                          </p:cTn>
                        </p:par>
                      </p:childTnLst>
                    </p:cTn>
                  </p:par>
                  <p:par>
                    <p:cTn id="50300" fill="hold">
                      <p:stCondLst>
                        <p:cond delay="650"/>
                      </p:stCondLst>
                      <p:childTnLst>
                        <p:par>
                          <p:cTn id="50307" presetID="10" presetClass="entr" presetSubtype="0" fill="hold" grpId="3" nodeType="withEffect">
                            <p:stCondLst>
                              <p:cond delay="0"/>
                            </p:stCondLst>
                            <p:childTnLst>
                              <p:animEffect transition="in" filter="fade">
                                <p:cBhvr>
                                  <p:cTn id="50301" dur="350"/>
                                  <p:tgtEl>
                                    <p:spTgt spid="22"/>
                                  </p:tgtEl>
                                </p:cBhvr>
                              </p:animEffect>
                              <p:animEffect transition="in" filter="fade">
                                <p:cBhvr>
                                  <p:cTn id="50302" dur="350"/>
                                  <p:tgtEl>
                                    <p:spTgt spid="23"/>
                                  </p:tgtEl>
                                </p:cBhvr>
                              </p:animEffect>
                              <p:animEffect transition="in" filter="fade">
                                <p:cBhvr>
                                  <p:cTn id="50303" dur="350"/>
                                  <p:tgtEl>
                                    <p:spTgt spid="24"/>
                                  </p:tgtEl>
                                </p:cBhvr>
                              </p:animEffect>
                              <p:animEffect transition="in" filter="fade">
                                <p:cBhvr>
                                  <p:cTn id="50304" dur="350"/>
                                  <p:tgtEl>
                                    <p:spTgt spid="25"/>
                                  </p:tgtEl>
                                </p:cBhvr>
                              </p:animEffect>
                              <p:animEffect transition="in" filter="fade">
                                <p:cBhvr>
                                  <p:cTn id="50305" dur="350"/>
                                  <p:tgtEl>
                                    <p:spTgt spid="26"/>
                                  </p:tgtEl>
                                </p:cBhvr>
                              </p:animEffect>
                              <p:animEffect transition="in" filter="fade">
                                <p:cBhvr>
                                  <p:cTn id="50306" dur="350"/>
                                  <p:tgtEl>
                                    <p:spTgt spid="27"/>
                                  </p:tgtEl>
                                </p:cBhvr>
                              </p:animEffect>
                            </p:childTnLst>
                          </p:cTn>
                        </p:par>
                      </p:childTnLst>
                    </p:cTn>
                  </p:par>
                  <p:par>
                    <p:cTn id="50400" fill="hold">
                      <p:stCondLst>
                        <p:cond delay="750"/>
                      </p:stCondLst>
                      <p:childTnLst>
                        <p:par>
                          <p:cTn id="50407" presetID="10" presetClass="entr" presetSubtype="0" fill="hold" grpId="4" nodeType="withEffect">
                            <p:stCondLst>
                              <p:cond delay="0"/>
                            </p:stCondLst>
                            <p:childTnLst>
                              <p:animEffect transition="in" filter="fade">
                                <p:cBhvr>
                                  <p:cTn id="50401" dur="350"/>
                                  <p:tgtEl>
                                    <p:spTgt spid="28"/>
                                  </p:tgtEl>
                                </p:cBhvr>
                              </p:animEffect>
                              <p:animEffect transition="in" filter="fade">
                                <p:cBhvr>
                                  <p:cTn id="50402" dur="350"/>
                                  <p:tgtEl>
                                    <p:spTgt spid="29"/>
                                  </p:tgtEl>
                                </p:cBhvr>
                              </p:animEffect>
                              <p:animEffect transition="in" filter="fade">
                                <p:cBhvr>
                                  <p:cTn id="50403" dur="350"/>
                                  <p:tgtEl>
                                    <p:spTgt spid="30"/>
                                  </p:tgtEl>
                                </p:cBhvr>
                              </p:animEffect>
                              <p:animEffect transition="in" filter="fade">
                                <p:cBhvr>
                                  <p:cTn id="50404" dur="350"/>
                                  <p:tgtEl>
                                    <p:spTgt spid="31"/>
                                  </p:tgtEl>
                                </p:cBhvr>
                              </p:animEffect>
                              <p:animEffect transition="in" filter="fade">
                                <p:cBhvr>
                                  <p:cTn id="50405" dur="350"/>
                                  <p:tgtEl>
                                    <p:spTgt spid="32"/>
                                  </p:tgtEl>
                                </p:cBhvr>
                              </p:animEffect>
                              <p:animEffect transition="in" filter="fade">
                                <p:cBhvr>
                                  <p:cTn id="50406" dur="350"/>
                                  <p:tgtEl>
                                    <p:spTgt spid="33"/>
                                  </p:tgtEl>
                                </p:cBhvr>
                              </p:animEffect>
                            </p:childTnLst>
                          </p:cTn>
                        </p:par>
                      </p:childTnLst>
                    </p:cTn>
                  </p:par>
                  <p:par>
                    <p:cTn id="50500" fill="hold">
                      <p:stCondLst>
                        <p:cond delay="850"/>
                      </p:stCondLst>
                      <p:childTnLst>
                        <p:par>
                          <p:cTn id="50503" presetID="10" presetClass="entr" presetSubtype="0" fill="hold" grpId="5" nodeType="withEffect">
                            <p:stCondLst>
                              <p:cond delay="0"/>
                            </p:stCondLst>
                            <p:childTnLst>
                              <p:animEffect transition="in" filter="fade">
                                <p:cBhvr>
                                  <p:cTn id="50501" dur="350"/>
                                  <p:tgtEl>
                                    <p:spTgt spid="34"/>
                                  </p:tgtEl>
                                </p:cBhvr>
                              </p:animEffect>
                              <p:animEffect transition="in" filter="fade">
                                <p:cBhvr>
                                  <p:cTn id="50502" dur="350"/>
                                  <p:tgtEl>
                                    <p:spTgt spid="3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1" animBg="1"/>
      <p:bldP spid="11" grpId="1" animBg="1"/>
      <p:bldP spid="12" grpId="1" animBg="1"/>
      <p:bldP spid="13" grpId="1" animBg="1"/>
      <p:bldP spid="14" grpId="1" animBg="1"/>
      <p:bldP spid="15" grpId="1" animBg="1"/>
      <p:bldP spid="16" grpId="2" animBg="1"/>
      <p:bldP spid="17" grpId="2" animBg="1"/>
      <p:bldP spid="18" grpId="2" animBg="1"/>
      <p:bldP spid="19" grpId="2" animBg="1"/>
      <p:bldP spid="20" grpId="2" animBg="1"/>
      <p:bldP spid="21" grpId="2" animBg="1"/>
      <p:bldP spid="22" grpId="3" animBg="1"/>
      <p:bldP spid="23" grpId="3" animBg="1"/>
      <p:bldP spid="24" grpId="3" animBg="1"/>
      <p:bldP spid="25" grpId="3" animBg="1"/>
      <p:bldP spid="26" grpId="3" animBg="1"/>
      <p:bldP spid="27" grpId="3" animBg="1"/>
      <p:bldP spid="28" grpId="4" animBg="1"/>
      <p:bldP spid="29" grpId="4" animBg="1"/>
      <p:bldP spid="30" grpId="4" animBg="1"/>
      <p:bldP spid="31" grpId="4" animBg="1"/>
      <p:bldP spid="32" grpId="4" animBg="1"/>
      <p:bldP spid="33" grpId="4" animBg="1"/>
      <p:bldP spid="34" grpId="5" animBg="1"/>
      <p:bldP spid="35" grpId="5"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5F0"/>
          </a:solidFill>
          <a:ln w="12700">
            <a:solidFill>
              <a:srgbClr val="F7F5F0"/>
            </a:solidFill>
            <a:prstDash val="solid"/>
          </a:ln>
        </p:spPr>
        <p:txBody>
          <a:bodyPr/>
          <a:lstStyle/>
          <a:p>
            <a:endParaRPr lang="en-US"/>
          </a:p>
        </p:txBody>
      </p:sp>
      <p:sp>
        <p:nvSpPr>
          <p:cNvPr id="3" name="Shape 1"/>
          <p:cNvSpPr/>
          <p:nvPr/>
        </p:nvSpPr>
        <p:spPr>
          <a:xfrm>
            <a:off x="2011680" y="-914400"/>
            <a:ext cx="5120640" cy="5120640"/>
          </a:xfrm>
          <a:prstGeom prst="ellipse">
            <a:avLst/>
          </a:prstGeom>
          <a:solidFill>
            <a:srgbClr val="2A4875">
              <a:alpha val="7000"/>
            </a:srgbClr>
          </a:solidFill>
          <a:ln w="12700">
            <a:solidFill>
              <a:srgbClr val="F7F5F0"/>
            </a:solidFill>
            <a:prstDash val="solid"/>
          </a:ln>
        </p:spPr>
        <p:txBody>
          <a:bodyPr/>
          <a:lstStyle/>
          <a:p>
            <a:endParaRPr lang="en-US"/>
          </a:p>
        </p:txBody>
      </p:sp>
      <p:sp>
        <p:nvSpPr>
          <p:cNvPr id="4" name="Shape 2"/>
          <p:cNvSpPr/>
          <p:nvPr/>
        </p:nvSpPr>
        <p:spPr>
          <a:xfrm>
            <a:off x="3291840" y="365760"/>
            <a:ext cx="2560320" cy="2560320"/>
          </a:xfrm>
          <a:prstGeom prst="ellipse">
            <a:avLst/>
          </a:prstGeom>
          <a:solidFill>
            <a:srgbClr val="2A4875">
              <a:alpha val="14000"/>
            </a:srgbClr>
          </a:solidFill>
          <a:ln w="12700">
            <a:solidFill>
              <a:srgbClr val="F7F5F0"/>
            </a:solidFill>
            <a:prstDash val="solid"/>
          </a:ln>
        </p:spPr>
        <p:txBody>
          <a:bodyPr/>
          <a:lstStyle/>
          <a:p>
            <a:endParaRPr lang="en-US"/>
          </a:p>
        </p:txBody>
      </p:sp>
      <p:sp>
        <p:nvSpPr>
          <p:cNvPr id="5" name="Shape 3"/>
          <p:cNvSpPr/>
          <p:nvPr/>
        </p:nvSpPr>
        <p:spPr>
          <a:xfrm>
            <a:off x="91440" y="-182880"/>
            <a:ext cx="2560320" cy="2560320"/>
          </a:xfrm>
          <a:prstGeom prst="ellipse">
            <a:avLst/>
          </a:prstGeom>
          <a:solidFill>
            <a:srgbClr val="4C3275">
              <a:alpha val="7000"/>
            </a:srgbClr>
          </a:solidFill>
          <a:ln w="12700">
            <a:solidFill>
              <a:srgbClr val="F7F5F0"/>
            </a:solidFill>
            <a:prstDash val="solid"/>
          </a:ln>
        </p:spPr>
        <p:txBody>
          <a:bodyPr/>
          <a:lstStyle/>
          <a:p>
            <a:endParaRPr lang="en-US"/>
          </a:p>
        </p:txBody>
      </p:sp>
      <p:sp>
        <p:nvSpPr>
          <p:cNvPr id="6" name="Shape 4"/>
          <p:cNvSpPr/>
          <p:nvPr/>
        </p:nvSpPr>
        <p:spPr>
          <a:xfrm>
            <a:off x="731520" y="457200"/>
            <a:ext cx="1280160" cy="1280160"/>
          </a:xfrm>
          <a:prstGeom prst="ellipse">
            <a:avLst/>
          </a:prstGeom>
          <a:solidFill>
            <a:srgbClr val="4C3275">
              <a:alpha val="14000"/>
            </a:srgbClr>
          </a:solidFill>
          <a:ln w="12700">
            <a:solidFill>
              <a:srgbClr val="F7F5F0"/>
            </a:solidFill>
            <a:prstDash val="solid"/>
          </a:ln>
        </p:spPr>
        <p:txBody>
          <a:bodyPr/>
          <a:lstStyle/>
          <a:p>
            <a:endParaRPr lang="en-US"/>
          </a:p>
        </p:txBody>
      </p:sp>
      <p:sp>
        <p:nvSpPr>
          <p:cNvPr id="7" name="Shape 5"/>
          <p:cNvSpPr/>
          <p:nvPr/>
        </p:nvSpPr>
        <p:spPr>
          <a:xfrm>
            <a:off x="6309360" y="2926080"/>
            <a:ext cx="2926080" cy="2926080"/>
          </a:xfrm>
          <a:prstGeom prst="ellipse">
            <a:avLst/>
          </a:prstGeom>
          <a:solidFill>
            <a:srgbClr val="1A6268">
              <a:alpha val="7000"/>
            </a:srgbClr>
          </a:solidFill>
          <a:ln w="12700">
            <a:solidFill>
              <a:srgbClr val="F7F5F0"/>
            </a:solidFill>
            <a:prstDash val="solid"/>
          </a:ln>
        </p:spPr>
        <p:txBody>
          <a:bodyPr/>
          <a:lstStyle/>
          <a:p>
            <a:endParaRPr lang="en-US"/>
          </a:p>
        </p:txBody>
      </p:sp>
      <p:sp>
        <p:nvSpPr>
          <p:cNvPr id="8" name="Shape 6"/>
          <p:cNvSpPr/>
          <p:nvPr/>
        </p:nvSpPr>
        <p:spPr>
          <a:xfrm>
            <a:off x="7040880" y="3657600"/>
            <a:ext cx="1463040" cy="1463040"/>
          </a:xfrm>
          <a:prstGeom prst="ellipse">
            <a:avLst/>
          </a:prstGeom>
          <a:solidFill>
            <a:srgbClr val="1A6268">
              <a:alpha val="14000"/>
            </a:srgbClr>
          </a:solidFill>
          <a:ln w="12700">
            <a:solidFill>
              <a:srgbClr val="F7F5F0"/>
            </a:solidFill>
            <a:prstDash val="solid"/>
          </a:ln>
        </p:spPr>
        <p:txBody>
          <a:bodyPr/>
          <a:lstStyle/>
          <a:p>
            <a:endParaRPr lang="en-US"/>
          </a:p>
        </p:txBody>
      </p:sp>
      <p:sp>
        <p:nvSpPr>
          <p:cNvPr id="9" name="Shape 7"/>
          <p:cNvSpPr/>
          <p:nvPr/>
        </p:nvSpPr>
        <p:spPr>
          <a:xfrm>
            <a:off x="457200" y="256032"/>
            <a:ext cx="8229600" cy="22860"/>
          </a:xfrm>
          <a:prstGeom prst="rect">
            <a:avLst/>
          </a:prstGeom>
          <a:solidFill>
            <a:srgbClr val="2A4875"/>
          </a:solidFill>
          <a:ln w="12700">
            <a:solidFill>
              <a:srgbClr val="2A4875"/>
            </a:solidFill>
            <a:prstDash val="solid"/>
          </a:ln>
        </p:spPr>
        <p:txBody>
          <a:bodyPr/>
          <a:lstStyle/>
          <a:p>
            <a:endParaRPr lang="en-US"/>
          </a:p>
        </p:txBody>
      </p:sp>
      <p:sp>
        <p:nvSpPr>
          <p:cNvPr id="10" name="Text 8"/>
          <p:cNvSpPr/>
          <p:nvPr/>
        </p:nvSpPr>
        <p:spPr>
          <a:xfrm>
            <a:off x="457200" y="292608"/>
            <a:ext cx="8229600" cy="256032"/>
          </a:xfrm>
          <a:prstGeom prst="rect">
            <a:avLst/>
          </a:prstGeom>
          <a:noFill/>
          <a:ln/>
        </p:spPr>
        <p:txBody>
          <a:bodyPr wrap="square" rtlCol="0" anchor="ctr"/>
          <a:lstStyle/>
          <a:p>
            <a:pPr marL="0" indent="0" algn="ctr">
              <a:buNone/>
            </a:pPr>
            <a:r>
              <a:rPr lang="en-US" sz="1100" b="1" kern="0" spc="500" dirty="0">
                <a:solidFill>
                  <a:srgbClr val="2A4875"/>
                </a:solidFill>
                <a:latin typeface="Calibri" pitchFamily="34" charset="0"/>
                <a:ea typeface="Calibri" pitchFamily="34" charset="-122"/>
                <a:cs typeface="Calibri" pitchFamily="34" charset="-120"/>
              </a:rPr>
              <a:t>THANK YOU</a:t>
            </a:r>
            <a:endParaRPr lang="en-US" sz="1100" dirty="0"/>
          </a:p>
        </p:txBody>
      </p:sp>
      <p:sp>
        <p:nvSpPr>
          <p:cNvPr id="11" name="Text 9"/>
          <p:cNvSpPr/>
          <p:nvPr/>
        </p:nvSpPr>
        <p:spPr>
          <a:xfrm>
            <a:off x="457200" y="594360"/>
            <a:ext cx="8229600" cy="749808"/>
          </a:xfrm>
          <a:prstGeom prst="rect">
            <a:avLst/>
          </a:prstGeom>
          <a:noFill/>
          <a:ln/>
        </p:spPr>
        <p:txBody>
          <a:bodyPr wrap="square" rtlCol="0" anchor="ctr">
            <a:normAutofit/>
          </a:bodyPr>
          <a:lstStyle/>
          <a:p>
            <a:pPr marL="0" indent="0" algn="ctr">
              <a:buNone/>
            </a:pPr>
            <a:r>
              <a:rPr lang="en-US" sz="4000" b="1" dirty="0">
                <a:solidFill>
                  <a:srgbClr val="1A1814"/>
                </a:solidFill>
                <a:latin typeface="Calibri" pitchFamily="34" charset="0"/>
                <a:ea typeface="Calibri" pitchFamily="34" charset="-122"/>
                <a:cs typeface="Calibri" pitchFamily="34" charset="-120"/>
              </a:rPr>
              <a:t>I would love to hear your thoughts?</a:t>
            </a:r>
            <a:endParaRPr lang="en-US" sz="4000" dirty="0"/>
          </a:p>
        </p:txBody>
      </p:sp>
      <p:sp>
        <p:nvSpPr>
          <p:cNvPr id="12" name="Shape 10"/>
          <p:cNvSpPr/>
          <p:nvPr/>
        </p:nvSpPr>
        <p:spPr>
          <a:xfrm>
            <a:off x="457200" y="1508760"/>
            <a:ext cx="2651760" cy="1115568"/>
          </a:xfrm>
          <a:prstGeom prst="roundRect">
            <a:avLst>
              <a:gd name="adj" fmla="val 9836"/>
            </a:avLst>
          </a:prstGeom>
          <a:solidFill>
            <a:srgbClr val="EDEAE3"/>
          </a:solidFill>
          <a:ln w="12700">
            <a:solidFill>
              <a:srgbClr val="CFCABC"/>
            </a:solidFill>
            <a:prstDash val="solid"/>
          </a:ln>
        </p:spPr>
        <p:txBody>
          <a:bodyPr/>
          <a:lstStyle/>
          <a:p>
            <a:endParaRPr lang="en-US"/>
          </a:p>
        </p:txBody>
      </p:sp>
      <p:sp>
        <p:nvSpPr>
          <p:cNvPr id="13" name="Shape 11"/>
          <p:cNvSpPr/>
          <p:nvPr/>
        </p:nvSpPr>
        <p:spPr>
          <a:xfrm>
            <a:off x="457200" y="1508760"/>
            <a:ext cx="2651760" cy="41148"/>
          </a:xfrm>
          <a:prstGeom prst="rect">
            <a:avLst/>
          </a:prstGeom>
          <a:solidFill>
            <a:srgbClr val="2A4875"/>
          </a:solidFill>
          <a:ln w="12700">
            <a:solidFill>
              <a:srgbClr val="2A4875"/>
            </a:solidFill>
            <a:prstDash val="solid"/>
          </a:ln>
        </p:spPr>
        <p:txBody>
          <a:bodyPr/>
          <a:lstStyle/>
          <a:p>
            <a:endParaRPr lang="en-US"/>
          </a:p>
        </p:txBody>
      </p:sp>
      <p:sp>
        <p:nvSpPr>
          <p:cNvPr id="14" name="Text 12"/>
          <p:cNvSpPr/>
          <p:nvPr/>
        </p:nvSpPr>
        <p:spPr>
          <a:xfrm>
            <a:off x="566928" y="1600200"/>
            <a:ext cx="2432304" cy="475488"/>
          </a:xfrm>
          <a:prstGeom prst="rect">
            <a:avLst/>
          </a:prstGeom>
          <a:noFill/>
          <a:ln/>
        </p:spPr>
        <p:txBody>
          <a:bodyPr wrap="square" rtlCol="0" anchor="ctr"/>
          <a:lstStyle/>
          <a:p>
            <a:pPr marL="0" indent="0" algn="ctr">
              <a:buNone/>
            </a:pPr>
            <a:r>
              <a:rPr lang="en-US" sz="3000" b="1" dirty="0">
                <a:solidFill>
                  <a:srgbClr val="2A4875"/>
                </a:solidFill>
                <a:latin typeface="Calibri" pitchFamily="34" charset="0"/>
                <a:ea typeface="Calibri" pitchFamily="34" charset="-122"/>
                <a:cs typeface="Calibri" pitchFamily="34" charset="-120"/>
              </a:rPr>
              <a:t>70.6%</a:t>
            </a:r>
            <a:endParaRPr lang="en-US" sz="3000" dirty="0"/>
          </a:p>
        </p:txBody>
      </p:sp>
      <p:sp>
        <p:nvSpPr>
          <p:cNvPr id="15" name="Text 13"/>
          <p:cNvSpPr/>
          <p:nvPr/>
        </p:nvSpPr>
        <p:spPr>
          <a:xfrm>
            <a:off x="566928" y="2093976"/>
            <a:ext cx="2432304" cy="228600"/>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QA Best</a:t>
            </a:r>
            <a:endParaRPr lang="en-US" sz="1100" dirty="0"/>
          </a:p>
        </p:txBody>
      </p:sp>
      <p:sp>
        <p:nvSpPr>
          <p:cNvPr id="16" name="Text 14"/>
          <p:cNvSpPr/>
          <p:nvPr/>
        </p:nvSpPr>
        <p:spPr>
          <a:xfrm>
            <a:off x="566928" y="2331720"/>
            <a:ext cx="2432304" cy="182880"/>
          </a:xfrm>
          <a:prstGeom prst="rect">
            <a:avLst/>
          </a:prstGeom>
          <a:noFill/>
          <a:ln/>
        </p:spPr>
        <p:txBody>
          <a:bodyPr wrap="square" rtlCol="0" anchor="ctr"/>
          <a:lstStyle/>
          <a:p>
            <a:pPr marL="0" indent="0" algn="ctr">
              <a:buNone/>
            </a:pPr>
            <a:r>
              <a:rPr lang="en-US" sz="800" dirty="0">
                <a:solidFill>
                  <a:srgbClr val="9A9590"/>
                </a:solidFill>
                <a:latin typeface="Calibri" pitchFamily="34" charset="0"/>
                <a:ea typeface="Calibri" pitchFamily="34" charset="-122"/>
                <a:cs typeface="Calibri" pitchFamily="34" charset="-120"/>
              </a:rPr>
              <a:t>4-Shot · TriviaQA (n=500)</a:t>
            </a:r>
            <a:endParaRPr lang="en-US" sz="800" dirty="0"/>
          </a:p>
        </p:txBody>
      </p:sp>
      <p:sp>
        <p:nvSpPr>
          <p:cNvPr id="17" name="Shape 15"/>
          <p:cNvSpPr/>
          <p:nvPr/>
        </p:nvSpPr>
        <p:spPr>
          <a:xfrm>
            <a:off x="3273552" y="1508760"/>
            <a:ext cx="2651760" cy="1115568"/>
          </a:xfrm>
          <a:prstGeom prst="roundRect">
            <a:avLst>
              <a:gd name="adj" fmla="val 9836"/>
            </a:avLst>
          </a:prstGeom>
          <a:solidFill>
            <a:srgbClr val="EDEAE3"/>
          </a:solidFill>
          <a:ln w="12700">
            <a:solidFill>
              <a:srgbClr val="CFCABC"/>
            </a:solidFill>
            <a:prstDash val="solid"/>
          </a:ln>
        </p:spPr>
        <p:txBody>
          <a:bodyPr/>
          <a:lstStyle/>
          <a:p>
            <a:endParaRPr lang="en-US"/>
          </a:p>
        </p:txBody>
      </p:sp>
      <p:sp>
        <p:nvSpPr>
          <p:cNvPr id="18" name="Shape 16"/>
          <p:cNvSpPr/>
          <p:nvPr/>
        </p:nvSpPr>
        <p:spPr>
          <a:xfrm>
            <a:off x="3273552" y="1508760"/>
            <a:ext cx="2651760" cy="41148"/>
          </a:xfrm>
          <a:prstGeom prst="rect">
            <a:avLst/>
          </a:prstGeom>
          <a:solidFill>
            <a:srgbClr val="6E5200"/>
          </a:solidFill>
          <a:ln w="12700">
            <a:solidFill>
              <a:srgbClr val="6E5200"/>
            </a:solidFill>
            <a:prstDash val="solid"/>
          </a:ln>
        </p:spPr>
        <p:txBody>
          <a:bodyPr/>
          <a:lstStyle/>
          <a:p>
            <a:endParaRPr lang="en-US"/>
          </a:p>
        </p:txBody>
      </p:sp>
      <p:sp>
        <p:nvSpPr>
          <p:cNvPr id="19" name="Text 17"/>
          <p:cNvSpPr/>
          <p:nvPr/>
        </p:nvSpPr>
        <p:spPr>
          <a:xfrm>
            <a:off x="3383280" y="1600200"/>
            <a:ext cx="2432304" cy="475488"/>
          </a:xfrm>
          <a:prstGeom prst="rect">
            <a:avLst/>
          </a:prstGeom>
          <a:noFill/>
          <a:ln/>
        </p:spPr>
        <p:txBody>
          <a:bodyPr wrap="square" rtlCol="0" anchor="ctr"/>
          <a:lstStyle/>
          <a:p>
            <a:pPr marL="0" indent="0" algn="ctr">
              <a:buNone/>
            </a:pPr>
            <a:r>
              <a:rPr lang="en-US" sz="3000" b="1" dirty="0">
                <a:solidFill>
                  <a:srgbClr val="6E5200"/>
                </a:solidFill>
                <a:latin typeface="Calibri" pitchFamily="34" charset="0"/>
                <a:ea typeface="Calibri" pitchFamily="34" charset="-122"/>
                <a:cs typeface="Calibri" pitchFamily="34" charset="-120"/>
              </a:rPr>
              <a:t>24.0%</a:t>
            </a:r>
            <a:endParaRPr lang="en-US" sz="3000" dirty="0"/>
          </a:p>
        </p:txBody>
      </p:sp>
      <p:sp>
        <p:nvSpPr>
          <p:cNvPr id="20" name="Text 18"/>
          <p:cNvSpPr/>
          <p:nvPr/>
        </p:nvSpPr>
        <p:spPr>
          <a:xfrm>
            <a:off x="3383280" y="2093976"/>
            <a:ext cx="2432304" cy="228600"/>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Summ. Best</a:t>
            </a:r>
            <a:endParaRPr lang="en-US" sz="1100" dirty="0"/>
          </a:p>
        </p:txBody>
      </p:sp>
      <p:sp>
        <p:nvSpPr>
          <p:cNvPr id="21" name="Text 19"/>
          <p:cNvSpPr/>
          <p:nvPr/>
        </p:nvSpPr>
        <p:spPr>
          <a:xfrm>
            <a:off x="3383280" y="2331720"/>
            <a:ext cx="2432304" cy="182880"/>
          </a:xfrm>
          <a:prstGeom prst="rect">
            <a:avLst/>
          </a:prstGeom>
          <a:noFill/>
          <a:ln/>
        </p:spPr>
        <p:txBody>
          <a:bodyPr wrap="square" rtlCol="0" anchor="ctr"/>
          <a:lstStyle/>
          <a:p>
            <a:pPr marL="0" indent="0" algn="ctr">
              <a:buNone/>
            </a:pPr>
            <a:r>
              <a:rPr lang="en-US" sz="800" dirty="0">
                <a:solidFill>
                  <a:srgbClr val="9A9590"/>
                </a:solidFill>
                <a:latin typeface="Calibri" pitchFamily="34" charset="0"/>
                <a:ea typeface="Calibri" pitchFamily="34" charset="-122"/>
                <a:cs typeface="Calibri" pitchFamily="34" charset="-120"/>
              </a:rPr>
              <a:t>ROUGE-L · Zero-Shot (n=300)</a:t>
            </a:r>
            <a:endParaRPr lang="en-US" sz="800" dirty="0"/>
          </a:p>
        </p:txBody>
      </p:sp>
      <p:sp>
        <p:nvSpPr>
          <p:cNvPr id="22" name="Shape 20"/>
          <p:cNvSpPr/>
          <p:nvPr/>
        </p:nvSpPr>
        <p:spPr>
          <a:xfrm>
            <a:off x="6089904" y="1508760"/>
            <a:ext cx="2651760" cy="1115568"/>
          </a:xfrm>
          <a:prstGeom prst="roundRect">
            <a:avLst>
              <a:gd name="adj" fmla="val 9836"/>
            </a:avLst>
          </a:prstGeom>
          <a:solidFill>
            <a:srgbClr val="EDEAE3"/>
          </a:solidFill>
          <a:ln w="12700">
            <a:solidFill>
              <a:srgbClr val="CFCABC"/>
            </a:solidFill>
            <a:prstDash val="solid"/>
          </a:ln>
        </p:spPr>
        <p:txBody>
          <a:bodyPr/>
          <a:lstStyle/>
          <a:p>
            <a:endParaRPr lang="en-US"/>
          </a:p>
        </p:txBody>
      </p:sp>
      <p:sp>
        <p:nvSpPr>
          <p:cNvPr id="23" name="Shape 21"/>
          <p:cNvSpPr/>
          <p:nvPr/>
        </p:nvSpPr>
        <p:spPr>
          <a:xfrm>
            <a:off x="6089904" y="1508760"/>
            <a:ext cx="2651760" cy="41148"/>
          </a:xfrm>
          <a:prstGeom prst="rect">
            <a:avLst/>
          </a:prstGeom>
          <a:solidFill>
            <a:srgbClr val="7A3020"/>
          </a:solidFill>
          <a:ln w="12700">
            <a:solidFill>
              <a:srgbClr val="7A3020"/>
            </a:solidFill>
            <a:prstDash val="solid"/>
          </a:ln>
        </p:spPr>
        <p:txBody>
          <a:bodyPr/>
          <a:lstStyle/>
          <a:p>
            <a:endParaRPr lang="en-US"/>
          </a:p>
        </p:txBody>
      </p:sp>
      <p:sp>
        <p:nvSpPr>
          <p:cNvPr id="24" name="Text 22"/>
          <p:cNvSpPr/>
          <p:nvPr/>
        </p:nvSpPr>
        <p:spPr>
          <a:xfrm>
            <a:off x="6199632" y="1600200"/>
            <a:ext cx="2432304" cy="475488"/>
          </a:xfrm>
          <a:prstGeom prst="rect">
            <a:avLst/>
          </a:prstGeom>
          <a:noFill/>
          <a:ln/>
        </p:spPr>
        <p:txBody>
          <a:bodyPr wrap="square" rtlCol="0" anchor="ctr"/>
          <a:lstStyle/>
          <a:p>
            <a:pPr marL="0" indent="0" algn="ctr">
              <a:buNone/>
            </a:pPr>
            <a:r>
              <a:rPr lang="en-US" sz="3000" b="1" dirty="0">
                <a:solidFill>
                  <a:srgbClr val="7A3020"/>
                </a:solidFill>
                <a:latin typeface="Calibri" pitchFamily="34" charset="0"/>
                <a:ea typeface="Calibri" pitchFamily="34" charset="-122"/>
                <a:cs typeface="Calibri" pitchFamily="34" charset="-120"/>
              </a:rPr>
              <a:t>90.5%</a:t>
            </a:r>
            <a:endParaRPr lang="en-US" sz="3000" dirty="0"/>
          </a:p>
        </p:txBody>
      </p:sp>
      <p:sp>
        <p:nvSpPr>
          <p:cNvPr id="25" name="Text 23"/>
          <p:cNvSpPr/>
          <p:nvPr/>
        </p:nvSpPr>
        <p:spPr>
          <a:xfrm>
            <a:off x="6199632" y="2093976"/>
            <a:ext cx="2432304" cy="228600"/>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Reasoning Best</a:t>
            </a:r>
            <a:endParaRPr lang="en-US" sz="1100" dirty="0"/>
          </a:p>
        </p:txBody>
      </p:sp>
      <p:sp>
        <p:nvSpPr>
          <p:cNvPr id="26" name="Text 24"/>
          <p:cNvSpPr/>
          <p:nvPr/>
        </p:nvSpPr>
        <p:spPr>
          <a:xfrm>
            <a:off x="6199632" y="2331720"/>
            <a:ext cx="2432304" cy="182880"/>
          </a:xfrm>
          <a:prstGeom prst="rect">
            <a:avLst/>
          </a:prstGeom>
          <a:noFill/>
          <a:ln/>
        </p:spPr>
        <p:txBody>
          <a:bodyPr wrap="square" rtlCol="0" anchor="ctr"/>
          <a:lstStyle/>
          <a:p>
            <a:pPr marL="0" indent="0" algn="ctr">
              <a:buNone/>
            </a:pPr>
            <a:r>
              <a:rPr lang="en-US" sz="800" dirty="0">
                <a:solidFill>
                  <a:srgbClr val="9A9590"/>
                </a:solidFill>
                <a:latin typeface="Calibri" pitchFamily="34" charset="0"/>
                <a:ea typeface="Calibri" pitchFamily="34" charset="-122"/>
                <a:cs typeface="Calibri" pitchFamily="34" charset="-120"/>
              </a:rPr>
              <a:t>CoT · GSM8K (n=1,319)</a:t>
            </a:r>
            <a:endParaRPr lang="en-US" sz="800" dirty="0"/>
          </a:p>
        </p:txBody>
      </p:sp>
      <p:sp>
        <p:nvSpPr>
          <p:cNvPr id="27" name="Shape 25"/>
          <p:cNvSpPr/>
          <p:nvPr/>
        </p:nvSpPr>
        <p:spPr>
          <a:xfrm>
            <a:off x="457200" y="2770632"/>
            <a:ext cx="2651760" cy="1115568"/>
          </a:xfrm>
          <a:prstGeom prst="roundRect">
            <a:avLst>
              <a:gd name="adj" fmla="val 9836"/>
            </a:avLst>
          </a:prstGeom>
          <a:solidFill>
            <a:srgbClr val="EDEAE3"/>
          </a:solidFill>
          <a:ln w="12700">
            <a:solidFill>
              <a:srgbClr val="CFCABC"/>
            </a:solidFill>
            <a:prstDash val="solid"/>
          </a:ln>
        </p:spPr>
        <p:txBody>
          <a:bodyPr/>
          <a:lstStyle/>
          <a:p>
            <a:endParaRPr lang="en-US"/>
          </a:p>
        </p:txBody>
      </p:sp>
      <p:sp>
        <p:nvSpPr>
          <p:cNvPr id="28" name="Shape 26"/>
          <p:cNvSpPr/>
          <p:nvPr/>
        </p:nvSpPr>
        <p:spPr>
          <a:xfrm>
            <a:off x="457200" y="2770632"/>
            <a:ext cx="2651760" cy="41148"/>
          </a:xfrm>
          <a:prstGeom prst="rect">
            <a:avLst/>
          </a:prstGeom>
          <a:solidFill>
            <a:srgbClr val="245E3E"/>
          </a:solidFill>
          <a:ln w="12700">
            <a:solidFill>
              <a:srgbClr val="245E3E"/>
            </a:solidFill>
            <a:prstDash val="solid"/>
          </a:ln>
        </p:spPr>
        <p:txBody>
          <a:bodyPr/>
          <a:lstStyle/>
          <a:p>
            <a:endParaRPr lang="en-US"/>
          </a:p>
        </p:txBody>
      </p:sp>
      <p:sp>
        <p:nvSpPr>
          <p:cNvPr id="29" name="Text 27"/>
          <p:cNvSpPr/>
          <p:nvPr/>
        </p:nvSpPr>
        <p:spPr>
          <a:xfrm>
            <a:off x="566928" y="2862072"/>
            <a:ext cx="2432304" cy="475488"/>
          </a:xfrm>
          <a:prstGeom prst="rect">
            <a:avLst/>
          </a:prstGeom>
          <a:noFill/>
          <a:ln/>
        </p:spPr>
        <p:txBody>
          <a:bodyPr wrap="square" rtlCol="0" anchor="ctr"/>
          <a:lstStyle/>
          <a:p>
            <a:pPr marL="0" indent="0" algn="ctr">
              <a:buNone/>
            </a:pPr>
            <a:r>
              <a:rPr lang="en-US" sz="3000" b="1" dirty="0">
                <a:solidFill>
                  <a:srgbClr val="245E3E"/>
                </a:solidFill>
                <a:latin typeface="Calibri" pitchFamily="34" charset="0"/>
                <a:ea typeface="Calibri" pitchFamily="34" charset="-122"/>
                <a:cs typeface="Calibri" pitchFamily="34" charset="-120"/>
              </a:rPr>
              <a:t>18</a:t>
            </a:r>
            <a:endParaRPr lang="en-US" sz="3000" dirty="0"/>
          </a:p>
        </p:txBody>
      </p:sp>
      <p:sp>
        <p:nvSpPr>
          <p:cNvPr id="30" name="Text 28"/>
          <p:cNvSpPr/>
          <p:nvPr/>
        </p:nvSpPr>
        <p:spPr>
          <a:xfrm>
            <a:off x="566928" y="3355848"/>
            <a:ext cx="2432304" cy="228600"/>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Experiments</a:t>
            </a:r>
            <a:endParaRPr lang="en-US" sz="1100" dirty="0"/>
          </a:p>
        </p:txBody>
      </p:sp>
      <p:sp>
        <p:nvSpPr>
          <p:cNvPr id="31" name="Text 29"/>
          <p:cNvSpPr/>
          <p:nvPr/>
        </p:nvSpPr>
        <p:spPr>
          <a:xfrm>
            <a:off x="566928" y="3593592"/>
            <a:ext cx="2432304" cy="182880"/>
          </a:xfrm>
          <a:prstGeom prst="rect">
            <a:avLst/>
          </a:prstGeom>
          <a:noFill/>
          <a:ln/>
        </p:spPr>
        <p:txBody>
          <a:bodyPr wrap="square" rtlCol="0" anchor="ctr"/>
          <a:lstStyle/>
          <a:p>
            <a:pPr marL="0" indent="0" algn="ctr">
              <a:buNone/>
            </a:pPr>
            <a:r>
              <a:rPr lang="en-US" sz="800" dirty="0">
                <a:solidFill>
                  <a:srgbClr val="9A9590"/>
                </a:solidFill>
                <a:latin typeface="Calibri" pitchFamily="34" charset="0"/>
                <a:ea typeface="Calibri" pitchFamily="34" charset="-122"/>
                <a:cs typeface="Calibri" pitchFamily="34" charset="-120"/>
              </a:rPr>
              <a:t>4 techniques × 3 domains</a:t>
            </a:r>
            <a:endParaRPr lang="en-US" sz="800" dirty="0"/>
          </a:p>
        </p:txBody>
      </p:sp>
      <p:sp>
        <p:nvSpPr>
          <p:cNvPr id="32" name="Shape 30"/>
          <p:cNvSpPr/>
          <p:nvPr/>
        </p:nvSpPr>
        <p:spPr>
          <a:xfrm>
            <a:off x="3273552" y="2770632"/>
            <a:ext cx="2651760" cy="1115568"/>
          </a:xfrm>
          <a:prstGeom prst="roundRect">
            <a:avLst>
              <a:gd name="adj" fmla="val 9836"/>
            </a:avLst>
          </a:prstGeom>
          <a:solidFill>
            <a:srgbClr val="EDEAE3"/>
          </a:solidFill>
          <a:ln w="12700">
            <a:solidFill>
              <a:srgbClr val="CFCABC"/>
            </a:solidFill>
            <a:prstDash val="solid"/>
          </a:ln>
        </p:spPr>
        <p:txBody>
          <a:bodyPr/>
          <a:lstStyle/>
          <a:p>
            <a:endParaRPr lang="en-US"/>
          </a:p>
        </p:txBody>
      </p:sp>
      <p:sp>
        <p:nvSpPr>
          <p:cNvPr id="33" name="Shape 31"/>
          <p:cNvSpPr/>
          <p:nvPr/>
        </p:nvSpPr>
        <p:spPr>
          <a:xfrm>
            <a:off x="3273552" y="2770632"/>
            <a:ext cx="2651760" cy="41148"/>
          </a:xfrm>
          <a:prstGeom prst="rect">
            <a:avLst/>
          </a:prstGeom>
          <a:solidFill>
            <a:srgbClr val="4C3275"/>
          </a:solidFill>
          <a:ln w="12700">
            <a:solidFill>
              <a:srgbClr val="4C3275"/>
            </a:solidFill>
            <a:prstDash val="solid"/>
          </a:ln>
        </p:spPr>
        <p:txBody>
          <a:bodyPr/>
          <a:lstStyle/>
          <a:p>
            <a:endParaRPr lang="en-US"/>
          </a:p>
        </p:txBody>
      </p:sp>
      <p:sp>
        <p:nvSpPr>
          <p:cNvPr id="34" name="Text 32"/>
          <p:cNvSpPr/>
          <p:nvPr/>
        </p:nvSpPr>
        <p:spPr>
          <a:xfrm>
            <a:off x="3383280" y="2862072"/>
            <a:ext cx="2432304" cy="475488"/>
          </a:xfrm>
          <a:prstGeom prst="rect">
            <a:avLst/>
          </a:prstGeom>
          <a:noFill/>
          <a:ln/>
        </p:spPr>
        <p:txBody>
          <a:bodyPr wrap="square" rtlCol="0" anchor="ctr"/>
          <a:lstStyle/>
          <a:p>
            <a:pPr marL="0" indent="0" algn="ctr">
              <a:buNone/>
            </a:pPr>
            <a:r>
              <a:rPr lang="en-US" sz="3000" b="1" dirty="0">
                <a:solidFill>
                  <a:srgbClr val="4C3275"/>
                </a:solidFill>
                <a:latin typeface="Calibri" pitchFamily="34" charset="0"/>
                <a:ea typeface="Calibri" pitchFamily="34" charset="-122"/>
                <a:cs typeface="Calibri" pitchFamily="34" charset="-120"/>
              </a:rPr>
              <a:t>~$12.67</a:t>
            </a:r>
            <a:endParaRPr lang="en-US" sz="3000" dirty="0"/>
          </a:p>
        </p:txBody>
      </p:sp>
      <p:sp>
        <p:nvSpPr>
          <p:cNvPr id="35" name="Text 33"/>
          <p:cNvSpPr/>
          <p:nvPr/>
        </p:nvSpPr>
        <p:spPr>
          <a:xfrm>
            <a:off x="3383280" y="3355848"/>
            <a:ext cx="2432304" cy="228600"/>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Total Cost</a:t>
            </a:r>
            <a:endParaRPr lang="en-US" sz="1100" dirty="0"/>
          </a:p>
        </p:txBody>
      </p:sp>
      <p:sp>
        <p:nvSpPr>
          <p:cNvPr id="36" name="Text 34"/>
          <p:cNvSpPr/>
          <p:nvPr/>
        </p:nvSpPr>
        <p:spPr>
          <a:xfrm>
            <a:off x="3383280" y="3593592"/>
            <a:ext cx="2432304" cy="182880"/>
          </a:xfrm>
          <a:prstGeom prst="rect">
            <a:avLst/>
          </a:prstGeom>
          <a:noFill/>
          <a:ln/>
        </p:spPr>
        <p:txBody>
          <a:bodyPr wrap="square" rtlCol="0" anchor="ctr"/>
          <a:lstStyle/>
          <a:p>
            <a:pPr marL="0" indent="0" algn="ctr">
              <a:buNone/>
            </a:pPr>
            <a:r>
              <a:rPr lang="en-US" sz="800" dirty="0">
                <a:solidFill>
                  <a:srgbClr val="9A9590"/>
                </a:solidFill>
                <a:latin typeface="Calibri" pitchFamily="34" charset="0"/>
                <a:ea typeface="Calibri" pitchFamily="34" charset="-122"/>
                <a:cs typeface="Calibri" pitchFamily="34" charset="-120"/>
              </a:rPr>
              <a:t>~14,900 API calls</a:t>
            </a:r>
            <a:endParaRPr lang="en-US" sz="800" dirty="0"/>
          </a:p>
        </p:txBody>
      </p:sp>
      <p:sp>
        <p:nvSpPr>
          <p:cNvPr id="37" name="Shape 35"/>
          <p:cNvSpPr/>
          <p:nvPr/>
        </p:nvSpPr>
        <p:spPr>
          <a:xfrm>
            <a:off x="6089904" y="2770632"/>
            <a:ext cx="2651760" cy="1115568"/>
          </a:xfrm>
          <a:prstGeom prst="roundRect">
            <a:avLst>
              <a:gd name="adj" fmla="val 9836"/>
            </a:avLst>
          </a:prstGeom>
          <a:solidFill>
            <a:srgbClr val="EDEAE3"/>
          </a:solidFill>
          <a:ln w="12700">
            <a:solidFill>
              <a:srgbClr val="CFCABC"/>
            </a:solidFill>
            <a:prstDash val="solid"/>
          </a:ln>
        </p:spPr>
        <p:txBody>
          <a:bodyPr/>
          <a:lstStyle/>
          <a:p>
            <a:endParaRPr lang="en-US"/>
          </a:p>
        </p:txBody>
      </p:sp>
      <p:sp>
        <p:nvSpPr>
          <p:cNvPr id="38" name="Shape 36"/>
          <p:cNvSpPr/>
          <p:nvPr/>
        </p:nvSpPr>
        <p:spPr>
          <a:xfrm>
            <a:off x="6089904" y="2770632"/>
            <a:ext cx="2651760" cy="41148"/>
          </a:xfrm>
          <a:prstGeom prst="rect">
            <a:avLst/>
          </a:prstGeom>
          <a:solidFill>
            <a:srgbClr val="1A6268"/>
          </a:solidFill>
          <a:ln w="12700">
            <a:solidFill>
              <a:srgbClr val="1A6268"/>
            </a:solidFill>
            <a:prstDash val="solid"/>
          </a:ln>
        </p:spPr>
        <p:txBody>
          <a:bodyPr/>
          <a:lstStyle/>
          <a:p>
            <a:endParaRPr lang="en-US"/>
          </a:p>
        </p:txBody>
      </p:sp>
      <p:sp>
        <p:nvSpPr>
          <p:cNvPr id="39" name="Text 37"/>
          <p:cNvSpPr/>
          <p:nvPr/>
        </p:nvSpPr>
        <p:spPr>
          <a:xfrm>
            <a:off x="6199632" y="2862072"/>
            <a:ext cx="2432304" cy="475488"/>
          </a:xfrm>
          <a:prstGeom prst="rect">
            <a:avLst/>
          </a:prstGeom>
          <a:noFill/>
          <a:ln/>
        </p:spPr>
        <p:txBody>
          <a:bodyPr wrap="square" rtlCol="0" anchor="ctr"/>
          <a:lstStyle/>
          <a:p>
            <a:pPr marL="0" indent="0" algn="ctr">
              <a:buNone/>
            </a:pPr>
            <a:r>
              <a:rPr lang="en-US" sz="3000" b="1" dirty="0">
                <a:solidFill>
                  <a:srgbClr val="1A6268"/>
                </a:solidFill>
                <a:latin typeface="Calibri" pitchFamily="34" charset="0"/>
                <a:ea typeface="Calibri" pitchFamily="34" charset="-122"/>
                <a:cs typeface="Calibri" pitchFamily="34" charset="-120"/>
              </a:rPr>
              <a:t>★ 2</a:t>
            </a:r>
            <a:endParaRPr lang="en-US" sz="3000" dirty="0"/>
          </a:p>
        </p:txBody>
      </p:sp>
      <p:sp>
        <p:nvSpPr>
          <p:cNvPr id="40" name="Text 38"/>
          <p:cNvSpPr/>
          <p:nvPr/>
        </p:nvSpPr>
        <p:spPr>
          <a:xfrm>
            <a:off x="6199632" y="3355848"/>
            <a:ext cx="2432304" cy="228600"/>
          </a:xfrm>
          <a:prstGeom prst="rect">
            <a:avLst/>
          </a:prstGeom>
          <a:noFill/>
          <a:ln/>
        </p:spPr>
        <p:txBody>
          <a:bodyPr wrap="square" rtlCol="0" anchor="ctr"/>
          <a:lstStyle/>
          <a:p>
            <a:pPr marL="0" indent="0" algn="ctr">
              <a:buNone/>
            </a:pPr>
            <a:r>
              <a:rPr lang="en-US" sz="1100" b="1" dirty="0">
                <a:solidFill>
                  <a:srgbClr val="1A1814"/>
                </a:solidFill>
                <a:latin typeface="Calibri" pitchFamily="34" charset="0"/>
                <a:ea typeface="Calibri" pitchFamily="34" charset="-122"/>
                <a:cs typeface="Calibri" pitchFamily="34" charset="-120"/>
              </a:rPr>
              <a:t>Novel Modules</a:t>
            </a:r>
            <a:endParaRPr lang="en-US" sz="1100" dirty="0"/>
          </a:p>
        </p:txBody>
      </p:sp>
      <p:sp>
        <p:nvSpPr>
          <p:cNvPr id="41" name="Text 39"/>
          <p:cNvSpPr/>
          <p:nvPr/>
        </p:nvSpPr>
        <p:spPr>
          <a:xfrm>
            <a:off x="6199632" y="3593592"/>
            <a:ext cx="2432304" cy="182880"/>
          </a:xfrm>
          <a:prstGeom prst="rect">
            <a:avLst/>
          </a:prstGeom>
          <a:noFill/>
          <a:ln/>
        </p:spPr>
        <p:txBody>
          <a:bodyPr wrap="square" rtlCol="0" anchor="ctr"/>
          <a:lstStyle/>
          <a:p>
            <a:pPr marL="0" indent="0" algn="ctr">
              <a:buNone/>
            </a:pPr>
            <a:r>
              <a:rPr lang="en-US" sz="800" dirty="0">
                <a:solidFill>
                  <a:srgbClr val="9A9590"/>
                </a:solidFill>
                <a:latin typeface="Calibri" pitchFamily="34" charset="0"/>
                <a:ea typeface="Calibri" pitchFamily="34" charset="-122"/>
                <a:cs typeface="Calibri" pitchFamily="34" charset="-120"/>
              </a:rPr>
              <a:t>RPO + Adaptive Cascade</a:t>
            </a:r>
            <a:endParaRPr lang="en-US" sz="800" dirty="0"/>
          </a:p>
        </p:txBody>
      </p:sp>
      <p:sp>
        <p:nvSpPr>
          <p:cNvPr id="42" name="Text 40"/>
          <p:cNvSpPr/>
          <p:nvPr/>
        </p:nvSpPr>
        <p:spPr>
          <a:xfrm>
            <a:off x="822960" y="4187952"/>
            <a:ext cx="3657600" cy="237744"/>
          </a:xfrm>
          <a:prstGeom prst="rect">
            <a:avLst/>
          </a:prstGeom>
          <a:noFill/>
          <a:ln/>
        </p:spPr>
        <p:txBody>
          <a:bodyPr wrap="square" rtlCol="0" anchor="ctr"/>
          <a:lstStyle/>
          <a:p>
            <a:pPr marL="0" indent="0">
              <a:buNone/>
            </a:pPr>
            <a:r>
              <a:rPr lang="en-US" sz="1000" dirty="0">
                <a:solidFill>
                  <a:srgbClr val="4A6A9A"/>
                </a:solidFill>
                <a:latin typeface="Calibri" pitchFamily="34" charset="0"/>
                <a:ea typeface="Calibri" pitchFamily="34" charset="-122"/>
                <a:cs typeface="Calibri" pitchFamily="34" charset="-120"/>
                <a:hlinkClick r:id="rId3"/>
              </a:rPr>
              <a:t>github.com/Varun-Kumar-DS/peef-dissertation</a:t>
            </a:r>
            <a:endParaRPr lang="en-US" sz="1000" dirty="0"/>
          </a:p>
        </p:txBody>
      </p:sp>
      <p:sp>
        <p:nvSpPr>
          <p:cNvPr id="43" name="Text 41"/>
          <p:cNvSpPr/>
          <p:nvPr/>
        </p:nvSpPr>
        <p:spPr>
          <a:xfrm>
            <a:off x="4754880" y="4187952"/>
            <a:ext cx="3474720" cy="237744"/>
          </a:xfrm>
          <a:prstGeom prst="rect">
            <a:avLst/>
          </a:prstGeom>
          <a:noFill/>
          <a:ln/>
        </p:spPr>
        <p:txBody>
          <a:bodyPr wrap="square" rtlCol="0" anchor="ctr"/>
          <a:lstStyle/>
          <a:p>
            <a:pPr marL="0" indent="0">
              <a:buNone/>
            </a:pPr>
            <a:r>
              <a:rPr lang="en-US" sz="1000" dirty="0">
                <a:solidFill>
                  <a:srgbClr val="3D7A58"/>
                </a:solidFill>
                <a:latin typeface="Calibri" pitchFamily="34" charset="0"/>
                <a:ea typeface="Calibri" pitchFamily="34" charset="-122"/>
                <a:cs typeface="Calibri" pitchFamily="34" charset="-120"/>
                <a:hlinkClick r:id="rId4"/>
              </a:rPr>
              <a:t>peef-dashboard.streamlit.app</a:t>
            </a:r>
            <a:endParaRPr lang="en-US" sz="1000" dirty="0"/>
          </a:p>
        </p:txBody>
      </p:sp>
      <p:sp>
        <p:nvSpPr>
          <p:cNvPr id="44" name="Text 42"/>
          <p:cNvSpPr/>
          <p:nvPr/>
        </p:nvSpPr>
        <p:spPr>
          <a:xfrm>
            <a:off x="457200" y="4553712"/>
            <a:ext cx="8229600" cy="201168"/>
          </a:xfrm>
          <a:prstGeom prst="rect">
            <a:avLst/>
          </a:prstGeom>
          <a:noFill/>
          <a:ln/>
        </p:spPr>
        <p:txBody>
          <a:bodyPr wrap="square" rtlCol="0" anchor="ctr"/>
          <a:lstStyle/>
          <a:p>
            <a:pPr marL="0" indent="0" algn="ctr">
              <a:buNone/>
            </a:pPr>
            <a:r>
              <a:rPr lang="en-US" sz="900" dirty="0">
                <a:solidFill>
                  <a:srgbClr val="9A9590"/>
                </a:solidFill>
                <a:latin typeface="Calibri" pitchFamily="34" charset="0"/>
                <a:ea typeface="Calibri" pitchFamily="34" charset="-122"/>
                <a:cs typeface="Calibri" pitchFamily="34" charset="-120"/>
              </a:rPr>
              <a:t>varunzayne@gmail.com   ·   Supervisor: Achilleas Koufonikos   ·   Student ID: 201862625</a:t>
            </a:r>
            <a:endParaRPr lang="en-US" sz="900" dirty="0"/>
          </a:p>
        </p:txBody>
      </p:sp>
      <p:sp>
        <p:nvSpPr>
          <p:cNvPr id="45" name="Shape 43"/>
          <p:cNvSpPr/>
          <p:nvPr/>
        </p:nvSpPr>
        <p:spPr>
          <a:xfrm>
            <a:off x="457200" y="4873752"/>
            <a:ext cx="8229600" cy="22860"/>
          </a:xfrm>
          <a:prstGeom prst="rect">
            <a:avLst/>
          </a:prstGeom>
          <a:solidFill>
            <a:srgbClr val="2A4875"/>
          </a:solidFill>
          <a:ln w="12700">
            <a:solidFill>
              <a:srgbClr val="2A4875"/>
            </a:solidFill>
            <a:prstDash val="solid"/>
          </a:ln>
        </p:spPr>
        <p:txBody>
          <a:bodyPr/>
          <a:lstStyle/>
          <a:p>
            <a:endParaRPr lang="en-US"/>
          </a:p>
        </p:txBody>
      </p:sp>
    </p:spTree>
  </p:cSld>
  <p:clrMapOvr>
    <a:masterClrMapping/>
  </p:clrMapOvr>
  <p:transition spd="med" advClick="1">
    <p:fade/>
  </p:transition>
  <p:timing>
    <p:tnLst>
      <p:par>
        <p:cTn id="49990" dur="indefinite" restart="whenNotActive" nodeType="tmRoot">
          <p:childTnLst>
            <p:seq concurrent="1" nextAc="seek">
              <p:cTn id="49991" dur="indefinite" nodeType="mainSeq">
                <p:childTnLst>
                  <p:par>
                    <p:cTn id="50000" fill="hold">
                      <p:stCondLst>
                        <p:cond delay="500"/>
                      </p:stCondLst>
                      <p:childTnLst>
                        <p:par>
                          <p:cTn id="50004" presetID="10" presetClass="entr" presetSubtype="0" fill="hold" grpId="0" nodeType="clickEffect">
                            <p:stCondLst>
                              <p:cond delay="0"/>
                            </p:stCondLst>
                            <p:childTnLst>
                              <p:animEffect transition="in" filter="fade">
                                <p:cBhvr>
                                  <p:cTn id="50001" dur="550"/>
                                  <p:tgtEl>
                                    <p:spTgt spid="10"/>
                                  </p:tgtEl>
                                </p:cBhvr>
                              </p:animEffect>
                              <p:animEffect transition="in" filter="fade">
                                <p:cBhvr>
                                  <p:cTn id="50002" dur="550"/>
                                  <p:tgtEl>
                                    <p:spTgt spid="11"/>
                                  </p:tgtEl>
                                </p:cBhvr>
                              </p:animEffect>
                              <p:animEffect transition="in" filter="fade">
                                <p:cBhvr>
                                  <p:cTn id="50003" dur="550"/>
                                  <p:tgtEl>
                                    <p:spTgt spid="6"/>
                                  </p:tgtEl>
                                </p:cBhvr>
                              </p:animEffect>
                            </p:childTnLst>
                          </p:cTn>
                        </p:par>
                      </p:childTnLst>
                    </p:cTn>
                  </p:par>
                  <p:par>
                    <p:cTn id="50100" fill="hold">
                      <p:stCondLst>
                        <p:cond delay="750"/>
                      </p:stCondLst>
                      <p:childTnLst>
                        <p:par>
                          <p:cTn id="50107" presetID="10" presetClass="entr" presetSubtype="0" fill="hold" grpId="1" nodeType="withEffect">
                            <p:stCondLst>
                              <p:cond delay="0"/>
                            </p:stCondLst>
                            <p:childTnLst>
                              <p:animEffect transition="in" filter="fade">
                                <p:cBhvr>
                                  <p:cTn id="50101" dur="550"/>
                                  <p:tgtEl>
                                    <p:spTgt spid="17"/>
                                  </p:tgtEl>
                                </p:cBhvr>
                              </p:animEffect>
                              <p:animEffect transition="in" filter="fade">
                                <p:cBhvr>
                                  <p:cTn id="50102" dur="550"/>
                                  <p:tgtEl>
                                    <p:spTgt spid="4"/>
                                  </p:tgtEl>
                                </p:cBhvr>
                              </p:animEffect>
                              <p:animEffect transition="in" filter="fade">
                                <p:cBhvr>
                                  <p:cTn id="50103" dur="550"/>
                                  <p:tgtEl>
                                    <p:spTgt spid="18"/>
                                  </p:tgtEl>
                                </p:cBhvr>
                              </p:animEffect>
                              <p:animEffect transition="in" filter="fade">
                                <p:cBhvr>
                                  <p:cTn id="50104" dur="550"/>
                                  <p:tgtEl>
                                    <p:spTgt spid="19"/>
                                  </p:tgtEl>
                                </p:cBhvr>
                              </p:animEffect>
                              <p:animEffect transition="in" filter="fade">
                                <p:cBhvr>
                                  <p:cTn id="50105" dur="550"/>
                                  <p:tgtEl>
                                    <p:spTgt spid="20"/>
                                  </p:tgtEl>
                                </p:cBhvr>
                              </p:animEffect>
                              <p:animEffect transition="in" filter="fade">
                                <p:cBhvr>
                                  <p:cTn id="50106" dur="550"/>
                                  <p:tgtEl>
                                    <p:spTgt spid="21"/>
                                  </p:tgtEl>
                                </p:cBhvr>
                              </p:animEffect>
                            </p:childTnLst>
                          </p:cTn>
                        </p:par>
                      </p:childTnLst>
                    </p:cTn>
                  </p:par>
                  <p:par>
                    <p:cTn id="50200" fill="hold">
                      <p:stCondLst>
                        <p:cond delay="1000"/>
                      </p:stCondLst>
                      <p:childTnLst>
                        <p:par>
                          <p:cTn id="50206" presetID="10" presetClass="entr" presetSubtype="0" fill="hold" grpId="2" nodeType="withEffect">
                            <p:stCondLst>
                              <p:cond delay="0"/>
                            </p:stCondLst>
                            <p:childTnLst>
                              <p:animEffect transition="in" filter="fade">
                                <p:cBhvr>
                                  <p:cTn id="50201" dur="550"/>
                                  <p:tgtEl>
                                    <p:spTgt spid="12"/>
                                  </p:tgtEl>
                                </p:cBhvr>
                              </p:animEffect>
                              <p:animEffect transition="in" filter="fade">
                                <p:cBhvr>
                                  <p:cTn id="50202" dur="550"/>
                                  <p:tgtEl>
                                    <p:spTgt spid="13"/>
                                  </p:tgtEl>
                                </p:cBhvr>
                              </p:animEffect>
                              <p:animEffect transition="in" filter="fade">
                                <p:cBhvr>
                                  <p:cTn id="50203" dur="550"/>
                                  <p:tgtEl>
                                    <p:spTgt spid="14"/>
                                  </p:tgtEl>
                                </p:cBhvr>
                              </p:animEffect>
                              <p:animEffect transition="in" filter="fade">
                                <p:cBhvr>
                                  <p:cTn id="50204" dur="550"/>
                                  <p:tgtEl>
                                    <p:spTgt spid="15"/>
                                  </p:tgtEl>
                                </p:cBhvr>
                              </p:animEffect>
                              <p:animEffect transition="in" filter="fade">
                                <p:cBhvr>
                                  <p:cTn id="50205" dur="550"/>
                                  <p:tgtEl>
                                    <p:spTgt spid="16"/>
                                  </p:tgtEl>
                                </p:cBhvr>
                              </p:animEffect>
                            </p:childTnLst>
                          </p:cTn>
                        </p:par>
                      </p:childTnLst>
                    </p:cTn>
                  </p:par>
                  <p:par>
                    <p:cTn id="50300" fill="hold">
                      <p:stCondLst>
                        <p:cond delay="1250"/>
                      </p:stCondLst>
                      <p:childTnLst>
                        <p:par>
                          <p:cTn id="50306" presetID="10" presetClass="entr" presetSubtype="0" fill="hold" grpId="3" nodeType="withEffect">
                            <p:stCondLst>
                              <p:cond delay="0"/>
                            </p:stCondLst>
                            <p:childTnLst>
                              <p:animEffect transition="in" filter="fade">
                                <p:cBhvr>
                                  <p:cTn id="50301" dur="550"/>
                                  <p:tgtEl>
                                    <p:spTgt spid="22"/>
                                  </p:tgtEl>
                                </p:cBhvr>
                              </p:animEffect>
                              <p:animEffect transition="in" filter="fade">
                                <p:cBhvr>
                                  <p:cTn id="50302" dur="550"/>
                                  <p:tgtEl>
                                    <p:spTgt spid="23"/>
                                  </p:tgtEl>
                                </p:cBhvr>
                              </p:animEffect>
                              <p:animEffect transition="in" filter="fade">
                                <p:cBhvr>
                                  <p:cTn id="50303" dur="550"/>
                                  <p:tgtEl>
                                    <p:spTgt spid="24"/>
                                  </p:tgtEl>
                                </p:cBhvr>
                              </p:animEffect>
                              <p:animEffect transition="in" filter="fade">
                                <p:cBhvr>
                                  <p:cTn id="50304" dur="550"/>
                                  <p:tgtEl>
                                    <p:spTgt spid="25"/>
                                  </p:tgtEl>
                                </p:cBhvr>
                              </p:animEffect>
                              <p:animEffect transition="in" filter="fade">
                                <p:cBhvr>
                                  <p:cTn id="50305" dur="550"/>
                                  <p:tgtEl>
                                    <p:spTgt spid="26"/>
                                  </p:tgtEl>
                                </p:cBhvr>
                              </p:animEffect>
                            </p:childTnLst>
                          </p:cTn>
                        </p:par>
                      </p:childTnLst>
                    </p:cTn>
                  </p:par>
                  <p:par>
                    <p:cTn id="50400" fill="hold">
                      <p:stCondLst>
                        <p:cond delay="1500"/>
                      </p:stCondLst>
                      <p:childTnLst>
                        <p:par>
                          <p:cTn id="50406" presetID="10" presetClass="entr" presetSubtype="0" fill="hold" grpId="4" nodeType="withEffect">
                            <p:stCondLst>
                              <p:cond delay="0"/>
                            </p:stCondLst>
                            <p:childTnLst>
                              <p:animEffect transition="in" filter="fade">
                                <p:cBhvr>
                                  <p:cTn id="50401" dur="550"/>
                                  <p:tgtEl>
                                    <p:spTgt spid="27"/>
                                  </p:tgtEl>
                                </p:cBhvr>
                              </p:animEffect>
                              <p:animEffect transition="in" filter="fade">
                                <p:cBhvr>
                                  <p:cTn id="50402" dur="550"/>
                                  <p:tgtEl>
                                    <p:spTgt spid="28"/>
                                  </p:tgtEl>
                                </p:cBhvr>
                              </p:animEffect>
                              <p:animEffect transition="in" filter="fade">
                                <p:cBhvr>
                                  <p:cTn id="50403" dur="550"/>
                                  <p:tgtEl>
                                    <p:spTgt spid="29"/>
                                  </p:tgtEl>
                                </p:cBhvr>
                              </p:animEffect>
                              <p:animEffect transition="in" filter="fade">
                                <p:cBhvr>
                                  <p:cTn id="50404" dur="550"/>
                                  <p:tgtEl>
                                    <p:spTgt spid="30"/>
                                  </p:tgtEl>
                                </p:cBhvr>
                              </p:animEffect>
                              <p:animEffect transition="in" filter="fade">
                                <p:cBhvr>
                                  <p:cTn id="50405" dur="550"/>
                                  <p:tgtEl>
                                    <p:spTgt spid="31"/>
                                  </p:tgtEl>
                                </p:cBhvr>
                              </p:animEffect>
                            </p:childTnLst>
                          </p:cTn>
                        </p:par>
                      </p:childTnLst>
                    </p:cTn>
                  </p:par>
                  <p:par>
                    <p:cTn id="50500" fill="hold">
                      <p:stCondLst>
                        <p:cond delay="1750"/>
                      </p:stCondLst>
                      <p:childTnLst>
                        <p:par>
                          <p:cTn id="50506" presetID="10" presetClass="entr" presetSubtype="0" fill="hold" grpId="5" nodeType="withEffect">
                            <p:stCondLst>
                              <p:cond delay="0"/>
                            </p:stCondLst>
                            <p:childTnLst>
                              <p:animEffect transition="in" filter="fade">
                                <p:cBhvr>
                                  <p:cTn id="50501" dur="550"/>
                                  <p:tgtEl>
                                    <p:spTgt spid="32"/>
                                  </p:tgtEl>
                                </p:cBhvr>
                              </p:animEffect>
                              <p:animEffect transition="in" filter="fade">
                                <p:cBhvr>
                                  <p:cTn id="50502" dur="550"/>
                                  <p:tgtEl>
                                    <p:spTgt spid="33"/>
                                  </p:tgtEl>
                                </p:cBhvr>
                              </p:animEffect>
                              <p:animEffect transition="in" filter="fade">
                                <p:cBhvr>
                                  <p:cTn id="50503" dur="550"/>
                                  <p:tgtEl>
                                    <p:spTgt spid="34"/>
                                  </p:tgtEl>
                                </p:cBhvr>
                              </p:animEffect>
                              <p:animEffect transition="in" filter="fade">
                                <p:cBhvr>
                                  <p:cTn id="50504" dur="550"/>
                                  <p:tgtEl>
                                    <p:spTgt spid="35"/>
                                  </p:tgtEl>
                                </p:cBhvr>
                              </p:animEffect>
                              <p:animEffect transition="in" filter="fade">
                                <p:cBhvr>
                                  <p:cTn id="50505" dur="550"/>
                                  <p:tgtEl>
                                    <p:spTgt spid="36"/>
                                  </p:tgtEl>
                                </p:cBhvr>
                              </p:animEffect>
                            </p:childTnLst>
                          </p:cTn>
                        </p:par>
                      </p:childTnLst>
                    </p:cTn>
                  </p:par>
                  <p:par>
                    <p:cTn id="50600" fill="hold">
                      <p:stCondLst>
                        <p:cond delay="2000"/>
                      </p:stCondLst>
                      <p:childTnLst>
                        <p:par>
                          <p:cTn id="50606" presetID="10" presetClass="entr" presetSubtype="0" fill="hold" grpId="6" nodeType="withEffect">
                            <p:stCondLst>
                              <p:cond delay="0"/>
                            </p:stCondLst>
                            <p:childTnLst>
                              <p:animEffect transition="in" filter="fade">
                                <p:cBhvr>
                                  <p:cTn id="50601" dur="550"/>
                                  <p:tgtEl>
                                    <p:spTgt spid="37"/>
                                  </p:tgtEl>
                                </p:cBhvr>
                              </p:animEffect>
                              <p:animEffect transition="in" filter="fade">
                                <p:cBhvr>
                                  <p:cTn id="50602" dur="550"/>
                                  <p:tgtEl>
                                    <p:spTgt spid="38"/>
                                  </p:tgtEl>
                                </p:cBhvr>
                              </p:animEffect>
                              <p:animEffect transition="in" filter="fade">
                                <p:cBhvr>
                                  <p:cTn id="50603" dur="550"/>
                                  <p:tgtEl>
                                    <p:spTgt spid="39"/>
                                  </p:tgtEl>
                                </p:cBhvr>
                              </p:animEffect>
                              <p:animEffect transition="in" filter="fade">
                                <p:cBhvr>
                                  <p:cTn id="50604" dur="550"/>
                                  <p:tgtEl>
                                    <p:spTgt spid="40"/>
                                  </p:tgtEl>
                                </p:cBhvr>
                              </p:animEffect>
                              <p:animEffect transition="in" filter="fade">
                                <p:cBhvr>
                                  <p:cTn id="50605" dur="550"/>
                                  <p:tgtEl>
                                    <p:spTgt spid="41"/>
                                  </p:tgtEl>
                                </p:cBhvr>
                              </p:animEffect>
                            </p:childTnLst>
                          </p:cTn>
                        </p:par>
                      </p:childTnLst>
                    </p:cTn>
                  </p:par>
                  <p:par>
                    <p:cTn id="50700" fill="hold">
                      <p:stCondLst>
                        <p:cond delay="2100"/>
                      </p:stCondLst>
                      <p:childTnLst>
                        <p:par>
                          <p:cTn id="50705" presetID="10" presetClass="entr" presetSubtype="0" fill="hold" grpId="7" nodeType="withEffect">
                            <p:stCondLst>
                              <p:cond delay="0"/>
                            </p:stCondLst>
                            <p:childTnLst>
                              <p:animEffect transition="in" filter="fade">
                                <p:cBhvr>
                                  <p:cTn id="50701" dur="350"/>
                                  <p:tgtEl>
                                    <p:spTgt spid="44"/>
                                  </p:tgtEl>
                                </p:cBhvr>
                              </p:animEffect>
                              <p:animEffect transition="in" filter="fade">
                                <p:cBhvr>
                                  <p:cTn id="50702" dur="350"/>
                                  <p:tgtEl>
                                    <p:spTgt spid="42"/>
                                  </p:tgtEl>
                                </p:cBhvr>
                              </p:animEffect>
                              <p:animEffect transition="in" filter="fade">
                                <p:cBhvr>
                                  <p:cTn id="50703" dur="350"/>
                                  <p:tgtEl>
                                    <p:spTgt spid="43"/>
                                  </p:tgtEl>
                                </p:cBhvr>
                              </p:animEffect>
                              <p:animEffect transition="in" filter="fade">
                                <p:cBhvr>
                                  <p:cTn id="50704" dur="3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6" grpId="0" animBg="1"/>
      <p:bldP spid="17" grpId="1" animBg="1"/>
      <p:bldP spid="4" grpId="1" animBg="1"/>
      <p:bldP spid="18" grpId="1" animBg="1"/>
      <p:bldP spid="19" grpId="1" animBg="1"/>
      <p:bldP spid="20" grpId="1" animBg="1"/>
      <p:bldP spid="21" grpId="1" animBg="1"/>
      <p:bldP spid="12" grpId="2" animBg="1"/>
      <p:bldP spid="13" grpId="2" animBg="1"/>
      <p:bldP spid="14" grpId="2" animBg="1"/>
      <p:bldP spid="15" grpId="2" animBg="1"/>
      <p:bldP spid="16" grpId="2" animBg="1"/>
      <p:bldP spid="22" grpId="3" animBg="1"/>
      <p:bldP spid="23" grpId="3" animBg="1"/>
      <p:bldP spid="24" grpId="3" animBg="1"/>
      <p:bldP spid="25" grpId="3" animBg="1"/>
      <p:bldP spid="26" grpId="3" animBg="1"/>
      <p:bldP spid="27" grpId="4" animBg="1"/>
      <p:bldP spid="28" grpId="4" animBg="1"/>
      <p:bldP spid="29" grpId="4" animBg="1"/>
      <p:bldP spid="30" grpId="4" animBg="1"/>
      <p:bldP spid="31" grpId="4" animBg="1"/>
      <p:bldP spid="32" grpId="5" animBg="1"/>
      <p:bldP spid="33" grpId="5" animBg="1"/>
      <p:bldP spid="34" grpId="5" animBg="1"/>
      <p:bldP spid="35" grpId="5" animBg="1"/>
      <p:bldP spid="36" grpId="5" animBg="1"/>
      <p:bldP spid="37" grpId="6" animBg="1"/>
      <p:bldP spid="38" grpId="6" animBg="1"/>
      <p:bldP spid="39" grpId="6" animBg="1"/>
      <p:bldP spid="40" grpId="6" animBg="1"/>
      <p:bldP spid="41" grpId="6" animBg="1"/>
      <p:bldP spid="44" grpId="7" animBg="1"/>
      <p:bldP spid="42" grpId="7" animBg="1"/>
      <p:bldP spid="43" grpId="7" animBg="1"/>
      <p:bldP spid="8" grpId="7"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5522</TotalTime>
  <Words>2730</Words>
  <Application>Microsoft Macintosh PowerPoint</Application>
  <PresentationFormat>On-screen Show (16:9)</PresentationFormat>
  <Paragraphs>349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Ramesh Kumar, Varun Kumar</cp:lastModifiedBy>
  <cp:revision>2</cp:revision>
  <dcterms:created xsi:type="dcterms:W3CDTF">2026-06-27T16:30:58Z</dcterms:created>
  <dcterms:modified xsi:type="dcterms:W3CDTF">2026-07-02T12:23:55Z</dcterms:modified>
</cp:coreProperties>
</file>